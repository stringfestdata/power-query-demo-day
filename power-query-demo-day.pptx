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0" d="100"/>
          <a:sy n="80" d="100"/>
        </p:scale>
        <p:origin x="93"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to Power Query Demo Day. This is a free, live demo. We'll watch real Power Query workflows together. Stop cleaning the same data by hand every week, and let's see how Power Query makes cleanup run itself.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Quick intro. I'm George Mount, founder of Stringfest Analytics. I write and teach on modern Excel analytics. Today is a preview of how I approach Excel training and consulting in real workflows.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you build or maintain Excel workbooks for your job, this is for you. Repeated manual cleanup, workbooks that break with new data, data in the wrong shape. Power Query is built to make these go away.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set expectations. This is a practical live demo from real workflows, with supplied files so attendees can follow along or revisit the examples later. It is not a beginner Excel class or a feature tour. The focus is reliability and maintainable workbooks.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the supplied power-query-demo-day-data.xlsx. Keep it open and switch worksheets between demos: penguins for profiling, signups for row cleanup, and wholesale-customers for unpivot. The roster worksheet is also included for extra practice, and readme preserves the wholesale source link. Attendees can follow along live or use the supplied notes to practice later. No membership page or sign-up is required.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We'll walk through three examples drawn from real analytical work: getting comfortable in the Editor with profiling, repeatable refreshable cleanup with Applied Steps, and reshaping data with unpivot. The focus is not just how the tools work, but when they're worth using.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Under the hood, Power Query is an extract, transform, load tool living inside Excel. The magic is that you define the steps once and they re-run automatically every refresh. Manual, repeat-every-week cleanup becomes a process that runs itself.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get into the demos. Follow along using power-query-demo-day-data.xlsx, or watch the overall workflow and the problems each step solves. You can repeat every example with the supplied workbook and demo notes.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power-query-demo-day-data.xlsx, select the penguins worksheet. Click inside the penguins table and choose Data &gt; From Table/Range. Set correct data types and profile the columns: quality, distribution, and statistics. Switch profiling to the entire dataset. The point is to see what's actually in your data before changing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power-query-demo-day-data.xlsx, select the signups worksheet. Select the full A1:A24 range, including the intentional blank rows, then Data &gt; From Table/Range and confirm that the table has headers. Remove blanks and duplicates, sort the names, and filter out Klevin. Every action is recorded as an Applied Step. Close &amp; Load to a new worksheet, keeping signups as the source. Rename the query party_rsvp. Add new records inside the source table and Refresh the query result to repeat the cleanup.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power-query-demo-day-data.xlsx, select the wholesale-customers worksheet and choose Data &gt; From Table/Range. Keep Channel and Region as identifier columns. Select Fresh, Milk, Grocery, Frozen, Detergents_Paper, and Delicassen, then Unpivot Columns. Rename Attribute and Value to category and spend. Close &amp; Load to a new worksheet so the source stays intact.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takeaway is that it's about knowing when these tools are worth using. Profile first, build cleanup that re-runs on refresh, and reshape with unpivot. Do that and your reports stay consistent and refreshable instead of being rebuilt by hand every week.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more ways to keep going. My O'Reilly book, Modern Data Analytics in Excel, goes deep on Power Query and Power Pivot. And if you want to go further, I work with individuals and organizations on Excel training and analytics consulting. Reach out and let's talk.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for joining Power Query Demo Day. The recording will be available through my Stringfest membership: https://stringfestdata.gumroad.com/l/mxlais?layout=profile. Find me on LinkedIn or by email anytime, and keep the supplied workbook and demo notes for practice.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Any questions before we wrap? The supplied workbook and demo notes are yours to use for practice. To get the recording, visit my Stringfest membership: https://stringfestdata.gumroad.com/l/mxlais?layout=profile. I'd love your feedback or a testimonial. Thanks again!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hyperlink" Target="https://stringfestanalytics.com/maxl/" TargetMode="Externa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hyperlink" Target="https://stringfestdata.gumroad.com/l/mxlais?layout=profile"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hyperlink" Target="https://stringfestdata.gumroad.com/l/mxlais?layout=profil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29D90DC-CEAC-44B6-9D03-AC7109045E2A}"/>
              </a:ext>
            </a:extLst>
          </p:cNvPr>
          <p:cNvSpPr>
            <a:spLocks noGrp="1"/>
          </p:cNvSpPr>
          <p:nvPr/>
        </p:nvSpPr>
        <p:spPr>
          <a:xfrm>
            <a:off x="0" y="0"/>
            <a:ext cx="256032" cy="6858000"/>
          </a:xfrm>
          <a:prstGeom prst="rect">
            <a:avLst/>
          </a:prstGeom>
          <a:solidFill>
            <a:srgbClr val="CF3338"/>
          </a:solidFill>
        </p:spPr>
        <p:txBody>
          <a:bodyPr/>
          <a:lstStyle/>
          <a:p>
            <a:endParaRPr/>
          </a:p>
        </p:txBody>
      </p:sp>
      <p:pic>
        <p:nvPicPr>
          <p:cNvPr id="11" name="Image 0"/>
          <p:cNvPicPr>
            <a:picLocks noChangeAspect="1"/>
          </p:cNvPicPr>
          <p:nvPr/>
        </p:nvPicPr>
        <p:blipFill>
          <a:blip r:embed="rId3"/>
          <a:stretch>
            <a:fillRect/>
          </a:stretch>
        </p:blipFill>
        <p:spPr>
          <a:xfrm>
            <a:off x="777240" y="640080"/>
            <a:ext cx="2011680" cy="1177569"/>
          </a:xfrm>
          <a:prstGeom prst="rect">
            <a:avLst/>
          </a:prstGeom>
        </p:spPr>
      </p:pic>
      <p:sp>
        <p:nvSpPr>
          <p:cNvPr id="4" name="Text 1">
            <a:extLst>
              <a:ext uri="{FF2B5EF4-FFF2-40B4-BE49-F238E27FC236}">
                <a16:creationId xmlns:a16="http://schemas.microsoft.com/office/drawing/2014/main" id="{E4B93D34-507F-4C4F-8EA5-0E5DCC8A8499}"/>
              </a:ext>
            </a:extLst>
          </p:cNvPr>
          <p:cNvSpPr>
            <a:spLocks noGrp="1"/>
          </p:cNvSpPr>
          <p:nvPr/>
        </p:nvSpPr>
        <p:spPr>
          <a:xfrm>
            <a:off x="822960" y="2514600"/>
            <a:ext cx="10515600" cy="365760"/>
          </a:xfrm>
          <a:prstGeom prst="rect">
            <a:avLst/>
          </a:prstGeom>
          <a:noFill/>
        </p:spPr>
        <p:txBody>
          <a:bodyPr wrap="square" lIns="0" tIns="0" rIns="0" bIns="0" anchor="ctr"/>
          <a:lstStyle/>
          <a:p>
            <a:pPr marL="0" indent="0">
              <a:buNone/>
            </a:pPr>
            <a:r>
              <a:rPr sz="1500" b="1" spc="250">
                <a:solidFill>
                  <a:srgbClr val="CF3338"/>
                </a:solidFill>
                <a:latin typeface="Arial"/>
                <a:ea typeface="Arial"/>
                <a:cs typeface="Arial"/>
              </a:rPr>
              <a:t>FREE LIVE DEMO  ·  EXCEL + AI LIVE</a:t>
            </a:r>
            <a:endParaRPr sz="1500"/>
          </a:p>
        </p:txBody>
      </p:sp>
      <p:sp>
        <p:nvSpPr>
          <p:cNvPr id="5" name="Text 2">
            <a:extLst>
              <a:ext uri="{FF2B5EF4-FFF2-40B4-BE49-F238E27FC236}">
                <a16:creationId xmlns:a16="http://schemas.microsoft.com/office/drawing/2014/main" id="{7F850967-6F9E-484E-820D-9BDBF70FEAD9}"/>
              </a:ext>
            </a:extLst>
          </p:cNvPr>
          <p:cNvSpPr>
            <a:spLocks noGrp="1"/>
          </p:cNvSpPr>
          <p:nvPr/>
        </p:nvSpPr>
        <p:spPr>
          <a:xfrm>
            <a:off x="777240" y="2926080"/>
            <a:ext cx="11064240" cy="1005840"/>
          </a:xfrm>
          <a:prstGeom prst="rect">
            <a:avLst/>
          </a:prstGeom>
          <a:noFill/>
        </p:spPr>
        <p:txBody>
          <a:bodyPr wrap="square" lIns="0" tIns="0" rIns="0" bIns="0" anchor="ctr"/>
          <a:lstStyle/>
          <a:p>
            <a:pPr marL="0" indent="0">
              <a:buNone/>
            </a:pPr>
            <a:r>
              <a:rPr sz="5400" b="1">
                <a:solidFill>
                  <a:srgbClr val="1F2120"/>
                </a:solidFill>
                <a:latin typeface="Arial Black"/>
                <a:ea typeface="Arial Black"/>
                <a:cs typeface="Arial Black"/>
              </a:rPr>
              <a:t>Power Query Demo Day</a:t>
            </a:r>
            <a:endParaRPr sz="5400"/>
          </a:p>
        </p:txBody>
      </p:sp>
      <p:sp>
        <p:nvSpPr>
          <p:cNvPr id="6" name="Text 3">
            <a:extLst>
              <a:ext uri="{FF2B5EF4-FFF2-40B4-BE49-F238E27FC236}">
                <a16:creationId xmlns:a16="http://schemas.microsoft.com/office/drawing/2014/main" id="{69B06DF1-A5EF-4368-B955-04A77B43D89B}"/>
              </a:ext>
            </a:extLst>
          </p:cNvPr>
          <p:cNvSpPr>
            <a:spLocks noGrp="1"/>
          </p:cNvSpPr>
          <p:nvPr/>
        </p:nvSpPr>
        <p:spPr>
          <a:xfrm>
            <a:off x="822960" y="4114800"/>
            <a:ext cx="10607040" cy="502920"/>
          </a:xfrm>
          <a:prstGeom prst="rect">
            <a:avLst/>
          </a:prstGeom>
          <a:noFill/>
        </p:spPr>
        <p:txBody>
          <a:bodyPr wrap="square" lIns="0" tIns="0" rIns="0" bIns="0" anchor="ctr"/>
          <a:lstStyle/>
          <a:p>
            <a:pPr marL="0" indent="0">
              <a:buNone/>
            </a:pPr>
            <a:r>
              <a:rPr sz="2200">
                <a:solidFill>
                  <a:srgbClr val="707070"/>
                </a:solidFill>
                <a:latin typeface="Arial"/>
                <a:ea typeface="Arial"/>
                <a:cs typeface="Arial"/>
              </a:rPr>
              <a:t>First Steps for Power Query with Microsoft Excel</a:t>
            </a:r>
            <a:endParaRPr sz="2200"/>
          </a:p>
        </p:txBody>
      </p:sp>
      <p:sp>
        <p:nvSpPr>
          <p:cNvPr id="7" name="Text 4">
            <a:extLst>
              <a:ext uri="{FF2B5EF4-FFF2-40B4-BE49-F238E27FC236}">
                <a16:creationId xmlns:a16="http://schemas.microsoft.com/office/drawing/2014/main" id="{7D6A4981-EE19-4F80-8C0E-0A4876EFA4E9}"/>
              </a:ext>
            </a:extLst>
          </p:cNvPr>
          <p:cNvSpPr>
            <a:spLocks noGrp="1"/>
          </p:cNvSpPr>
          <p:nvPr/>
        </p:nvSpPr>
        <p:spPr>
          <a:xfrm>
            <a:off x="822960" y="5074920"/>
            <a:ext cx="10515600" cy="365760"/>
          </a:xfrm>
          <a:prstGeom prst="rect">
            <a:avLst/>
          </a:prstGeom>
          <a:noFill/>
        </p:spPr>
        <p:txBody>
          <a:bodyPr wrap="square" lIns="0" tIns="0" rIns="0" bIns="0" anchor="ctr"/>
          <a:lstStyle/>
          <a:p>
            <a:pPr marL="0" indent="0">
              <a:buNone/>
            </a:pPr>
            <a:r>
              <a:rPr sz="1600" b="1">
                <a:solidFill>
                  <a:srgbClr val="1F2120"/>
                </a:solidFill>
                <a:latin typeface="Arial"/>
                <a:ea typeface="Arial"/>
                <a:cs typeface="Arial"/>
              </a:rPr>
              <a:t>Wednesday, September 9</a:t>
            </a:r>
            <a:r>
              <a:rPr sz="1600">
                <a:solidFill>
                  <a:srgbClr val="707070"/>
                </a:solidFill>
                <a:latin typeface="Arial"/>
                <a:ea typeface="Arial"/>
                <a:cs typeface="Arial"/>
              </a:rPr>
              <a:t>   ·   12 to 1 PM EDT</a:t>
            </a:r>
            <a:endParaRPr sz="1600"/>
          </a:p>
        </p:txBody>
      </p:sp>
      <p:sp>
        <p:nvSpPr>
          <p:cNvPr id="8" name="Text 5">
            <a:extLst>
              <a:ext uri="{FF2B5EF4-FFF2-40B4-BE49-F238E27FC236}">
                <a16:creationId xmlns:a16="http://schemas.microsoft.com/office/drawing/2014/main" id="{99D67CE1-AB43-40E1-9BE4-292335CE8763}"/>
              </a:ext>
            </a:extLst>
          </p:cNvPr>
          <p:cNvSpPr>
            <a:spLocks noGrp="1"/>
          </p:cNvSpPr>
          <p:nvPr/>
        </p:nvSpPr>
        <p:spPr>
          <a:xfrm>
            <a:off x="822960" y="5623560"/>
            <a:ext cx="9144000" cy="365760"/>
          </a:xfrm>
          <a:prstGeom prst="rect">
            <a:avLst/>
          </a:prstGeom>
          <a:noFill/>
        </p:spPr>
        <p:txBody>
          <a:bodyPr wrap="square" lIns="0" tIns="0" rIns="0" bIns="0" anchor="ctr"/>
          <a:lstStyle/>
          <a:p>
            <a:pPr marL="0" indent="0">
              <a:buNone/>
            </a:pPr>
            <a:r>
              <a:rPr sz="1600" b="1">
                <a:solidFill>
                  <a:srgbClr val="1F2120"/>
                </a:solidFill>
                <a:latin typeface="Arial"/>
                <a:ea typeface="Arial"/>
                <a:cs typeface="Arial"/>
              </a:rPr>
              <a:t>George Mount</a:t>
            </a:r>
            <a:r>
              <a:rPr sz="1600">
                <a:solidFill>
                  <a:srgbClr val="707070"/>
                </a:solidFill>
                <a:latin typeface="Arial"/>
                <a:ea typeface="Arial"/>
                <a:cs typeface="Arial"/>
              </a:rPr>
              <a:t>   ·   Stringfest Analytics</a:t>
            </a:r>
            <a:endParaRPr sz="1600"/>
          </a:p>
        </p:txBody>
      </p:sp>
    </p:spTree>
    <p:extLst>
      <p:ext uri="{BB962C8B-B14F-4D97-AF65-F5344CB8AC3E}">
        <p14:creationId xmlns:p14="http://schemas.microsoft.com/office/powerpoint/2010/main" val="10254951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737BE3D-1879-461F-BE75-E9B48290CA23}"/>
              </a:ext>
            </a:extLst>
          </p:cNvPr>
          <p:cNvSpPr>
            <a:spLocks noGrp="1"/>
          </p:cNvSpPr>
          <p:nvPr/>
        </p:nvSpPr>
        <p:spPr>
          <a:xfrm>
            <a:off x="822960" y="914400"/>
            <a:ext cx="10058400" cy="914400"/>
          </a:xfrm>
          <a:prstGeom prst="rect">
            <a:avLst/>
          </a:prstGeom>
          <a:noFill/>
        </p:spPr>
        <p:txBody>
          <a:bodyPr wrap="square" lIns="0" tIns="0" rIns="0" bIns="0" anchor="ctr"/>
          <a:lstStyle/>
          <a:p>
            <a:pPr marL="0" indent="0">
              <a:buNone/>
            </a:pPr>
            <a:r>
              <a:rPr sz="4400" b="1">
                <a:solidFill>
                  <a:srgbClr val="FFFFFF"/>
                </a:solidFill>
                <a:latin typeface="Arial Black"/>
                <a:ea typeface="Arial Black"/>
                <a:cs typeface="Arial Black"/>
              </a:rPr>
              <a:t>HI, I'M GEORGE</a:t>
            </a:r>
            <a:endParaRPr sz="4400"/>
          </a:p>
        </p:txBody>
      </p:sp>
      <p:sp>
        <p:nvSpPr>
          <p:cNvPr id="3" name="Text 1">
            <a:extLst>
              <a:ext uri="{FF2B5EF4-FFF2-40B4-BE49-F238E27FC236}">
                <a16:creationId xmlns:a16="http://schemas.microsoft.com/office/drawing/2014/main" id="{EC8347F8-3887-4C61-B940-9AE46B4C3046}"/>
              </a:ext>
            </a:extLst>
          </p:cNvPr>
          <p:cNvSpPr>
            <a:spLocks noGrp="1"/>
          </p:cNvSpPr>
          <p:nvPr/>
        </p:nvSpPr>
        <p:spPr>
          <a:xfrm>
            <a:off x="822960" y="2103120"/>
            <a:ext cx="8412480" cy="2743200"/>
          </a:xfrm>
          <a:prstGeom prst="rect">
            <a:avLst/>
          </a:prstGeom>
          <a:noFill/>
        </p:spPr>
        <p:txBody>
          <a:bodyPr wrap="square" lIns="0" tIns="0" rIns="0" bIns="0" anchor="ctr"/>
          <a:lstStyle/>
          <a:p>
            <a:pPr marL="0" indent="0">
              <a:lnSpc>
                <a:spcPct val="115000"/>
              </a:lnSpc>
              <a:buNone/>
            </a:pPr>
            <a:r>
              <a:rPr sz="2100" b="1">
                <a:solidFill>
                  <a:srgbClr val="FFFFFF"/>
                </a:solidFill>
                <a:latin typeface="Arial"/>
                <a:ea typeface="Arial"/>
                <a:cs typeface="Arial"/>
              </a:rPr>
              <a:t>I help Excel users move from fragile spreadsheets to confident, scalable analysis.</a:t>
            </a:r>
            <a:endParaRPr sz="2100"/>
          </a:p>
          <a:p>
            <a:pPr marL="0" indent="0">
              <a:lnSpc>
                <a:spcPct val="115000"/>
              </a:lnSpc>
              <a:buNone/>
            </a:pPr>
            <a:r>
              <a:rPr sz="1000">
                <a:solidFill>
                  <a:srgbClr val="FFFFFF"/>
                </a:solidFill>
                <a:latin typeface="Arial"/>
                <a:ea typeface="Arial"/>
                <a:cs typeface="Arial"/>
              </a:rPr>
              <a:t> </a:t>
            </a:r>
            <a:endParaRPr sz="2100"/>
          </a:p>
          <a:p>
            <a:pPr marL="0" indent="0">
              <a:lnSpc>
                <a:spcPct val="115000"/>
              </a:lnSpc>
              <a:buNone/>
            </a:pPr>
            <a:r>
              <a:rPr sz="2100">
                <a:solidFill>
                  <a:srgbClr val="F2E9E9"/>
                </a:solidFill>
                <a:latin typeface="Arial"/>
                <a:ea typeface="Arial"/>
                <a:cs typeface="Arial"/>
              </a:rPr>
              <a:t>Founder of Stringfest Analytics. Author of “Advancing into Analytics” and “Modern Data Analytics in Excel” (O’Reilly). Microsoft MVP and data-analytics trainer.</a:t>
            </a:r>
            <a:endParaRPr sz="2100"/>
          </a:p>
        </p:txBody>
      </p:sp>
      <p:pic>
        <p:nvPicPr>
          <p:cNvPr id="7" name="Image 0"/>
          <p:cNvPicPr>
            <a:picLocks noChangeAspect="1"/>
          </p:cNvPicPr>
          <p:nvPr/>
        </p:nvPicPr>
        <p:blipFill>
          <a:blip r:embed="rId3"/>
          <a:stretch>
            <a:fillRect/>
          </a:stretch>
        </p:blipFill>
        <p:spPr>
          <a:xfrm>
            <a:off x="822960" y="5943600"/>
            <a:ext cx="2926080" cy="401383"/>
          </a:xfrm>
          <a:prstGeom prst="rect">
            <a:avLst/>
          </a:prstGeom>
        </p:spPr>
      </p:pic>
    </p:spTree>
    <p:extLst>
      <p:ext uri="{BB962C8B-B14F-4D97-AF65-F5344CB8AC3E}">
        <p14:creationId xmlns:p14="http://schemas.microsoft.com/office/powerpoint/2010/main" val="1013427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pic>
        <p:nvPicPr>
          <p:cNvPr id="8" name="Image 0"/>
          <p:cNvPicPr>
            <a:picLocks noChangeAspect="1"/>
          </p:cNvPicPr>
          <p:nvPr/>
        </p:nvPicPr>
        <p:blipFill>
          <a:blip r:embed="rId3"/>
          <a:stretch>
            <a:fillRect/>
          </a:stretch>
        </p:blipFill>
        <p:spPr>
          <a:xfrm>
            <a:off x="502920" y="384048"/>
            <a:ext cx="1828800" cy="258305"/>
          </a:xfrm>
          <a:prstGeom prst="rect">
            <a:avLst/>
          </a:prstGeom>
        </p:spPr>
      </p:pic>
      <p:sp>
        <p:nvSpPr>
          <p:cNvPr id="3" name="Text 0">
            <a:extLst>
              <a:ext uri="{FF2B5EF4-FFF2-40B4-BE49-F238E27FC236}">
                <a16:creationId xmlns:a16="http://schemas.microsoft.com/office/drawing/2014/main" id="{6A392178-B373-4014-9C5F-3D18F4AD9253}"/>
              </a:ext>
            </a:extLst>
          </p:cNvPr>
          <p:cNvSpPr>
            <a:spLocks noGrp="1"/>
          </p:cNvSpPr>
          <p:nvPr/>
        </p:nvSpPr>
        <p:spPr>
          <a:xfrm>
            <a:off x="548640" y="868680"/>
            <a:ext cx="10058400" cy="320040"/>
          </a:xfrm>
          <a:prstGeom prst="rect">
            <a:avLst/>
          </a:prstGeom>
          <a:noFill/>
        </p:spPr>
        <p:txBody>
          <a:bodyPr wrap="square" lIns="0" tIns="0" rIns="0" bIns="0" anchor="ctr"/>
          <a:lstStyle/>
          <a:p>
            <a:pPr marL="0" indent="0">
              <a:buNone/>
            </a:pPr>
            <a:r>
              <a:rPr sz="1300" b="1" spc="300">
                <a:solidFill>
                  <a:srgbClr val="CF3338"/>
                </a:solidFill>
                <a:latin typeface="Arial"/>
                <a:ea typeface="Arial"/>
                <a:cs typeface="Arial"/>
              </a:rPr>
              <a:t>WHY YOU'RE HERE</a:t>
            </a:r>
            <a:endParaRPr sz="1300"/>
          </a:p>
        </p:txBody>
      </p:sp>
      <p:sp>
        <p:nvSpPr>
          <p:cNvPr id="4" name="Text 1">
            <a:extLst>
              <a:ext uri="{FF2B5EF4-FFF2-40B4-BE49-F238E27FC236}">
                <a16:creationId xmlns:a16="http://schemas.microsoft.com/office/drawing/2014/main" id="{17AC87A6-71A6-4DCB-980B-4641D6C3208A}"/>
              </a:ext>
            </a:extLst>
          </p:cNvPr>
          <p:cNvSpPr>
            <a:spLocks noGrp="1"/>
          </p:cNvSpPr>
          <p:nvPr/>
        </p:nvSpPr>
        <p:spPr>
          <a:xfrm>
            <a:off x="548640" y="1143000"/>
            <a:ext cx="11064240" cy="1097280"/>
          </a:xfrm>
          <a:prstGeom prst="rect">
            <a:avLst/>
          </a:prstGeom>
          <a:noFill/>
        </p:spPr>
        <p:txBody>
          <a:bodyPr wrap="square" lIns="0" tIns="0" rIns="0" bIns="0" anchor="ctr"/>
          <a:lstStyle/>
          <a:p>
            <a:pPr marL="0" indent="0" algn="l">
              <a:buNone/>
            </a:pPr>
            <a:r>
              <a:rPr sz="3800" b="1">
                <a:solidFill>
                  <a:srgbClr val="1F2120"/>
                </a:solidFill>
                <a:latin typeface="Arial Black"/>
                <a:ea typeface="Arial Black"/>
                <a:cs typeface="Arial Black"/>
              </a:rPr>
              <a:t>Stop cleaning the same data by hand every week</a:t>
            </a:r>
            <a:endParaRPr sz="3800"/>
          </a:p>
        </p:txBody>
      </p:sp>
      <p:sp>
        <p:nvSpPr>
          <p:cNvPr id="5" name="Text 2">
            <a:extLst>
              <a:ext uri="{FF2B5EF4-FFF2-40B4-BE49-F238E27FC236}">
                <a16:creationId xmlns:a16="http://schemas.microsoft.com/office/drawing/2014/main" id="{EA814CAE-150A-4C88-B9C3-4AB8EAC59D0C}"/>
              </a:ext>
            </a:extLst>
          </p:cNvPr>
          <p:cNvSpPr>
            <a:spLocks noGrp="1"/>
          </p:cNvSpPr>
          <p:nvPr/>
        </p:nvSpPr>
        <p:spPr>
          <a:xfrm>
            <a:off x="640080" y="2331720"/>
            <a:ext cx="10424160" cy="822960"/>
          </a:xfrm>
          <a:prstGeom prst="rect">
            <a:avLst/>
          </a:prstGeom>
          <a:noFill/>
        </p:spPr>
        <p:txBody>
          <a:bodyPr wrap="square" lIns="0" tIns="0" rIns="0" bIns="0" anchor="ctr"/>
          <a:lstStyle/>
          <a:p>
            <a:pPr marL="0" indent="0">
              <a:lnSpc>
                <a:spcPct val="112000"/>
              </a:lnSpc>
              <a:buNone/>
            </a:pPr>
            <a:r>
              <a:rPr sz="1800">
                <a:solidFill>
                  <a:srgbClr val="707070"/>
                </a:solidFill>
                <a:latin typeface="Arial"/>
                <a:ea typeface="Arial"/>
                <a:cs typeface="Arial"/>
              </a:rPr>
              <a:t>This session is for professionals who use Excel and lose real time cleaning and reshaping data before they can actually use it. You probably know the feeling:</a:t>
            </a:r>
            <a:endParaRPr sz="1800"/>
          </a:p>
        </p:txBody>
      </p:sp>
      <p:sp>
        <p:nvSpPr>
          <p:cNvPr id="6" name="Text 3">
            <a:extLst>
              <a:ext uri="{FF2B5EF4-FFF2-40B4-BE49-F238E27FC236}">
                <a16:creationId xmlns:a16="http://schemas.microsoft.com/office/drawing/2014/main" id="{F817A1CD-6D07-4FB1-8F14-7E9125ACAD6F}"/>
              </a:ext>
            </a:extLst>
          </p:cNvPr>
          <p:cNvSpPr>
            <a:spLocks noGrp="1"/>
          </p:cNvSpPr>
          <p:nvPr/>
        </p:nvSpPr>
        <p:spPr>
          <a:xfrm>
            <a:off x="640080" y="3291840"/>
            <a:ext cx="10058400" cy="2743200"/>
          </a:xfrm>
          <a:prstGeom prst="rect">
            <a:avLst/>
          </a:prstGeom>
          <a:noFill/>
        </p:spPr>
        <p:txBody>
          <a:bodyPr wrap="square" lIns="0" tIns="0" rIns="0" bIns="0" anchor="ctr"/>
          <a:lstStyle/>
          <a:p>
            <a:pPr marL="279400" indent="-279400">
              <a:spcAft>
                <a:spcPts val="1300"/>
              </a:spcAft>
              <a:buSzPct val="100000"/>
              <a:buChar char="•"/>
            </a:pPr>
            <a:r>
              <a:rPr sz="1900">
                <a:solidFill>
                  <a:srgbClr val="1F2120"/>
                </a:solidFill>
                <a:latin typeface="Arial"/>
                <a:ea typeface="Arial"/>
                <a:cs typeface="Arial"/>
              </a:rPr>
              <a:t>Repeating the same manual cleanup before every report</a:t>
            </a:r>
            <a:endParaRPr sz="1900"/>
          </a:p>
          <a:p>
            <a:pPr marL="279400" indent="-279400">
              <a:spcAft>
                <a:spcPts val="1300"/>
              </a:spcAft>
              <a:buSzPct val="100000"/>
              <a:buChar char="•"/>
            </a:pPr>
            <a:r>
              <a:rPr sz="1900">
                <a:solidFill>
                  <a:srgbClr val="1F2120"/>
                </a:solidFill>
                <a:latin typeface="Arial"/>
                <a:ea typeface="Arial"/>
                <a:cs typeface="Arial"/>
              </a:rPr>
              <a:t>Workbooks that break the moment new data comes in</a:t>
            </a:r>
            <a:endParaRPr sz="1900"/>
          </a:p>
          <a:p>
            <a:pPr marL="279400" indent="-279400">
              <a:spcAft>
                <a:spcPts val="1300"/>
              </a:spcAft>
              <a:buSzPct val="100000"/>
              <a:buChar char="•"/>
            </a:pPr>
            <a:r>
              <a:rPr sz="1900">
                <a:solidFill>
                  <a:srgbClr val="1F2120"/>
                </a:solidFill>
                <a:latin typeface="Arial"/>
                <a:ea typeface="Arial"/>
                <a:cs typeface="Arial"/>
              </a:rPr>
              <a:t>Data that arrives in the wrong shape and is painful to rearrange</a:t>
            </a:r>
            <a:endParaRPr sz="1900"/>
          </a:p>
          <a:p>
            <a:pPr marL="279400" indent="-279400">
              <a:spcAft>
                <a:spcPts val="1300"/>
              </a:spcAft>
              <a:buSzPct val="100000"/>
              <a:buChar char="•"/>
            </a:pPr>
            <a:r>
              <a:rPr sz="1900">
                <a:solidFill>
                  <a:srgbClr val="1F2120"/>
                </a:solidFill>
                <a:latin typeface="Arial"/>
                <a:ea typeface="Arial"/>
                <a:cs typeface="Arial"/>
              </a:rPr>
              <a:t>One-off cleanup routines that never scale</a:t>
            </a:r>
            <a:endParaRPr sz="1900"/>
          </a:p>
        </p:txBody>
      </p:sp>
    </p:spTree>
    <p:extLst>
      <p:ext uri="{BB962C8B-B14F-4D97-AF65-F5344CB8AC3E}">
        <p14:creationId xmlns:p14="http://schemas.microsoft.com/office/powerpoint/2010/main" val="2748349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pic>
        <p:nvPicPr>
          <p:cNvPr id="14" name="Image 0"/>
          <p:cNvPicPr>
            <a:picLocks noChangeAspect="1"/>
          </p:cNvPicPr>
          <p:nvPr/>
        </p:nvPicPr>
        <p:blipFill>
          <a:blip r:embed="rId3"/>
          <a:stretch>
            <a:fillRect/>
          </a:stretch>
        </p:blipFill>
        <p:spPr>
          <a:xfrm>
            <a:off x="502920" y="384048"/>
            <a:ext cx="1828800" cy="258305"/>
          </a:xfrm>
          <a:prstGeom prst="rect">
            <a:avLst/>
          </a:prstGeom>
        </p:spPr>
      </p:pic>
      <p:sp>
        <p:nvSpPr>
          <p:cNvPr id="3" name="Text 0">
            <a:extLst>
              <a:ext uri="{FF2B5EF4-FFF2-40B4-BE49-F238E27FC236}">
                <a16:creationId xmlns:a16="http://schemas.microsoft.com/office/drawing/2014/main" id="{CF1A2B7C-E143-471A-B020-D84C170C3ED8}"/>
              </a:ext>
            </a:extLst>
          </p:cNvPr>
          <p:cNvSpPr>
            <a:spLocks noGrp="1"/>
          </p:cNvSpPr>
          <p:nvPr/>
        </p:nvSpPr>
        <p:spPr>
          <a:xfrm>
            <a:off x="548640" y="868680"/>
            <a:ext cx="10058400" cy="320040"/>
          </a:xfrm>
          <a:prstGeom prst="rect">
            <a:avLst/>
          </a:prstGeom>
          <a:noFill/>
        </p:spPr>
        <p:txBody>
          <a:bodyPr wrap="square" lIns="0" tIns="0" rIns="0" bIns="0" anchor="ctr"/>
          <a:lstStyle/>
          <a:p>
            <a:pPr marL="0" indent="0">
              <a:buNone/>
            </a:pPr>
            <a:r>
              <a:rPr sz="1300" b="1" spc="300">
                <a:solidFill>
                  <a:srgbClr val="CF3338"/>
                </a:solidFill>
                <a:latin typeface="Arial"/>
                <a:ea typeface="Arial"/>
                <a:cs typeface="Arial"/>
              </a:rPr>
              <a:t>SET EXPECTATIONS</a:t>
            </a:r>
            <a:endParaRPr sz="1300"/>
          </a:p>
        </p:txBody>
      </p:sp>
      <p:sp>
        <p:nvSpPr>
          <p:cNvPr id="4" name="Text 1">
            <a:extLst>
              <a:ext uri="{FF2B5EF4-FFF2-40B4-BE49-F238E27FC236}">
                <a16:creationId xmlns:a16="http://schemas.microsoft.com/office/drawing/2014/main" id="{4C42BBA2-5C76-4452-8FEF-D81A6A8428E4}"/>
              </a:ext>
            </a:extLst>
          </p:cNvPr>
          <p:cNvSpPr>
            <a:spLocks noGrp="1"/>
          </p:cNvSpPr>
          <p:nvPr/>
        </p:nvSpPr>
        <p:spPr>
          <a:xfrm>
            <a:off x="548640" y="1143000"/>
            <a:ext cx="11064240" cy="1097280"/>
          </a:xfrm>
          <a:prstGeom prst="rect">
            <a:avLst/>
          </a:prstGeom>
          <a:noFill/>
        </p:spPr>
        <p:txBody>
          <a:bodyPr wrap="square" lIns="0" tIns="0" rIns="0" bIns="0" anchor="ctr"/>
          <a:lstStyle/>
          <a:p>
            <a:pPr marL="0" indent="0" algn="l">
              <a:buNone/>
            </a:pPr>
            <a:r>
              <a:rPr sz="3800" b="1">
                <a:solidFill>
                  <a:srgbClr val="1F2120"/>
                </a:solidFill>
                <a:latin typeface="Arial Black"/>
                <a:ea typeface="Arial Black"/>
                <a:cs typeface="Arial Black"/>
              </a:rPr>
              <a:t>What this session is, and isn't</a:t>
            </a:r>
            <a:endParaRPr sz="3800"/>
          </a:p>
        </p:txBody>
      </p:sp>
      <p:sp>
        <p:nvSpPr>
          <p:cNvPr id="5" name="Shape 2">
            <a:extLst>
              <a:ext uri="{FF2B5EF4-FFF2-40B4-BE49-F238E27FC236}">
                <a16:creationId xmlns:a16="http://schemas.microsoft.com/office/drawing/2014/main" id="{18D98673-DD46-4810-A5A0-A95AD2DA26C6}"/>
              </a:ext>
            </a:extLst>
          </p:cNvPr>
          <p:cNvSpPr>
            <a:spLocks noGrp="1"/>
          </p:cNvSpPr>
          <p:nvPr/>
        </p:nvSpPr>
        <p:spPr>
          <a:xfrm>
            <a:off x="640080" y="2331720"/>
            <a:ext cx="5349240" cy="3749040"/>
          </a:xfrm>
          <a:prstGeom prst="rect">
            <a:avLst/>
          </a:prstGeom>
          <a:solidFill>
            <a:srgbClr val="FFFFFF"/>
          </a:solidFill>
          <a:ln w="12700">
            <a:solidFill>
              <a:srgbClr val="DEDBCF"/>
            </a:solidFill>
            <a:prstDash val="solid"/>
          </a:ln>
          <a:effectLst>
            <a:outerShdw blurRad="101600" dist="38100" dir="8100000" algn="bl" rotWithShape="0">
              <a:srgbClr val="000000">
                <a:alpha val="12000"/>
              </a:srgbClr>
            </a:outerShdw>
          </a:effectLst>
        </p:spPr>
        <p:txBody>
          <a:bodyPr/>
          <a:lstStyle/>
          <a:p>
            <a:endParaRPr/>
          </a:p>
        </p:txBody>
      </p:sp>
      <p:sp>
        <p:nvSpPr>
          <p:cNvPr id="6" name="Shape 3">
            <a:extLst>
              <a:ext uri="{FF2B5EF4-FFF2-40B4-BE49-F238E27FC236}">
                <a16:creationId xmlns:a16="http://schemas.microsoft.com/office/drawing/2014/main" id="{FE9D4C44-DA12-469C-A964-C2E2B6A8B8CE}"/>
              </a:ext>
            </a:extLst>
          </p:cNvPr>
          <p:cNvSpPr>
            <a:spLocks noGrp="1"/>
          </p:cNvSpPr>
          <p:nvPr/>
        </p:nvSpPr>
        <p:spPr>
          <a:xfrm>
            <a:off x="640080" y="2331720"/>
            <a:ext cx="5349240" cy="128016"/>
          </a:xfrm>
          <a:prstGeom prst="rect">
            <a:avLst/>
          </a:prstGeom>
          <a:solidFill>
            <a:srgbClr val="CF3338"/>
          </a:solidFill>
        </p:spPr>
        <p:txBody>
          <a:bodyPr/>
          <a:lstStyle/>
          <a:p>
            <a:endParaRPr/>
          </a:p>
        </p:txBody>
      </p:sp>
      <p:sp>
        <p:nvSpPr>
          <p:cNvPr id="7" name="Text 4">
            <a:extLst>
              <a:ext uri="{FF2B5EF4-FFF2-40B4-BE49-F238E27FC236}">
                <a16:creationId xmlns:a16="http://schemas.microsoft.com/office/drawing/2014/main" id="{AD9DF75B-0608-4076-9BEC-E9316B2B422A}"/>
              </a:ext>
            </a:extLst>
          </p:cNvPr>
          <p:cNvSpPr>
            <a:spLocks noGrp="1"/>
          </p:cNvSpPr>
          <p:nvPr/>
        </p:nvSpPr>
        <p:spPr>
          <a:xfrm>
            <a:off x="914400" y="2560320"/>
            <a:ext cx="4572000" cy="365760"/>
          </a:xfrm>
          <a:prstGeom prst="rect">
            <a:avLst/>
          </a:prstGeom>
          <a:noFill/>
        </p:spPr>
        <p:txBody>
          <a:bodyPr wrap="square" lIns="0" tIns="0" rIns="0" bIns="0" anchor="ctr"/>
          <a:lstStyle/>
          <a:p>
            <a:pPr marL="0" indent="0">
              <a:buNone/>
            </a:pPr>
            <a:r>
              <a:rPr sz="1400" b="1" spc="200">
                <a:solidFill>
                  <a:srgbClr val="CF3338"/>
                </a:solidFill>
                <a:latin typeface="Arial"/>
                <a:ea typeface="Arial"/>
                <a:cs typeface="Arial"/>
              </a:rPr>
              <a:t>IT IS</a:t>
            </a:r>
            <a:endParaRPr sz="1400"/>
          </a:p>
        </p:txBody>
      </p:sp>
      <p:sp>
        <p:nvSpPr>
          <p:cNvPr id="8" name="Text 5">
            <a:extLst>
              <a:ext uri="{FF2B5EF4-FFF2-40B4-BE49-F238E27FC236}">
                <a16:creationId xmlns:a16="http://schemas.microsoft.com/office/drawing/2014/main" id="{76DDCC9F-A081-4F98-9FC9-5327C0F81117}"/>
              </a:ext>
            </a:extLst>
          </p:cNvPr>
          <p:cNvSpPr>
            <a:spLocks noGrp="1"/>
          </p:cNvSpPr>
          <p:nvPr/>
        </p:nvSpPr>
        <p:spPr>
          <a:xfrm>
            <a:off x="914400" y="3063240"/>
            <a:ext cx="4846320" cy="2834640"/>
          </a:xfrm>
          <a:prstGeom prst="rect">
            <a:avLst/>
          </a:prstGeom>
          <a:noFill/>
        </p:spPr>
        <p:txBody>
          <a:bodyPr wrap="square" lIns="0" tIns="0" rIns="0" bIns="0" anchor="ctr"/>
          <a:lstStyle/>
          <a:p>
            <a:pPr marL="279400" indent="-279400">
              <a:spcAft>
                <a:spcPts val="1100"/>
              </a:spcAft>
              <a:buSzPct val="100000"/>
              <a:buChar char="✓"/>
            </a:pPr>
            <a:r>
              <a:rPr sz="1500">
                <a:solidFill>
                  <a:srgbClr val="1F2120"/>
                </a:solidFill>
                <a:latin typeface="Arial"/>
                <a:ea typeface="Arial"/>
                <a:cs typeface="Arial"/>
              </a:rPr>
              <a:t>Practical demonstrations from real Excel workflows</a:t>
            </a:r>
            <a:endParaRPr sz="1500"/>
          </a:p>
          <a:p>
            <a:pPr marL="279400" indent="-279400">
              <a:spcAft>
                <a:spcPts val="1100"/>
              </a:spcAft>
              <a:buSzPct val="100000"/>
              <a:buChar char="✓"/>
            </a:pPr>
            <a:r>
              <a:rPr sz="1500">
                <a:solidFill>
                  <a:srgbClr val="1F2120"/>
                </a:solidFill>
                <a:latin typeface="Arial"/>
                <a:ea typeface="Arial"/>
                <a:cs typeface="Arial"/>
              </a:rPr>
              <a:t>A preview of how I approach Excel training &amp; consulting</a:t>
            </a:r>
            <a:endParaRPr sz="1500"/>
          </a:p>
          <a:p>
            <a:pPr marL="279400" indent="-279400">
              <a:spcAft>
                <a:spcPts val="1100"/>
              </a:spcAft>
              <a:buSzPct val="100000"/>
              <a:buChar char="✓"/>
            </a:pPr>
            <a:r>
              <a:rPr sz="1500">
                <a:solidFill>
                  <a:srgbClr val="1F2120"/>
                </a:solidFill>
                <a:latin typeface="Arial"/>
                <a:ea typeface="Arial"/>
                <a:cs typeface="Arial"/>
              </a:rPr>
              <a:t>Focused on reliability, structure &amp; maintainable workbooks</a:t>
            </a:r>
            <a:endParaRPr sz="1500"/>
          </a:p>
          <a:p>
            <a:pPr marL="279400" indent="-279400">
              <a:spcAft>
                <a:spcPts val="1100"/>
              </a:spcAft>
              <a:buSzPct val="100000"/>
              <a:buChar char="✓"/>
            </a:pPr>
            <a:r>
              <a:rPr sz="1500">
                <a:solidFill>
                  <a:srgbClr val="1F2120"/>
                </a:solidFill>
                <a:latin typeface="Arial"/>
                <a:ea typeface="Arial"/>
                <a:cs typeface="Arial"/>
              </a:rPr>
              <a:t>A chance to follow along with supplied files</a:t>
            </a:r>
            <a:endParaRPr sz="1500"/>
          </a:p>
        </p:txBody>
      </p:sp>
      <p:sp>
        <p:nvSpPr>
          <p:cNvPr id="9" name="Shape 6">
            <a:extLst>
              <a:ext uri="{FF2B5EF4-FFF2-40B4-BE49-F238E27FC236}">
                <a16:creationId xmlns:a16="http://schemas.microsoft.com/office/drawing/2014/main" id="{47EB6E84-C25E-4864-8E5B-BC172F42D531}"/>
              </a:ext>
            </a:extLst>
          </p:cNvPr>
          <p:cNvSpPr>
            <a:spLocks noGrp="1"/>
          </p:cNvSpPr>
          <p:nvPr/>
        </p:nvSpPr>
        <p:spPr>
          <a:xfrm>
            <a:off x="6217920" y="2331720"/>
            <a:ext cx="5349240" cy="3749040"/>
          </a:xfrm>
          <a:prstGeom prst="rect">
            <a:avLst/>
          </a:prstGeom>
          <a:solidFill>
            <a:srgbClr val="FFFFFF"/>
          </a:solidFill>
          <a:ln w="12700">
            <a:solidFill>
              <a:srgbClr val="DEDBCF"/>
            </a:solidFill>
            <a:prstDash val="solid"/>
          </a:ln>
          <a:effectLst>
            <a:outerShdw blurRad="101600" dist="38100" dir="8100000" algn="bl" rotWithShape="0">
              <a:srgbClr val="000000">
                <a:alpha val="12000"/>
              </a:srgbClr>
            </a:outerShdw>
          </a:effectLst>
        </p:spPr>
        <p:txBody>
          <a:bodyPr/>
          <a:lstStyle/>
          <a:p>
            <a:endParaRPr/>
          </a:p>
        </p:txBody>
      </p:sp>
      <p:sp>
        <p:nvSpPr>
          <p:cNvPr id="10" name="Shape 7">
            <a:extLst>
              <a:ext uri="{FF2B5EF4-FFF2-40B4-BE49-F238E27FC236}">
                <a16:creationId xmlns:a16="http://schemas.microsoft.com/office/drawing/2014/main" id="{339B424E-E346-4975-B26D-05B825BAA86D}"/>
              </a:ext>
            </a:extLst>
          </p:cNvPr>
          <p:cNvSpPr>
            <a:spLocks noGrp="1"/>
          </p:cNvSpPr>
          <p:nvPr/>
        </p:nvSpPr>
        <p:spPr>
          <a:xfrm>
            <a:off x="6217920" y="2331720"/>
            <a:ext cx="5349240" cy="128016"/>
          </a:xfrm>
          <a:prstGeom prst="rect">
            <a:avLst/>
          </a:prstGeom>
          <a:solidFill>
            <a:srgbClr val="9A9A9A"/>
          </a:solidFill>
        </p:spPr>
        <p:txBody>
          <a:bodyPr/>
          <a:lstStyle/>
          <a:p>
            <a:endParaRPr/>
          </a:p>
        </p:txBody>
      </p:sp>
      <p:sp>
        <p:nvSpPr>
          <p:cNvPr id="11" name="Text 8">
            <a:extLst>
              <a:ext uri="{FF2B5EF4-FFF2-40B4-BE49-F238E27FC236}">
                <a16:creationId xmlns:a16="http://schemas.microsoft.com/office/drawing/2014/main" id="{2051E73D-253E-4517-818E-C3E944757E85}"/>
              </a:ext>
            </a:extLst>
          </p:cNvPr>
          <p:cNvSpPr>
            <a:spLocks noGrp="1"/>
          </p:cNvSpPr>
          <p:nvPr/>
        </p:nvSpPr>
        <p:spPr>
          <a:xfrm>
            <a:off x="6492240" y="2560320"/>
            <a:ext cx="4572000" cy="365760"/>
          </a:xfrm>
          <a:prstGeom prst="rect">
            <a:avLst/>
          </a:prstGeom>
          <a:noFill/>
        </p:spPr>
        <p:txBody>
          <a:bodyPr wrap="square" lIns="0" tIns="0" rIns="0" bIns="0" anchor="ctr"/>
          <a:lstStyle/>
          <a:p>
            <a:pPr marL="0" indent="0">
              <a:buNone/>
            </a:pPr>
            <a:r>
              <a:rPr sz="1400" b="1" spc="200">
                <a:solidFill>
                  <a:srgbClr val="707070"/>
                </a:solidFill>
                <a:latin typeface="Arial"/>
                <a:ea typeface="Arial"/>
                <a:cs typeface="Arial"/>
              </a:rPr>
              <a:t>IT ISN'T</a:t>
            </a:r>
            <a:endParaRPr sz="1400"/>
          </a:p>
        </p:txBody>
      </p:sp>
      <p:sp>
        <p:nvSpPr>
          <p:cNvPr id="12" name="Text 9">
            <a:extLst>
              <a:ext uri="{FF2B5EF4-FFF2-40B4-BE49-F238E27FC236}">
                <a16:creationId xmlns:a16="http://schemas.microsoft.com/office/drawing/2014/main" id="{F143FFA6-2B04-459F-A1AD-686C0216DC35}"/>
              </a:ext>
            </a:extLst>
          </p:cNvPr>
          <p:cNvSpPr>
            <a:spLocks noGrp="1"/>
          </p:cNvSpPr>
          <p:nvPr/>
        </p:nvSpPr>
        <p:spPr>
          <a:xfrm>
            <a:off x="6492240" y="3063240"/>
            <a:ext cx="4846320" cy="2834640"/>
          </a:xfrm>
          <a:prstGeom prst="rect">
            <a:avLst/>
          </a:prstGeom>
          <a:noFill/>
        </p:spPr>
        <p:txBody>
          <a:bodyPr wrap="square" lIns="0" tIns="0" rIns="0" bIns="0" anchor="ctr"/>
          <a:lstStyle/>
          <a:p>
            <a:pPr marL="279400" indent="-279400">
              <a:spcAft>
                <a:spcPts val="1100"/>
              </a:spcAft>
              <a:buSzPct val="100000"/>
              <a:buChar char="✕"/>
            </a:pPr>
            <a:r>
              <a:rPr sz="1500">
                <a:solidFill>
                  <a:srgbClr val="707070"/>
                </a:solidFill>
                <a:latin typeface="Arial"/>
                <a:ea typeface="Arial"/>
                <a:cs typeface="Arial"/>
              </a:rPr>
              <a:t>A beginner Excel class</a:t>
            </a:r>
            <a:endParaRPr sz="1500"/>
          </a:p>
          <a:p>
            <a:pPr marL="279400" indent="-279400">
              <a:spcAft>
                <a:spcPts val="1100"/>
              </a:spcAft>
              <a:buSzPct val="100000"/>
              <a:buChar char="✕"/>
            </a:pPr>
            <a:r>
              <a:rPr sz="1500">
                <a:solidFill>
                  <a:srgbClr val="707070"/>
                </a:solidFill>
                <a:latin typeface="Arial"/>
                <a:ea typeface="Arial"/>
                <a:cs typeface="Arial"/>
              </a:rPr>
              <a:t>A feature tour of everything in Power Query</a:t>
            </a:r>
            <a:endParaRPr sz="1500"/>
          </a:p>
          <a:p>
            <a:pPr marL="279400" indent="-279400">
              <a:spcAft>
                <a:spcPts val="1100"/>
              </a:spcAft>
              <a:buSzPct val="100000"/>
              <a:buChar char="✕"/>
            </a:pPr>
            <a:r>
              <a:rPr sz="1500">
                <a:solidFill>
                  <a:srgbClr val="707070"/>
                </a:solidFill>
                <a:latin typeface="Arial"/>
                <a:ea typeface="Arial"/>
                <a:cs typeface="Arial"/>
              </a:rPr>
              <a:t>A full hands-on workshop</a:t>
            </a:r>
            <a:endParaRPr sz="1500"/>
          </a:p>
          <a:p>
            <a:pPr marL="279400" indent="-279400">
              <a:spcAft>
                <a:spcPts val="1100"/>
              </a:spcAft>
              <a:buSzPct val="100000"/>
              <a:buChar char="✕"/>
            </a:pPr>
            <a:r>
              <a:rPr sz="1500">
                <a:solidFill>
                  <a:srgbClr val="707070"/>
                </a:solidFill>
                <a:latin typeface="Arial"/>
                <a:ea typeface="Arial"/>
                <a:cs typeface="Arial"/>
              </a:rPr>
              <a:t>A passive “watch and forget” webinar</a:t>
            </a:r>
            <a:endParaRPr sz="1500"/>
          </a:p>
        </p:txBody>
      </p:sp>
    </p:spTree>
    <p:extLst>
      <p:ext uri="{BB962C8B-B14F-4D97-AF65-F5344CB8AC3E}">
        <p14:creationId xmlns:p14="http://schemas.microsoft.com/office/powerpoint/2010/main" val="1335972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pic>
        <p:nvPicPr>
          <p:cNvPr id="12" name="Image 0"/>
          <p:cNvPicPr>
            <a:picLocks noChangeAspect="1"/>
          </p:cNvPicPr>
          <p:nvPr/>
        </p:nvPicPr>
        <p:blipFill>
          <a:blip r:embed="rId3"/>
          <a:stretch>
            <a:fillRect/>
          </a:stretch>
        </p:blipFill>
        <p:spPr>
          <a:xfrm>
            <a:off x="502920" y="384048"/>
            <a:ext cx="1828800" cy="258305"/>
          </a:xfrm>
          <a:prstGeom prst="rect">
            <a:avLst/>
          </a:prstGeom>
        </p:spPr>
      </p:pic>
      <p:sp>
        <p:nvSpPr>
          <p:cNvPr id="3" name="Text 0">
            <a:extLst>
              <a:ext uri="{FF2B5EF4-FFF2-40B4-BE49-F238E27FC236}">
                <a16:creationId xmlns:a16="http://schemas.microsoft.com/office/drawing/2014/main" id="{1C9B7815-3E86-4699-825A-A12780F27DE3}"/>
              </a:ext>
            </a:extLst>
          </p:cNvPr>
          <p:cNvSpPr>
            <a:spLocks noGrp="1"/>
          </p:cNvSpPr>
          <p:nvPr/>
        </p:nvSpPr>
        <p:spPr>
          <a:xfrm>
            <a:off x="548640" y="868680"/>
            <a:ext cx="10058400" cy="320040"/>
          </a:xfrm>
          <a:prstGeom prst="rect">
            <a:avLst/>
          </a:prstGeom>
          <a:noFill/>
        </p:spPr>
        <p:txBody>
          <a:bodyPr wrap="square" lIns="0" tIns="0" rIns="0" bIns="0" anchor="ctr"/>
          <a:lstStyle/>
          <a:p>
            <a:pPr marL="0" indent="0">
              <a:buNone/>
            </a:pPr>
            <a:r>
              <a:rPr sz="1300" b="1" spc="300">
                <a:solidFill>
                  <a:srgbClr val="CF3338"/>
                </a:solidFill>
                <a:latin typeface="Arial"/>
                <a:ea typeface="Arial"/>
                <a:cs typeface="Arial"/>
              </a:rPr>
              <a:t>HOW TODAY WORKS</a:t>
            </a:r>
            <a:endParaRPr sz="1300"/>
          </a:p>
        </p:txBody>
      </p:sp>
      <p:sp>
        <p:nvSpPr>
          <p:cNvPr id="4" name="Text 1">
            <a:extLst>
              <a:ext uri="{FF2B5EF4-FFF2-40B4-BE49-F238E27FC236}">
                <a16:creationId xmlns:a16="http://schemas.microsoft.com/office/drawing/2014/main" id="{C7DEF5F6-226D-4718-9EF6-7996EADFC959}"/>
              </a:ext>
            </a:extLst>
          </p:cNvPr>
          <p:cNvSpPr>
            <a:spLocks noGrp="1"/>
          </p:cNvSpPr>
          <p:nvPr/>
        </p:nvSpPr>
        <p:spPr>
          <a:xfrm>
            <a:off x="548640" y="1143000"/>
            <a:ext cx="11064240" cy="1097280"/>
          </a:xfrm>
          <a:prstGeom prst="rect">
            <a:avLst/>
          </a:prstGeom>
          <a:noFill/>
        </p:spPr>
        <p:txBody>
          <a:bodyPr wrap="square" lIns="0" tIns="0" rIns="0" bIns="0" anchor="ctr"/>
          <a:lstStyle/>
          <a:p>
            <a:pPr marL="0" indent="0" algn="l">
              <a:buNone/>
            </a:pPr>
            <a:r>
              <a:rPr sz="3800" b="1">
                <a:solidFill>
                  <a:srgbClr val="1F2120"/>
                </a:solidFill>
                <a:latin typeface="Arial Black"/>
                <a:ea typeface="Arial Black"/>
                <a:cs typeface="Arial Black"/>
              </a:rPr>
              <a:t>Follow along with the supplied files</a:t>
            </a:r>
            <a:endParaRPr sz="3800"/>
          </a:p>
        </p:txBody>
      </p:sp>
      <p:sp>
        <p:nvSpPr>
          <p:cNvPr id="5" name="Text 2">
            <a:extLst>
              <a:ext uri="{FF2B5EF4-FFF2-40B4-BE49-F238E27FC236}">
                <a16:creationId xmlns:a16="http://schemas.microsoft.com/office/drawing/2014/main" id="{F8F1FDAE-B22A-4C73-914A-4A4BE98B1C7D}"/>
              </a:ext>
            </a:extLst>
          </p:cNvPr>
          <p:cNvSpPr>
            <a:spLocks noGrp="1"/>
          </p:cNvSpPr>
          <p:nvPr/>
        </p:nvSpPr>
        <p:spPr>
          <a:xfrm>
            <a:off x="640080" y="2286000"/>
            <a:ext cx="6492240" cy="1737360"/>
          </a:xfrm>
          <a:prstGeom prst="rect">
            <a:avLst/>
          </a:prstGeom>
          <a:noFill/>
        </p:spPr>
        <p:txBody>
          <a:bodyPr wrap="square" lIns="0" tIns="0" rIns="0" bIns="0" anchor="ctr"/>
          <a:lstStyle/>
          <a:p>
            <a:pPr marL="0" indent="0">
              <a:lnSpc>
                <a:spcPct val="118000"/>
              </a:lnSpc>
              <a:buNone/>
            </a:pPr>
            <a:r>
              <a:rPr sz="1900">
                <a:solidFill>
                  <a:srgbClr val="707070"/>
                </a:solidFill>
                <a:latin typeface="Arial"/>
                <a:ea typeface="Arial"/>
                <a:cs typeface="Arial"/>
              </a:rPr>
              <a:t>Open power-query-demo-day-data.xlsx from the supplied files. </a:t>
            </a:r>
            <a:r>
              <a:rPr sz="1900" b="1">
                <a:solidFill>
                  <a:srgbClr val="1F2120"/>
                </a:solidFill>
                <a:latin typeface="Arial"/>
                <a:ea typeface="Arial"/>
                <a:cs typeface="Arial"/>
              </a:rPr>
              <a:t>Follow along in Excel, or watch and revisit the steps later.</a:t>
            </a:r>
            <a:endParaRPr sz="1900"/>
          </a:p>
        </p:txBody>
      </p:sp>
      <p:sp>
        <p:nvSpPr>
          <p:cNvPr id="6" name="Text 3">
            <a:extLst>
              <a:ext uri="{FF2B5EF4-FFF2-40B4-BE49-F238E27FC236}">
                <a16:creationId xmlns:a16="http://schemas.microsoft.com/office/drawing/2014/main" id="{1E41D434-CAFB-4047-86DB-4831FA12058F}"/>
              </a:ext>
            </a:extLst>
          </p:cNvPr>
          <p:cNvSpPr>
            <a:spLocks noGrp="1"/>
          </p:cNvSpPr>
          <p:nvPr/>
        </p:nvSpPr>
        <p:spPr>
          <a:xfrm>
            <a:off x="640080" y="3977640"/>
            <a:ext cx="6492240" cy="1645920"/>
          </a:xfrm>
          <a:prstGeom prst="rect">
            <a:avLst/>
          </a:prstGeom>
          <a:noFill/>
        </p:spPr>
        <p:txBody>
          <a:bodyPr wrap="square" lIns="0" tIns="0" rIns="0" bIns="0" anchor="ctr"/>
          <a:lstStyle/>
          <a:p>
            <a:pPr marL="0" indent="0">
              <a:lnSpc>
                <a:spcPct val="118000"/>
              </a:lnSpc>
              <a:buNone/>
            </a:pPr>
            <a:r>
              <a:rPr sz="1900">
                <a:solidFill>
                  <a:srgbClr val="707070"/>
                </a:solidFill>
                <a:latin typeface="Arial"/>
                <a:ea typeface="Arial"/>
                <a:cs typeface="Arial"/>
              </a:rPr>
              <a:t>One workbook holds every example. </a:t>
            </a:r>
            <a:r>
              <a:rPr sz="1900" b="1">
                <a:solidFill>
                  <a:srgbClr val="1F2120"/>
                </a:solidFill>
                <a:latin typeface="Arial"/>
                <a:ea typeface="Arial"/>
                <a:cs typeface="Arial"/>
              </a:rPr>
              <a:t>Switch worksheets: penguins, signups, and wholesale-customers</a:t>
            </a:r>
            <a:r>
              <a:rPr sz="1900">
                <a:solidFill>
                  <a:srgbClr val="707070"/>
                </a:solidFill>
                <a:latin typeface="Arial"/>
                <a:ea typeface="Arial"/>
                <a:cs typeface="Arial"/>
              </a:rPr>
              <a:t>. The roster sheet is included for extra practice.</a:t>
            </a:r>
            <a:endParaRPr sz="1900"/>
          </a:p>
        </p:txBody>
      </p:sp>
      <p:sp>
        <p:nvSpPr>
          <p:cNvPr id="7" name="Shape 4">
            <a:extLst>
              <a:ext uri="{FF2B5EF4-FFF2-40B4-BE49-F238E27FC236}">
                <a16:creationId xmlns:a16="http://schemas.microsoft.com/office/drawing/2014/main" id="{165490C9-E21E-4109-AF1F-6C9BB44E641B}"/>
              </a:ext>
            </a:extLst>
          </p:cNvPr>
          <p:cNvSpPr>
            <a:spLocks noGrp="1"/>
          </p:cNvSpPr>
          <p:nvPr/>
        </p:nvSpPr>
        <p:spPr>
          <a:xfrm>
            <a:off x="7635240" y="2286000"/>
            <a:ext cx="3886200" cy="3703320"/>
          </a:xfrm>
          <a:prstGeom prst="rect">
            <a:avLst/>
          </a:prstGeom>
          <a:solidFill>
            <a:srgbClr val="CF3338"/>
          </a:solidFill>
        </p:spPr>
        <p:txBody>
          <a:bodyPr/>
          <a:lstStyle/>
          <a:p>
            <a:endParaRPr/>
          </a:p>
        </p:txBody>
      </p:sp>
      <p:sp>
        <p:nvSpPr>
          <p:cNvPr id="8" name="Text 5">
            <a:extLst>
              <a:ext uri="{FF2B5EF4-FFF2-40B4-BE49-F238E27FC236}">
                <a16:creationId xmlns:a16="http://schemas.microsoft.com/office/drawing/2014/main" id="{CD5D715F-EE91-493D-A67D-B755CC5C0427}"/>
              </a:ext>
            </a:extLst>
          </p:cNvPr>
          <p:cNvSpPr>
            <a:spLocks noGrp="1"/>
          </p:cNvSpPr>
          <p:nvPr/>
        </p:nvSpPr>
        <p:spPr>
          <a:xfrm>
            <a:off x="7909560" y="2560320"/>
            <a:ext cx="3383280" cy="365760"/>
          </a:xfrm>
          <a:prstGeom prst="rect">
            <a:avLst/>
          </a:prstGeom>
          <a:noFill/>
        </p:spPr>
        <p:txBody>
          <a:bodyPr wrap="square" lIns="0" tIns="0" rIns="0" bIns="0" anchor="ctr"/>
          <a:lstStyle/>
          <a:p>
            <a:pPr marL="0" indent="0">
              <a:buNone/>
            </a:pPr>
            <a:r>
              <a:rPr sz="1300" b="1" spc="200">
                <a:solidFill>
                  <a:srgbClr val="F2D9DA"/>
                </a:solidFill>
                <a:latin typeface="Arial"/>
                <a:ea typeface="Arial"/>
                <a:cs typeface="Arial"/>
              </a:rPr>
              <a:t>YOUR FILES</a:t>
            </a:r>
            <a:endParaRPr sz="1300"/>
          </a:p>
        </p:txBody>
      </p:sp>
      <p:sp>
        <p:nvSpPr>
          <p:cNvPr id="9" name="Text 6">
            <a:extLst>
              <a:ext uri="{FF2B5EF4-FFF2-40B4-BE49-F238E27FC236}">
                <a16:creationId xmlns:a16="http://schemas.microsoft.com/office/drawing/2014/main" id="{7DAE9E2C-370F-455F-81EF-8E7DE0385E8C}"/>
              </a:ext>
            </a:extLst>
          </p:cNvPr>
          <p:cNvSpPr>
            <a:spLocks noGrp="1"/>
          </p:cNvSpPr>
          <p:nvPr/>
        </p:nvSpPr>
        <p:spPr>
          <a:xfrm>
            <a:off x="7909560" y="3108960"/>
            <a:ext cx="3383280" cy="1828800"/>
          </a:xfrm>
          <a:prstGeom prst="rect">
            <a:avLst/>
          </a:prstGeom>
          <a:noFill/>
        </p:spPr>
        <p:txBody>
          <a:bodyPr wrap="square" lIns="0" tIns="0" rIns="0" bIns="0" anchor="ctr"/>
          <a:lstStyle/>
          <a:p>
            <a:pPr marL="0" indent="0">
              <a:lnSpc>
                <a:spcPct val="100000"/>
              </a:lnSpc>
              <a:buNone/>
            </a:pPr>
            <a:r>
              <a:rPr sz="2300" b="1">
                <a:solidFill>
                  <a:srgbClr val="FFFFFF"/>
                </a:solidFill>
                <a:latin typeface="Arial Black"/>
                <a:ea typeface="Arial Black"/>
                <a:cs typeface="Arial Black"/>
              </a:rPr>
              <a:t>Follow along</a:t>
            </a:r>
            <a:endParaRPr sz="2300"/>
          </a:p>
          <a:p>
            <a:pPr marL="0" indent="0">
              <a:lnSpc>
                <a:spcPct val="100000"/>
              </a:lnSpc>
              <a:buNone/>
            </a:pPr>
            <a:r>
              <a:rPr sz="2300">
                <a:solidFill>
                  <a:srgbClr val="F4D7D8"/>
                </a:solidFill>
                <a:latin typeface="Arial Black"/>
                <a:ea typeface="Arial Black"/>
                <a:cs typeface="Arial Black"/>
              </a:rPr>
              <a:t>with supplied files</a:t>
            </a:r>
            <a:endParaRPr sz="2300"/>
          </a:p>
          <a:p>
            <a:pPr marL="0" indent="0">
              <a:lnSpc>
                <a:spcPct val="100000"/>
              </a:lnSpc>
              <a:buNone/>
            </a:pPr>
            <a:r>
              <a:rPr sz="1400">
                <a:solidFill>
                  <a:srgbClr val="FFFFFF"/>
                </a:solidFill>
                <a:latin typeface="Arial Black"/>
                <a:ea typeface="Arial Black"/>
                <a:cs typeface="Arial Black"/>
              </a:rPr>
              <a:t> </a:t>
            </a:r>
            <a:endParaRPr sz="2300"/>
          </a:p>
          <a:p>
            <a:pPr marL="0" indent="0">
              <a:lnSpc>
                <a:spcPct val="100000"/>
              </a:lnSpc>
              <a:buNone/>
            </a:pPr>
            <a:r>
              <a:rPr sz="2300" b="1">
                <a:solidFill>
                  <a:srgbClr val="FFFFFF"/>
                </a:solidFill>
                <a:latin typeface="Arial Black"/>
                <a:ea typeface="Arial Black"/>
                <a:cs typeface="Arial Black"/>
              </a:rPr>
              <a:t>Practice again</a:t>
            </a:r>
            <a:endParaRPr sz="2300"/>
          </a:p>
          <a:p>
            <a:pPr marL="0" indent="0">
              <a:lnSpc>
                <a:spcPct val="100000"/>
              </a:lnSpc>
              <a:buNone/>
            </a:pPr>
            <a:r>
              <a:rPr sz="2300">
                <a:solidFill>
                  <a:srgbClr val="F4D7D8"/>
                </a:solidFill>
                <a:latin typeface="Arial Black"/>
                <a:ea typeface="Arial Black"/>
                <a:cs typeface="Arial Black"/>
              </a:rPr>
              <a:t>in one workbook</a:t>
            </a:r>
            <a:endParaRPr sz="2300"/>
          </a:p>
        </p:txBody>
      </p:sp>
      <p:sp>
        <p:nvSpPr>
          <p:cNvPr id="10" name="Text 7">
            <a:extLst>
              <a:ext uri="{FF2B5EF4-FFF2-40B4-BE49-F238E27FC236}">
                <a16:creationId xmlns:a16="http://schemas.microsoft.com/office/drawing/2014/main" id="{D59E54A9-194F-4059-BD0A-BD353143A58F}"/>
              </a:ext>
            </a:extLst>
          </p:cNvPr>
          <p:cNvSpPr>
            <a:spLocks noGrp="1"/>
          </p:cNvSpPr>
          <p:nvPr/>
        </p:nvSpPr>
        <p:spPr>
          <a:xfrm>
            <a:off x="7909560" y="5440680"/>
            <a:ext cx="3474720" cy="365760"/>
          </a:xfrm>
          <a:prstGeom prst="rect">
            <a:avLst/>
          </a:prstGeom>
          <a:noFill/>
        </p:spPr>
        <p:txBody>
          <a:bodyPr wrap="square" lIns="0" tIns="0" rIns="0" bIns="0" anchor="ctr"/>
          <a:lstStyle/>
          <a:p>
            <a:r>
              <a:rPr sz="1250" b="1" i="0">
                <a:solidFill>
                  <a:srgbClr val="FFFFFF"/>
                </a:solidFill>
                <a:latin typeface="Arial"/>
                <a:ea typeface="Arial"/>
                <a:cs typeface="Arial"/>
              </a:rPr>
              <a:t>No sign-up needed</a:t>
            </a:r>
          </a:p>
        </p:txBody>
      </p:sp>
    </p:spTree>
    <p:extLst>
      <p:ext uri="{BB962C8B-B14F-4D97-AF65-F5344CB8AC3E}">
        <p14:creationId xmlns:p14="http://schemas.microsoft.com/office/powerpoint/2010/main" val="376365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pic>
        <p:nvPicPr>
          <p:cNvPr id="25" name="Image 0"/>
          <p:cNvPicPr>
            <a:picLocks noChangeAspect="1"/>
          </p:cNvPicPr>
          <p:nvPr/>
        </p:nvPicPr>
        <p:blipFill>
          <a:blip r:embed="rId3"/>
          <a:stretch>
            <a:fillRect/>
          </a:stretch>
        </p:blipFill>
        <p:spPr>
          <a:xfrm>
            <a:off x="502920" y="384048"/>
            <a:ext cx="1828800" cy="258305"/>
          </a:xfrm>
          <a:prstGeom prst="rect">
            <a:avLst/>
          </a:prstGeom>
        </p:spPr>
      </p:pic>
      <p:sp>
        <p:nvSpPr>
          <p:cNvPr id="3" name="Text 0">
            <a:extLst>
              <a:ext uri="{FF2B5EF4-FFF2-40B4-BE49-F238E27FC236}">
                <a16:creationId xmlns:a16="http://schemas.microsoft.com/office/drawing/2014/main" id="{EFCAC5C5-56A9-4983-9431-2CFBB51E21BB}"/>
              </a:ext>
            </a:extLst>
          </p:cNvPr>
          <p:cNvSpPr>
            <a:spLocks noGrp="1"/>
          </p:cNvSpPr>
          <p:nvPr/>
        </p:nvSpPr>
        <p:spPr>
          <a:xfrm>
            <a:off x="548640" y="868680"/>
            <a:ext cx="10058400" cy="320040"/>
          </a:xfrm>
          <a:prstGeom prst="rect">
            <a:avLst/>
          </a:prstGeom>
          <a:noFill/>
        </p:spPr>
        <p:txBody>
          <a:bodyPr wrap="square" lIns="0" tIns="0" rIns="0" bIns="0" anchor="ctr"/>
          <a:lstStyle/>
          <a:p>
            <a:pPr marL="0" indent="0">
              <a:buNone/>
            </a:pPr>
            <a:r>
              <a:rPr sz="1300" b="1" spc="300">
                <a:solidFill>
                  <a:srgbClr val="CF3338"/>
                </a:solidFill>
                <a:latin typeface="Arial"/>
                <a:ea typeface="Arial"/>
                <a:cs typeface="Arial"/>
              </a:rPr>
              <a:t>WHAT WE'LL COVER</a:t>
            </a:r>
            <a:endParaRPr sz="1300"/>
          </a:p>
        </p:txBody>
      </p:sp>
      <p:sp>
        <p:nvSpPr>
          <p:cNvPr id="4" name="Text 1">
            <a:extLst>
              <a:ext uri="{FF2B5EF4-FFF2-40B4-BE49-F238E27FC236}">
                <a16:creationId xmlns:a16="http://schemas.microsoft.com/office/drawing/2014/main" id="{A506DF8C-B27A-405D-899F-FE7F7954EE47}"/>
              </a:ext>
            </a:extLst>
          </p:cNvPr>
          <p:cNvSpPr>
            <a:spLocks noGrp="1"/>
          </p:cNvSpPr>
          <p:nvPr/>
        </p:nvSpPr>
        <p:spPr>
          <a:xfrm>
            <a:off x="548640" y="1143000"/>
            <a:ext cx="11064240" cy="1097280"/>
          </a:xfrm>
          <a:prstGeom prst="rect">
            <a:avLst/>
          </a:prstGeom>
          <a:noFill/>
        </p:spPr>
        <p:txBody>
          <a:bodyPr wrap="square" lIns="0" tIns="0" rIns="0" bIns="0" anchor="ctr"/>
          <a:lstStyle/>
          <a:p>
            <a:pPr marL="0" indent="0" algn="l">
              <a:buNone/>
            </a:pPr>
            <a:r>
              <a:rPr sz="3800" b="1">
                <a:solidFill>
                  <a:srgbClr val="1F2120"/>
                </a:solidFill>
                <a:latin typeface="Arial Black"/>
                <a:ea typeface="Arial Black"/>
                <a:cs typeface="Arial Black"/>
              </a:rPr>
              <a:t>Three examples from real analytical work</a:t>
            </a:r>
            <a:endParaRPr sz="3800"/>
          </a:p>
        </p:txBody>
      </p:sp>
      <p:sp>
        <p:nvSpPr>
          <p:cNvPr id="5" name="Shape 2">
            <a:extLst>
              <a:ext uri="{FF2B5EF4-FFF2-40B4-BE49-F238E27FC236}">
                <a16:creationId xmlns:a16="http://schemas.microsoft.com/office/drawing/2014/main" id="{B7E9A169-AA50-45DD-945E-4A38882C9673}"/>
              </a:ext>
            </a:extLst>
          </p:cNvPr>
          <p:cNvSpPr>
            <a:spLocks noGrp="1"/>
          </p:cNvSpPr>
          <p:nvPr/>
        </p:nvSpPr>
        <p:spPr>
          <a:xfrm>
            <a:off x="640080" y="2514600"/>
            <a:ext cx="3520440" cy="2971800"/>
          </a:xfrm>
          <a:prstGeom prst="rect">
            <a:avLst/>
          </a:prstGeom>
          <a:solidFill>
            <a:srgbClr val="FFFFFF"/>
          </a:solidFill>
          <a:ln w="12700">
            <a:solidFill>
              <a:srgbClr val="DEDBCF"/>
            </a:solidFill>
            <a:prstDash val="solid"/>
          </a:ln>
          <a:effectLst>
            <a:outerShdw blurRad="101600" dist="38100" dir="8100000" algn="bl" rotWithShape="0">
              <a:srgbClr val="000000">
                <a:alpha val="12000"/>
              </a:srgbClr>
            </a:outerShdw>
          </a:effectLst>
        </p:spPr>
        <p:txBody>
          <a:bodyPr/>
          <a:lstStyle/>
          <a:p>
            <a:endParaRPr/>
          </a:p>
        </p:txBody>
      </p:sp>
      <p:sp>
        <p:nvSpPr>
          <p:cNvPr id="6" name="Shape 3">
            <a:extLst>
              <a:ext uri="{FF2B5EF4-FFF2-40B4-BE49-F238E27FC236}">
                <a16:creationId xmlns:a16="http://schemas.microsoft.com/office/drawing/2014/main" id="{7B58157A-231A-4340-B974-B8F23EFB219F}"/>
              </a:ext>
            </a:extLst>
          </p:cNvPr>
          <p:cNvSpPr>
            <a:spLocks noGrp="1"/>
          </p:cNvSpPr>
          <p:nvPr/>
        </p:nvSpPr>
        <p:spPr>
          <a:xfrm>
            <a:off x="640080" y="2514600"/>
            <a:ext cx="3520440" cy="128016"/>
          </a:xfrm>
          <a:prstGeom prst="rect">
            <a:avLst/>
          </a:prstGeom>
          <a:solidFill>
            <a:srgbClr val="CF3338"/>
          </a:solidFill>
        </p:spPr>
        <p:txBody>
          <a:bodyPr/>
          <a:lstStyle/>
          <a:p>
            <a:endParaRPr/>
          </a:p>
        </p:txBody>
      </p:sp>
      <p:sp>
        <p:nvSpPr>
          <p:cNvPr id="7" name="Shape 4">
            <a:extLst>
              <a:ext uri="{FF2B5EF4-FFF2-40B4-BE49-F238E27FC236}">
                <a16:creationId xmlns:a16="http://schemas.microsoft.com/office/drawing/2014/main" id="{857B0176-6072-4079-9D9E-B2D5687208B8}"/>
              </a:ext>
            </a:extLst>
          </p:cNvPr>
          <p:cNvSpPr>
            <a:spLocks noGrp="1"/>
          </p:cNvSpPr>
          <p:nvPr/>
        </p:nvSpPr>
        <p:spPr>
          <a:xfrm>
            <a:off x="932688" y="2880360"/>
            <a:ext cx="777240" cy="777240"/>
          </a:xfrm>
          <a:prstGeom prst="ellipse">
            <a:avLst/>
          </a:prstGeom>
          <a:solidFill>
            <a:srgbClr val="CF3338"/>
          </a:solidFill>
        </p:spPr>
        <p:txBody>
          <a:bodyPr/>
          <a:lstStyle/>
          <a:p>
            <a:endParaRPr/>
          </a:p>
        </p:txBody>
      </p:sp>
      <p:sp>
        <p:nvSpPr>
          <p:cNvPr id="8" name="Text 5">
            <a:extLst>
              <a:ext uri="{FF2B5EF4-FFF2-40B4-BE49-F238E27FC236}">
                <a16:creationId xmlns:a16="http://schemas.microsoft.com/office/drawing/2014/main" id="{33AD1A5A-AFFA-4B89-92FF-E65D5A9A6E99}"/>
              </a:ext>
            </a:extLst>
          </p:cNvPr>
          <p:cNvSpPr>
            <a:spLocks noGrp="1"/>
          </p:cNvSpPr>
          <p:nvPr/>
        </p:nvSpPr>
        <p:spPr>
          <a:xfrm>
            <a:off x="932688" y="2880360"/>
            <a:ext cx="777240" cy="777240"/>
          </a:xfrm>
          <a:prstGeom prst="rect">
            <a:avLst/>
          </a:prstGeom>
          <a:noFill/>
        </p:spPr>
        <p:txBody>
          <a:bodyPr wrap="square" lIns="0" tIns="0" rIns="0" bIns="0" anchor="ctr"/>
          <a:lstStyle/>
          <a:p>
            <a:pPr marL="0" indent="0" algn="ctr">
              <a:buNone/>
            </a:pPr>
            <a:r>
              <a:rPr sz="2600" b="1">
                <a:solidFill>
                  <a:srgbClr val="FFFFFF"/>
                </a:solidFill>
                <a:latin typeface="Arial Black"/>
                <a:ea typeface="Arial Black"/>
                <a:cs typeface="Arial Black"/>
              </a:rPr>
              <a:t>1</a:t>
            </a:r>
            <a:endParaRPr sz="2600"/>
          </a:p>
        </p:txBody>
      </p:sp>
      <p:sp>
        <p:nvSpPr>
          <p:cNvPr id="9" name="Text 6">
            <a:extLst>
              <a:ext uri="{FF2B5EF4-FFF2-40B4-BE49-F238E27FC236}">
                <a16:creationId xmlns:a16="http://schemas.microsoft.com/office/drawing/2014/main" id="{7D2F3C8E-AD90-472F-855F-6B2967B43039}"/>
              </a:ext>
            </a:extLst>
          </p:cNvPr>
          <p:cNvSpPr>
            <a:spLocks noGrp="1"/>
          </p:cNvSpPr>
          <p:nvPr/>
        </p:nvSpPr>
        <p:spPr>
          <a:xfrm>
            <a:off x="932688" y="3813048"/>
            <a:ext cx="2935224" cy="822960"/>
          </a:xfrm>
          <a:prstGeom prst="rect">
            <a:avLst/>
          </a:prstGeom>
          <a:noFill/>
        </p:spPr>
        <p:txBody>
          <a:bodyPr wrap="square" lIns="0" tIns="0" rIns="0" bIns="0" anchor="ctr"/>
          <a:lstStyle/>
          <a:p>
            <a:pPr marL="0" indent="0">
              <a:lnSpc>
                <a:spcPct val="100000"/>
              </a:lnSpc>
              <a:buNone/>
            </a:pPr>
            <a:r>
              <a:rPr sz="1700" b="1">
                <a:solidFill>
                  <a:srgbClr val="1F2120"/>
                </a:solidFill>
                <a:latin typeface="Arial Black"/>
                <a:ea typeface="Arial Black"/>
                <a:cs typeface="Arial Black"/>
              </a:rPr>
              <a:t>Get comfortable in the Editor</a:t>
            </a:r>
            <a:endParaRPr sz="1700"/>
          </a:p>
        </p:txBody>
      </p:sp>
      <p:sp>
        <p:nvSpPr>
          <p:cNvPr id="10" name="Text 7">
            <a:extLst>
              <a:ext uri="{FF2B5EF4-FFF2-40B4-BE49-F238E27FC236}">
                <a16:creationId xmlns:a16="http://schemas.microsoft.com/office/drawing/2014/main" id="{18C1F24C-0353-43A7-A1C8-2980E3B0B883}"/>
              </a:ext>
            </a:extLst>
          </p:cNvPr>
          <p:cNvSpPr>
            <a:spLocks noGrp="1"/>
          </p:cNvSpPr>
          <p:nvPr/>
        </p:nvSpPr>
        <p:spPr>
          <a:xfrm>
            <a:off x="932688" y="4572000"/>
            <a:ext cx="2935224" cy="914400"/>
          </a:xfrm>
          <a:prstGeom prst="rect">
            <a:avLst/>
          </a:prstGeom>
          <a:noFill/>
        </p:spPr>
        <p:txBody>
          <a:bodyPr wrap="square" lIns="0" tIns="0" rIns="0" bIns="0" anchor="ctr"/>
          <a:lstStyle/>
          <a:p>
            <a:pPr marL="0" indent="0">
              <a:lnSpc>
                <a:spcPct val="108000"/>
              </a:lnSpc>
              <a:buNone/>
            </a:pPr>
            <a:r>
              <a:rPr sz="1350">
                <a:solidFill>
                  <a:srgbClr val="707070"/>
                </a:solidFill>
                <a:latin typeface="Arial"/>
                <a:ea typeface="Arial"/>
                <a:cs typeface="Arial"/>
              </a:rPr>
              <a:t>Load a table, set correct data types, and profile your columns so you can see what’s actually in your data first.</a:t>
            </a:r>
            <a:endParaRPr sz="1350"/>
          </a:p>
        </p:txBody>
      </p:sp>
      <p:sp>
        <p:nvSpPr>
          <p:cNvPr id="11" name="Shape 8">
            <a:extLst>
              <a:ext uri="{FF2B5EF4-FFF2-40B4-BE49-F238E27FC236}">
                <a16:creationId xmlns:a16="http://schemas.microsoft.com/office/drawing/2014/main" id="{86596BCD-3987-4D08-BA13-4253E10AC9A8}"/>
              </a:ext>
            </a:extLst>
          </p:cNvPr>
          <p:cNvSpPr>
            <a:spLocks noGrp="1"/>
          </p:cNvSpPr>
          <p:nvPr/>
        </p:nvSpPr>
        <p:spPr>
          <a:xfrm>
            <a:off x="4480560" y="2514600"/>
            <a:ext cx="3520440" cy="2971800"/>
          </a:xfrm>
          <a:prstGeom prst="rect">
            <a:avLst/>
          </a:prstGeom>
          <a:solidFill>
            <a:srgbClr val="FFFFFF"/>
          </a:solidFill>
          <a:ln w="12700">
            <a:solidFill>
              <a:srgbClr val="DEDBCF"/>
            </a:solidFill>
            <a:prstDash val="solid"/>
          </a:ln>
          <a:effectLst>
            <a:outerShdw blurRad="101600" dist="38100" dir="8100000" algn="bl" rotWithShape="0">
              <a:srgbClr val="000000">
                <a:alpha val="12000"/>
              </a:srgbClr>
            </a:outerShdw>
          </a:effectLst>
        </p:spPr>
        <p:txBody>
          <a:bodyPr/>
          <a:lstStyle/>
          <a:p>
            <a:endParaRPr/>
          </a:p>
        </p:txBody>
      </p:sp>
      <p:sp>
        <p:nvSpPr>
          <p:cNvPr id="12" name="Shape 9">
            <a:extLst>
              <a:ext uri="{FF2B5EF4-FFF2-40B4-BE49-F238E27FC236}">
                <a16:creationId xmlns:a16="http://schemas.microsoft.com/office/drawing/2014/main" id="{1578339D-AD18-417E-BD5F-2E668814F35E}"/>
              </a:ext>
            </a:extLst>
          </p:cNvPr>
          <p:cNvSpPr>
            <a:spLocks noGrp="1"/>
          </p:cNvSpPr>
          <p:nvPr/>
        </p:nvSpPr>
        <p:spPr>
          <a:xfrm>
            <a:off x="4480560" y="2514600"/>
            <a:ext cx="3520440" cy="128016"/>
          </a:xfrm>
          <a:prstGeom prst="rect">
            <a:avLst/>
          </a:prstGeom>
          <a:solidFill>
            <a:srgbClr val="CF3338"/>
          </a:solidFill>
        </p:spPr>
        <p:txBody>
          <a:bodyPr/>
          <a:lstStyle/>
          <a:p>
            <a:endParaRPr/>
          </a:p>
        </p:txBody>
      </p:sp>
      <p:sp>
        <p:nvSpPr>
          <p:cNvPr id="13" name="Shape 10">
            <a:extLst>
              <a:ext uri="{FF2B5EF4-FFF2-40B4-BE49-F238E27FC236}">
                <a16:creationId xmlns:a16="http://schemas.microsoft.com/office/drawing/2014/main" id="{4EC65010-2C02-4B06-B29A-F3970C499B03}"/>
              </a:ext>
            </a:extLst>
          </p:cNvPr>
          <p:cNvSpPr>
            <a:spLocks noGrp="1"/>
          </p:cNvSpPr>
          <p:nvPr/>
        </p:nvSpPr>
        <p:spPr>
          <a:xfrm>
            <a:off x="4773168" y="2880360"/>
            <a:ext cx="777240" cy="777240"/>
          </a:xfrm>
          <a:prstGeom prst="ellipse">
            <a:avLst/>
          </a:prstGeom>
          <a:solidFill>
            <a:srgbClr val="CF3338"/>
          </a:solidFill>
        </p:spPr>
        <p:txBody>
          <a:bodyPr/>
          <a:lstStyle/>
          <a:p>
            <a:endParaRPr/>
          </a:p>
        </p:txBody>
      </p:sp>
      <p:sp>
        <p:nvSpPr>
          <p:cNvPr id="14" name="Text 11">
            <a:extLst>
              <a:ext uri="{FF2B5EF4-FFF2-40B4-BE49-F238E27FC236}">
                <a16:creationId xmlns:a16="http://schemas.microsoft.com/office/drawing/2014/main" id="{D0EC9AE2-DAD9-4C48-AD80-351E03E045DE}"/>
              </a:ext>
            </a:extLst>
          </p:cNvPr>
          <p:cNvSpPr>
            <a:spLocks noGrp="1"/>
          </p:cNvSpPr>
          <p:nvPr/>
        </p:nvSpPr>
        <p:spPr>
          <a:xfrm>
            <a:off x="4773168" y="2880360"/>
            <a:ext cx="777240" cy="777240"/>
          </a:xfrm>
          <a:prstGeom prst="rect">
            <a:avLst/>
          </a:prstGeom>
          <a:noFill/>
        </p:spPr>
        <p:txBody>
          <a:bodyPr wrap="square" lIns="0" tIns="0" rIns="0" bIns="0" anchor="ctr"/>
          <a:lstStyle/>
          <a:p>
            <a:pPr marL="0" indent="0" algn="ctr">
              <a:buNone/>
            </a:pPr>
            <a:r>
              <a:rPr sz="2600" b="1">
                <a:solidFill>
                  <a:srgbClr val="FFFFFF"/>
                </a:solidFill>
                <a:latin typeface="Arial Black"/>
                <a:ea typeface="Arial Black"/>
                <a:cs typeface="Arial Black"/>
              </a:rPr>
              <a:t>2</a:t>
            </a:r>
            <a:endParaRPr sz="2600"/>
          </a:p>
        </p:txBody>
      </p:sp>
      <p:sp>
        <p:nvSpPr>
          <p:cNvPr id="15" name="Text 12">
            <a:extLst>
              <a:ext uri="{FF2B5EF4-FFF2-40B4-BE49-F238E27FC236}">
                <a16:creationId xmlns:a16="http://schemas.microsoft.com/office/drawing/2014/main" id="{D6385EE6-895E-43EA-B950-08AE63591227}"/>
              </a:ext>
            </a:extLst>
          </p:cNvPr>
          <p:cNvSpPr>
            <a:spLocks noGrp="1"/>
          </p:cNvSpPr>
          <p:nvPr/>
        </p:nvSpPr>
        <p:spPr>
          <a:xfrm>
            <a:off x="4773168" y="3813048"/>
            <a:ext cx="2935224" cy="822960"/>
          </a:xfrm>
          <a:prstGeom prst="rect">
            <a:avLst/>
          </a:prstGeom>
          <a:noFill/>
        </p:spPr>
        <p:txBody>
          <a:bodyPr wrap="square" lIns="0" tIns="0" rIns="0" bIns="0" anchor="ctr"/>
          <a:lstStyle/>
          <a:p>
            <a:pPr marL="0" indent="0">
              <a:lnSpc>
                <a:spcPct val="100000"/>
              </a:lnSpc>
              <a:buNone/>
            </a:pPr>
            <a:r>
              <a:rPr sz="1700" b="1">
                <a:solidFill>
                  <a:srgbClr val="1F2120"/>
                </a:solidFill>
                <a:latin typeface="Arial Black"/>
                <a:ea typeface="Arial Black"/>
                <a:cs typeface="Arial Black"/>
              </a:rPr>
              <a:t>Repeatable cleanup with Applied Steps</a:t>
            </a:r>
            <a:endParaRPr sz="1700"/>
          </a:p>
        </p:txBody>
      </p:sp>
      <p:sp>
        <p:nvSpPr>
          <p:cNvPr id="16" name="Text 13">
            <a:extLst>
              <a:ext uri="{FF2B5EF4-FFF2-40B4-BE49-F238E27FC236}">
                <a16:creationId xmlns:a16="http://schemas.microsoft.com/office/drawing/2014/main" id="{2758EC11-E26A-4E53-93E9-4DD7387C0155}"/>
              </a:ext>
            </a:extLst>
          </p:cNvPr>
          <p:cNvSpPr>
            <a:spLocks noGrp="1"/>
          </p:cNvSpPr>
          <p:nvPr/>
        </p:nvSpPr>
        <p:spPr>
          <a:xfrm>
            <a:off x="4773168" y="4572000"/>
            <a:ext cx="2935224" cy="914400"/>
          </a:xfrm>
          <a:prstGeom prst="rect">
            <a:avLst/>
          </a:prstGeom>
          <a:noFill/>
        </p:spPr>
        <p:txBody>
          <a:bodyPr wrap="square" lIns="0" tIns="0" rIns="0" bIns="0" anchor="ctr"/>
          <a:lstStyle/>
          <a:p>
            <a:pPr marL="0" indent="0">
              <a:lnSpc>
                <a:spcPct val="108000"/>
              </a:lnSpc>
              <a:buNone/>
            </a:pPr>
            <a:r>
              <a:rPr sz="1350">
                <a:solidFill>
                  <a:srgbClr val="707070"/>
                </a:solidFill>
                <a:latin typeface="Arial"/>
                <a:ea typeface="Arial"/>
                <a:cs typeface="Arial"/>
              </a:rPr>
              <a:t>Remove blanks &amp; duplicates, filter bad records, and build cleanup that re-runs automatically when the source changes.</a:t>
            </a:r>
            <a:endParaRPr sz="1350"/>
          </a:p>
        </p:txBody>
      </p:sp>
      <p:sp>
        <p:nvSpPr>
          <p:cNvPr id="17" name="Shape 14">
            <a:extLst>
              <a:ext uri="{FF2B5EF4-FFF2-40B4-BE49-F238E27FC236}">
                <a16:creationId xmlns:a16="http://schemas.microsoft.com/office/drawing/2014/main" id="{5FF2A87F-B822-420A-8EAB-C8898CDB0DEE}"/>
              </a:ext>
            </a:extLst>
          </p:cNvPr>
          <p:cNvSpPr>
            <a:spLocks noGrp="1"/>
          </p:cNvSpPr>
          <p:nvPr/>
        </p:nvSpPr>
        <p:spPr>
          <a:xfrm>
            <a:off x="8321040" y="2514600"/>
            <a:ext cx="3520440" cy="2971800"/>
          </a:xfrm>
          <a:prstGeom prst="rect">
            <a:avLst/>
          </a:prstGeom>
          <a:solidFill>
            <a:srgbClr val="FFFFFF"/>
          </a:solidFill>
          <a:ln w="12700">
            <a:solidFill>
              <a:srgbClr val="DEDBCF"/>
            </a:solidFill>
            <a:prstDash val="solid"/>
          </a:ln>
          <a:effectLst>
            <a:outerShdw blurRad="101600" dist="38100" dir="8100000" algn="bl" rotWithShape="0">
              <a:srgbClr val="000000">
                <a:alpha val="12000"/>
              </a:srgbClr>
            </a:outerShdw>
          </a:effectLst>
        </p:spPr>
        <p:txBody>
          <a:bodyPr/>
          <a:lstStyle/>
          <a:p>
            <a:endParaRPr/>
          </a:p>
        </p:txBody>
      </p:sp>
      <p:sp>
        <p:nvSpPr>
          <p:cNvPr id="18" name="Shape 15">
            <a:extLst>
              <a:ext uri="{FF2B5EF4-FFF2-40B4-BE49-F238E27FC236}">
                <a16:creationId xmlns:a16="http://schemas.microsoft.com/office/drawing/2014/main" id="{59B77C95-8D7A-4084-8D7E-1349C56137D0}"/>
              </a:ext>
            </a:extLst>
          </p:cNvPr>
          <p:cNvSpPr>
            <a:spLocks noGrp="1"/>
          </p:cNvSpPr>
          <p:nvPr/>
        </p:nvSpPr>
        <p:spPr>
          <a:xfrm>
            <a:off x="8321040" y="2514600"/>
            <a:ext cx="3520440" cy="128016"/>
          </a:xfrm>
          <a:prstGeom prst="rect">
            <a:avLst/>
          </a:prstGeom>
          <a:solidFill>
            <a:srgbClr val="CF3338"/>
          </a:solidFill>
        </p:spPr>
        <p:txBody>
          <a:bodyPr/>
          <a:lstStyle/>
          <a:p>
            <a:endParaRPr/>
          </a:p>
        </p:txBody>
      </p:sp>
      <p:sp>
        <p:nvSpPr>
          <p:cNvPr id="19" name="Shape 16">
            <a:extLst>
              <a:ext uri="{FF2B5EF4-FFF2-40B4-BE49-F238E27FC236}">
                <a16:creationId xmlns:a16="http://schemas.microsoft.com/office/drawing/2014/main" id="{2CEE5E8B-C906-408B-A880-9A92B3875F99}"/>
              </a:ext>
            </a:extLst>
          </p:cNvPr>
          <p:cNvSpPr>
            <a:spLocks noGrp="1"/>
          </p:cNvSpPr>
          <p:nvPr/>
        </p:nvSpPr>
        <p:spPr>
          <a:xfrm>
            <a:off x="8613648" y="2880360"/>
            <a:ext cx="777240" cy="777240"/>
          </a:xfrm>
          <a:prstGeom prst="ellipse">
            <a:avLst/>
          </a:prstGeom>
          <a:solidFill>
            <a:srgbClr val="CF3338"/>
          </a:solidFill>
        </p:spPr>
        <p:txBody>
          <a:bodyPr/>
          <a:lstStyle/>
          <a:p>
            <a:endParaRPr/>
          </a:p>
        </p:txBody>
      </p:sp>
      <p:sp>
        <p:nvSpPr>
          <p:cNvPr id="20" name="Text 17">
            <a:extLst>
              <a:ext uri="{FF2B5EF4-FFF2-40B4-BE49-F238E27FC236}">
                <a16:creationId xmlns:a16="http://schemas.microsoft.com/office/drawing/2014/main" id="{86B27DD7-6876-4656-B05C-54E536AFC221}"/>
              </a:ext>
            </a:extLst>
          </p:cNvPr>
          <p:cNvSpPr>
            <a:spLocks noGrp="1"/>
          </p:cNvSpPr>
          <p:nvPr/>
        </p:nvSpPr>
        <p:spPr>
          <a:xfrm>
            <a:off x="8613648" y="2880360"/>
            <a:ext cx="777240" cy="777240"/>
          </a:xfrm>
          <a:prstGeom prst="rect">
            <a:avLst/>
          </a:prstGeom>
          <a:noFill/>
        </p:spPr>
        <p:txBody>
          <a:bodyPr wrap="square" lIns="0" tIns="0" rIns="0" bIns="0" anchor="ctr"/>
          <a:lstStyle/>
          <a:p>
            <a:pPr marL="0" indent="0" algn="ctr">
              <a:buNone/>
            </a:pPr>
            <a:r>
              <a:rPr sz="2600" b="1">
                <a:solidFill>
                  <a:srgbClr val="FFFFFF"/>
                </a:solidFill>
                <a:latin typeface="Arial Black"/>
                <a:ea typeface="Arial Black"/>
                <a:cs typeface="Arial Black"/>
              </a:rPr>
              <a:t>3</a:t>
            </a:r>
            <a:endParaRPr sz="2600"/>
          </a:p>
        </p:txBody>
      </p:sp>
      <p:sp>
        <p:nvSpPr>
          <p:cNvPr id="21" name="Text 18">
            <a:extLst>
              <a:ext uri="{FF2B5EF4-FFF2-40B4-BE49-F238E27FC236}">
                <a16:creationId xmlns:a16="http://schemas.microsoft.com/office/drawing/2014/main" id="{927A42EA-0E9F-4FDC-A01D-6E9B6DF3D2DC}"/>
              </a:ext>
            </a:extLst>
          </p:cNvPr>
          <p:cNvSpPr>
            <a:spLocks noGrp="1"/>
          </p:cNvSpPr>
          <p:nvPr/>
        </p:nvSpPr>
        <p:spPr>
          <a:xfrm>
            <a:off x="8613648" y="3813048"/>
            <a:ext cx="2935224" cy="822960"/>
          </a:xfrm>
          <a:prstGeom prst="rect">
            <a:avLst/>
          </a:prstGeom>
          <a:noFill/>
        </p:spPr>
        <p:txBody>
          <a:bodyPr wrap="square" lIns="0" tIns="0" rIns="0" bIns="0" anchor="ctr"/>
          <a:lstStyle/>
          <a:p>
            <a:pPr marL="0" indent="0">
              <a:lnSpc>
                <a:spcPct val="100000"/>
              </a:lnSpc>
              <a:buNone/>
            </a:pPr>
            <a:r>
              <a:rPr sz="1700" b="1">
                <a:solidFill>
                  <a:srgbClr val="1F2120"/>
                </a:solidFill>
                <a:latin typeface="Arial Black"/>
                <a:ea typeface="Arial Black"/>
                <a:cs typeface="Arial Black"/>
              </a:rPr>
              <a:t>Reshape with Unpivot</a:t>
            </a:r>
            <a:endParaRPr sz="1700"/>
          </a:p>
        </p:txBody>
      </p:sp>
      <p:sp>
        <p:nvSpPr>
          <p:cNvPr id="22" name="Text 19">
            <a:extLst>
              <a:ext uri="{FF2B5EF4-FFF2-40B4-BE49-F238E27FC236}">
                <a16:creationId xmlns:a16="http://schemas.microsoft.com/office/drawing/2014/main" id="{1DEFED8E-E170-4270-85B6-4B38AD129CE7}"/>
              </a:ext>
            </a:extLst>
          </p:cNvPr>
          <p:cNvSpPr>
            <a:spLocks noGrp="1"/>
          </p:cNvSpPr>
          <p:nvPr/>
        </p:nvSpPr>
        <p:spPr>
          <a:xfrm>
            <a:off x="8613648" y="4572000"/>
            <a:ext cx="2935224" cy="914400"/>
          </a:xfrm>
          <a:prstGeom prst="rect">
            <a:avLst/>
          </a:prstGeom>
          <a:noFill/>
        </p:spPr>
        <p:txBody>
          <a:bodyPr wrap="square" lIns="0" tIns="0" rIns="0" bIns="0" anchor="ctr"/>
          <a:lstStyle/>
          <a:p>
            <a:pPr marL="0" indent="0">
              <a:lnSpc>
                <a:spcPct val="108000"/>
              </a:lnSpc>
              <a:buNone/>
            </a:pPr>
            <a:r>
              <a:rPr sz="1350">
                <a:solidFill>
                  <a:srgbClr val="707070"/>
                </a:solidFill>
                <a:latin typeface="Arial"/>
                <a:ea typeface="Arial"/>
                <a:cs typeface="Arial"/>
              </a:rPr>
              <a:t>Take data with one attribute spread across many columns and reshape it into something you can pivot and report on.</a:t>
            </a:r>
            <a:endParaRPr sz="1350"/>
          </a:p>
        </p:txBody>
      </p:sp>
      <p:sp>
        <p:nvSpPr>
          <p:cNvPr id="23" name="Text 20">
            <a:extLst>
              <a:ext uri="{FF2B5EF4-FFF2-40B4-BE49-F238E27FC236}">
                <a16:creationId xmlns:a16="http://schemas.microsoft.com/office/drawing/2014/main" id="{8D483899-F408-41C5-9A31-E8D1A488D09B}"/>
              </a:ext>
            </a:extLst>
          </p:cNvPr>
          <p:cNvSpPr>
            <a:spLocks noGrp="1"/>
          </p:cNvSpPr>
          <p:nvPr/>
        </p:nvSpPr>
        <p:spPr>
          <a:xfrm>
            <a:off x="640080" y="5715000"/>
            <a:ext cx="10881360" cy="457200"/>
          </a:xfrm>
          <a:prstGeom prst="rect">
            <a:avLst/>
          </a:prstGeom>
          <a:noFill/>
        </p:spPr>
        <p:txBody>
          <a:bodyPr wrap="square" lIns="0" tIns="0" rIns="0" bIns="0" anchor="ctr"/>
          <a:lstStyle/>
          <a:p>
            <a:pPr marL="0" indent="0">
              <a:buNone/>
            </a:pPr>
            <a:r>
              <a:rPr sz="1500" i="1">
                <a:solidFill>
                  <a:srgbClr val="1F2120"/>
                </a:solidFill>
                <a:latin typeface="Arial"/>
                <a:ea typeface="Arial"/>
                <a:cs typeface="Arial"/>
              </a:rPr>
              <a:t>The focus isn’t just how the tools work. It’s when they’re worth using and what problems they solve.</a:t>
            </a:r>
            <a:endParaRPr sz="1500"/>
          </a:p>
        </p:txBody>
      </p:sp>
    </p:spTree>
    <p:extLst>
      <p:ext uri="{BB962C8B-B14F-4D97-AF65-F5344CB8AC3E}">
        <p14:creationId xmlns:p14="http://schemas.microsoft.com/office/powerpoint/2010/main" val="874944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pic>
        <p:nvPicPr>
          <p:cNvPr id="24" name="Image 0"/>
          <p:cNvPicPr>
            <a:picLocks noChangeAspect="1"/>
          </p:cNvPicPr>
          <p:nvPr/>
        </p:nvPicPr>
        <p:blipFill>
          <a:blip r:embed="rId3"/>
          <a:stretch>
            <a:fillRect/>
          </a:stretch>
        </p:blipFill>
        <p:spPr>
          <a:xfrm>
            <a:off x="502920" y="384048"/>
            <a:ext cx="1828800" cy="258305"/>
          </a:xfrm>
          <a:prstGeom prst="rect">
            <a:avLst/>
          </a:prstGeom>
        </p:spPr>
      </p:pic>
      <p:sp>
        <p:nvSpPr>
          <p:cNvPr id="3" name="Text 0">
            <a:extLst>
              <a:ext uri="{FF2B5EF4-FFF2-40B4-BE49-F238E27FC236}">
                <a16:creationId xmlns:a16="http://schemas.microsoft.com/office/drawing/2014/main" id="{94E4AA23-D446-4EEF-A463-BBEEAE4ECCD5}"/>
              </a:ext>
            </a:extLst>
          </p:cNvPr>
          <p:cNvSpPr>
            <a:spLocks noGrp="1"/>
          </p:cNvSpPr>
          <p:nvPr/>
        </p:nvSpPr>
        <p:spPr>
          <a:xfrm>
            <a:off x="548640" y="868680"/>
            <a:ext cx="10058400" cy="320040"/>
          </a:xfrm>
          <a:prstGeom prst="rect">
            <a:avLst/>
          </a:prstGeom>
          <a:noFill/>
        </p:spPr>
        <p:txBody>
          <a:bodyPr wrap="square" lIns="0" tIns="0" rIns="0" bIns="0" anchor="ctr"/>
          <a:lstStyle/>
          <a:p>
            <a:pPr marL="0" indent="0">
              <a:buNone/>
            </a:pPr>
            <a:r>
              <a:rPr sz="1300" b="1" spc="300">
                <a:solidFill>
                  <a:srgbClr val="CF3338"/>
                </a:solidFill>
                <a:latin typeface="Arial"/>
                <a:ea typeface="Arial"/>
                <a:cs typeface="Arial"/>
              </a:rPr>
              <a:t>THE BIG IDEA</a:t>
            </a:r>
            <a:endParaRPr sz="1300"/>
          </a:p>
        </p:txBody>
      </p:sp>
      <p:sp>
        <p:nvSpPr>
          <p:cNvPr id="4" name="Text 1">
            <a:extLst>
              <a:ext uri="{FF2B5EF4-FFF2-40B4-BE49-F238E27FC236}">
                <a16:creationId xmlns:a16="http://schemas.microsoft.com/office/drawing/2014/main" id="{46760B57-36AB-4D2D-8421-9454D357A646}"/>
              </a:ext>
            </a:extLst>
          </p:cNvPr>
          <p:cNvSpPr>
            <a:spLocks noGrp="1"/>
          </p:cNvSpPr>
          <p:nvPr/>
        </p:nvSpPr>
        <p:spPr>
          <a:xfrm>
            <a:off x="548640" y="1143000"/>
            <a:ext cx="11064240" cy="1097280"/>
          </a:xfrm>
          <a:prstGeom prst="rect">
            <a:avLst/>
          </a:prstGeom>
          <a:noFill/>
        </p:spPr>
        <p:txBody>
          <a:bodyPr wrap="square" lIns="0" tIns="0" rIns="0" bIns="0" anchor="ctr"/>
          <a:lstStyle/>
          <a:p>
            <a:pPr marL="0" indent="0" algn="l">
              <a:buNone/>
            </a:pPr>
            <a:r>
              <a:rPr sz="3800" b="1">
                <a:solidFill>
                  <a:srgbClr val="1F2120"/>
                </a:solidFill>
                <a:latin typeface="Arial Black"/>
                <a:ea typeface="Arial Black"/>
                <a:cs typeface="Arial Black"/>
              </a:rPr>
              <a:t>Power Query is ETL, built into Excel</a:t>
            </a:r>
            <a:endParaRPr sz="3800"/>
          </a:p>
        </p:txBody>
      </p:sp>
      <p:sp>
        <p:nvSpPr>
          <p:cNvPr id="5" name="Shape 2">
            <a:extLst>
              <a:ext uri="{FF2B5EF4-FFF2-40B4-BE49-F238E27FC236}">
                <a16:creationId xmlns:a16="http://schemas.microsoft.com/office/drawing/2014/main" id="{C1740FCC-6DFA-4A71-A534-F271EB1A792A}"/>
              </a:ext>
            </a:extLst>
          </p:cNvPr>
          <p:cNvSpPr>
            <a:spLocks noGrp="1"/>
          </p:cNvSpPr>
          <p:nvPr/>
        </p:nvSpPr>
        <p:spPr>
          <a:xfrm>
            <a:off x="640080" y="2606040"/>
            <a:ext cx="3520440" cy="2468880"/>
          </a:xfrm>
          <a:prstGeom prst="rect">
            <a:avLst/>
          </a:prstGeom>
          <a:solidFill>
            <a:srgbClr val="FFFFFF"/>
          </a:solidFill>
          <a:ln w="12700">
            <a:solidFill>
              <a:srgbClr val="DEDBCF"/>
            </a:solidFill>
            <a:prstDash val="solid"/>
          </a:ln>
          <a:effectLst>
            <a:outerShdw blurRad="101600" dist="38100" dir="8100000" algn="bl" rotWithShape="0">
              <a:srgbClr val="000000">
                <a:alpha val="12000"/>
              </a:srgbClr>
            </a:outerShdw>
          </a:effectLst>
        </p:spPr>
        <p:txBody>
          <a:bodyPr/>
          <a:lstStyle/>
          <a:p>
            <a:endParaRPr/>
          </a:p>
        </p:txBody>
      </p:sp>
      <p:sp>
        <p:nvSpPr>
          <p:cNvPr id="6" name="Shape 3">
            <a:extLst>
              <a:ext uri="{FF2B5EF4-FFF2-40B4-BE49-F238E27FC236}">
                <a16:creationId xmlns:a16="http://schemas.microsoft.com/office/drawing/2014/main" id="{D9EFBF89-EBFC-418D-9096-690DF31D3076}"/>
              </a:ext>
            </a:extLst>
          </p:cNvPr>
          <p:cNvSpPr>
            <a:spLocks noGrp="1"/>
          </p:cNvSpPr>
          <p:nvPr/>
        </p:nvSpPr>
        <p:spPr>
          <a:xfrm>
            <a:off x="640080" y="2606040"/>
            <a:ext cx="3520440" cy="128016"/>
          </a:xfrm>
          <a:prstGeom prst="rect">
            <a:avLst/>
          </a:prstGeom>
          <a:solidFill>
            <a:srgbClr val="CF3338"/>
          </a:solidFill>
        </p:spPr>
        <p:txBody>
          <a:bodyPr/>
          <a:lstStyle/>
          <a:p>
            <a:endParaRPr/>
          </a:p>
        </p:txBody>
      </p:sp>
      <p:sp>
        <p:nvSpPr>
          <p:cNvPr id="7" name="Text 4">
            <a:extLst>
              <a:ext uri="{FF2B5EF4-FFF2-40B4-BE49-F238E27FC236}">
                <a16:creationId xmlns:a16="http://schemas.microsoft.com/office/drawing/2014/main" id="{AA14FAA2-FFBD-477D-8257-00BD1783891C}"/>
              </a:ext>
            </a:extLst>
          </p:cNvPr>
          <p:cNvSpPr>
            <a:spLocks noGrp="1"/>
          </p:cNvSpPr>
          <p:nvPr/>
        </p:nvSpPr>
        <p:spPr>
          <a:xfrm>
            <a:off x="914400" y="2926080"/>
            <a:ext cx="914400" cy="640080"/>
          </a:xfrm>
          <a:prstGeom prst="rect">
            <a:avLst/>
          </a:prstGeom>
          <a:noFill/>
        </p:spPr>
        <p:txBody>
          <a:bodyPr wrap="square" lIns="0" tIns="0" rIns="0" bIns="0" anchor="ctr"/>
          <a:lstStyle/>
          <a:p>
            <a:pPr marL="0" indent="0">
              <a:buNone/>
            </a:pPr>
            <a:r>
              <a:rPr sz="3000" b="1">
                <a:solidFill>
                  <a:srgbClr val="E7C9CA"/>
                </a:solidFill>
                <a:latin typeface="Arial Black"/>
                <a:ea typeface="Arial Black"/>
                <a:cs typeface="Arial Black"/>
              </a:rPr>
              <a:t>1</a:t>
            </a:r>
            <a:endParaRPr sz="3000"/>
          </a:p>
        </p:txBody>
      </p:sp>
      <p:sp>
        <p:nvSpPr>
          <p:cNvPr id="8" name="Text 5">
            <a:extLst>
              <a:ext uri="{FF2B5EF4-FFF2-40B4-BE49-F238E27FC236}">
                <a16:creationId xmlns:a16="http://schemas.microsoft.com/office/drawing/2014/main" id="{F84EC50B-E405-401D-A04E-B048FD445EB5}"/>
              </a:ext>
            </a:extLst>
          </p:cNvPr>
          <p:cNvSpPr>
            <a:spLocks noGrp="1"/>
          </p:cNvSpPr>
          <p:nvPr/>
        </p:nvSpPr>
        <p:spPr>
          <a:xfrm>
            <a:off x="932688" y="3566160"/>
            <a:ext cx="2971800" cy="457200"/>
          </a:xfrm>
          <a:prstGeom prst="rect">
            <a:avLst/>
          </a:prstGeom>
          <a:noFill/>
        </p:spPr>
        <p:txBody>
          <a:bodyPr wrap="square" lIns="0" tIns="0" rIns="0" bIns="0" anchor="ctr"/>
          <a:lstStyle/>
          <a:p>
            <a:pPr marL="0" indent="0">
              <a:buNone/>
            </a:pPr>
            <a:r>
              <a:rPr sz="2100" b="1">
                <a:solidFill>
                  <a:srgbClr val="1F2120"/>
                </a:solidFill>
                <a:latin typeface="Arial Black"/>
                <a:ea typeface="Arial Black"/>
                <a:cs typeface="Arial Black"/>
              </a:rPr>
              <a:t>Extract</a:t>
            </a:r>
            <a:endParaRPr sz="2100"/>
          </a:p>
        </p:txBody>
      </p:sp>
      <p:sp>
        <p:nvSpPr>
          <p:cNvPr id="9" name="Text 6">
            <a:extLst>
              <a:ext uri="{FF2B5EF4-FFF2-40B4-BE49-F238E27FC236}">
                <a16:creationId xmlns:a16="http://schemas.microsoft.com/office/drawing/2014/main" id="{40D8C905-6FFD-4AFB-835D-4994F282BE15}"/>
              </a:ext>
            </a:extLst>
          </p:cNvPr>
          <p:cNvSpPr>
            <a:spLocks noGrp="1"/>
          </p:cNvSpPr>
          <p:nvPr/>
        </p:nvSpPr>
        <p:spPr>
          <a:xfrm>
            <a:off x="932688" y="4069080"/>
            <a:ext cx="2971800" cy="914400"/>
          </a:xfrm>
          <a:prstGeom prst="rect">
            <a:avLst/>
          </a:prstGeom>
          <a:noFill/>
        </p:spPr>
        <p:txBody>
          <a:bodyPr wrap="square" lIns="0" tIns="0" rIns="0" bIns="0" anchor="ctr"/>
          <a:lstStyle/>
          <a:p>
            <a:pPr marL="0" indent="0">
              <a:lnSpc>
                <a:spcPct val="110000"/>
              </a:lnSpc>
              <a:buNone/>
            </a:pPr>
            <a:r>
              <a:rPr sz="1450">
                <a:solidFill>
                  <a:srgbClr val="707070"/>
                </a:solidFill>
                <a:latin typeface="Arial"/>
                <a:ea typeface="Arial"/>
                <a:cs typeface="Arial"/>
              </a:rPr>
              <a:t>Pull data in from a workbook, folder, database, or web page.</a:t>
            </a:r>
            <a:endParaRPr sz="1450"/>
          </a:p>
        </p:txBody>
      </p:sp>
      <p:sp>
        <p:nvSpPr>
          <p:cNvPr id="10" name="Text 7">
            <a:extLst>
              <a:ext uri="{FF2B5EF4-FFF2-40B4-BE49-F238E27FC236}">
                <a16:creationId xmlns:a16="http://schemas.microsoft.com/office/drawing/2014/main" id="{A3509090-1B1D-40CA-83FB-BE511A0E3F00}"/>
              </a:ext>
            </a:extLst>
          </p:cNvPr>
          <p:cNvSpPr>
            <a:spLocks noGrp="1"/>
          </p:cNvSpPr>
          <p:nvPr/>
        </p:nvSpPr>
        <p:spPr>
          <a:xfrm>
            <a:off x="4114800" y="3429000"/>
            <a:ext cx="411480" cy="822960"/>
          </a:xfrm>
          <a:prstGeom prst="rect">
            <a:avLst/>
          </a:prstGeom>
          <a:noFill/>
        </p:spPr>
        <p:txBody>
          <a:bodyPr wrap="square" lIns="0" tIns="0" rIns="0" bIns="0" anchor="ctr"/>
          <a:lstStyle/>
          <a:p>
            <a:pPr marL="0" indent="0" algn="ctr">
              <a:buNone/>
            </a:pPr>
            <a:r>
              <a:rPr sz="2400" b="1">
                <a:solidFill>
                  <a:srgbClr val="CF3338"/>
                </a:solidFill>
                <a:latin typeface="Arial Black"/>
                <a:ea typeface="Arial Black"/>
                <a:cs typeface="Arial Black"/>
              </a:rPr>
              <a:t>→</a:t>
            </a:r>
            <a:endParaRPr sz="2400"/>
          </a:p>
        </p:txBody>
      </p:sp>
      <p:sp>
        <p:nvSpPr>
          <p:cNvPr id="11" name="Shape 8">
            <a:extLst>
              <a:ext uri="{FF2B5EF4-FFF2-40B4-BE49-F238E27FC236}">
                <a16:creationId xmlns:a16="http://schemas.microsoft.com/office/drawing/2014/main" id="{825C72AD-0B63-4361-844D-7DAEB1396A19}"/>
              </a:ext>
            </a:extLst>
          </p:cNvPr>
          <p:cNvSpPr>
            <a:spLocks noGrp="1"/>
          </p:cNvSpPr>
          <p:nvPr/>
        </p:nvSpPr>
        <p:spPr>
          <a:xfrm>
            <a:off x="4480560" y="2606040"/>
            <a:ext cx="3520440" cy="2468880"/>
          </a:xfrm>
          <a:prstGeom prst="rect">
            <a:avLst/>
          </a:prstGeom>
          <a:solidFill>
            <a:srgbClr val="FFFFFF"/>
          </a:solidFill>
          <a:ln w="12700">
            <a:solidFill>
              <a:srgbClr val="DEDBCF"/>
            </a:solidFill>
            <a:prstDash val="solid"/>
          </a:ln>
          <a:effectLst>
            <a:outerShdw blurRad="101600" dist="38100" dir="8100000" algn="bl" rotWithShape="0">
              <a:srgbClr val="000000">
                <a:alpha val="12000"/>
              </a:srgbClr>
            </a:outerShdw>
          </a:effectLst>
        </p:spPr>
        <p:txBody>
          <a:bodyPr/>
          <a:lstStyle/>
          <a:p>
            <a:endParaRPr/>
          </a:p>
        </p:txBody>
      </p:sp>
      <p:sp>
        <p:nvSpPr>
          <p:cNvPr id="12" name="Shape 9">
            <a:extLst>
              <a:ext uri="{FF2B5EF4-FFF2-40B4-BE49-F238E27FC236}">
                <a16:creationId xmlns:a16="http://schemas.microsoft.com/office/drawing/2014/main" id="{6B48A29B-327F-4F7A-AD66-64EFFCF10781}"/>
              </a:ext>
            </a:extLst>
          </p:cNvPr>
          <p:cNvSpPr>
            <a:spLocks noGrp="1"/>
          </p:cNvSpPr>
          <p:nvPr/>
        </p:nvSpPr>
        <p:spPr>
          <a:xfrm>
            <a:off x="4480560" y="2606040"/>
            <a:ext cx="3520440" cy="128016"/>
          </a:xfrm>
          <a:prstGeom prst="rect">
            <a:avLst/>
          </a:prstGeom>
          <a:solidFill>
            <a:srgbClr val="CF3338"/>
          </a:solidFill>
        </p:spPr>
        <p:txBody>
          <a:bodyPr/>
          <a:lstStyle/>
          <a:p>
            <a:endParaRPr/>
          </a:p>
        </p:txBody>
      </p:sp>
      <p:sp>
        <p:nvSpPr>
          <p:cNvPr id="13" name="Text 10">
            <a:extLst>
              <a:ext uri="{FF2B5EF4-FFF2-40B4-BE49-F238E27FC236}">
                <a16:creationId xmlns:a16="http://schemas.microsoft.com/office/drawing/2014/main" id="{8688E157-DAC0-4A69-B394-741D8ACD24DC}"/>
              </a:ext>
            </a:extLst>
          </p:cNvPr>
          <p:cNvSpPr>
            <a:spLocks noGrp="1"/>
          </p:cNvSpPr>
          <p:nvPr/>
        </p:nvSpPr>
        <p:spPr>
          <a:xfrm>
            <a:off x="4754880" y="2926080"/>
            <a:ext cx="914400" cy="640080"/>
          </a:xfrm>
          <a:prstGeom prst="rect">
            <a:avLst/>
          </a:prstGeom>
          <a:noFill/>
        </p:spPr>
        <p:txBody>
          <a:bodyPr wrap="square" lIns="0" tIns="0" rIns="0" bIns="0" anchor="ctr"/>
          <a:lstStyle/>
          <a:p>
            <a:pPr marL="0" indent="0">
              <a:buNone/>
            </a:pPr>
            <a:r>
              <a:rPr sz="3000" b="1">
                <a:solidFill>
                  <a:srgbClr val="E7C9CA"/>
                </a:solidFill>
                <a:latin typeface="Arial Black"/>
                <a:ea typeface="Arial Black"/>
                <a:cs typeface="Arial Black"/>
              </a:rPr>
              <a:t>2</a:t>
            </a:r>
            <a:endParaRPr sz="3000"/>
          </a:p>
        </p:txBody>
      </p:sp>
      <p:sp>
        <p:nvSpPr>
          <p:cNvPr id="14" name="Text 11">
            <a:extLst>
              <a:ext uri="{FF2B5EF4-FFF2-40B4-BE49-F238E27FC236}">
                <a16:creationId xmlns:a16="http://schemas.microsoft.com/office/drawing/2014/main" id="{B9CF666A-BCA6-45BD-B41D-ADD4090D3748}"/>
              </a:ext>
            </a:extLst>
          </p:cNvPr>
          <p:cNvSpPr>
            <a:spLocks noGrp="1"/>
          </p:cNvSpPr>
          <p:nvPr/>
        </p:nvSpPr>
        <p:spPr>
          <a:xfrm>
            <a:off x="4773168" y="3566160"/>
            <a:ext cx="2971800" cy="457200"/>
          </a:xfrm>
          <a:prstGeom prst="rect">
            <a:avLst/>
          </a:prstGeom>
          <a:noFill/>
        </p:spPr>
        <p:txBody>
          <a:bodyPr wrap="square" lIns="0" tIns="0" rIns="0" bIns="0" anchor="ctr"/>
          <a:lstStyle/>
          <a:p>
            <a:pPr marL="0" indent="0">
              <a:buNone/>
            </a:pPr>
            <a:r>
              <a:rPr sz="2100" b="1">
                <a:solidFill>
                  <a:srgbClr val="1F2120"/>
                </a:solidFill>
                <a:latin typeface="Arial Black"/>
                <a:ea typeface="Arial Black"/>
                <a:cs typeface="Arial Black"/>
              </a:rPr>
              <a:t>Transform</a:t>
            </a:r>
            <a:endParaRPr sz="2100"/>
          </a:p>
        </p:txBody>
      </p:sp>
      <p:sp>
        <p:nvSpPr>
          <p:cNvPr id="15" name="Text 12">
            <a:extLst>
              <a:ext uri="{FF2B5EF4-FFF2-40B4-BE49-F238E27FC236}">
                <a16:creationId xmlns:a16="http://schemas.microsoft.com/office/drawing/2014/main" id="{8CD8582E-767F-401F-A01C-D839950349D1}"/>
              </a:ext>
            </a:extLst>
          </p:cNvPr>
          <p:cNvSpPr>
            <a:spLocks noGrp="1"/>
          </p:cNvSpPr>
          <p:nvPr/>
        </p:nvSpPr>
        <p:spPr>
          <a:xfrm>
            <a:off x="4773168" y="4069080"/>
            <a:ext cx="2971800" cy="914400"/>
          </a:xfrm>
          <a:prstGeom prst="rect">
            <a:avLst/>
          </a:prstGeom>
          <a:noFill/>
        </p:spPr>
        <p:txBody>
          <a:bodyPr wrap="square" lIns="0" tIns="0" rIns="0" bIns="0" anchor="ctr"/>
          <a:lstStyle/>
          <a:p>
            <a:pPr marL="0" indent="0">
              <a:lnSpc>
                <a:spcPct val="110000"/>
              </a:lnSpc>
              <a:buNone/>
            </a:pPr>
            <a:r>
              <a:rPr sz="1450">
                <a:solidFill>
                  <a:srgbClr val="707070"/>
                </a:solidFill>
                <a:latin typeface="Arial"/>
                <a:ea typeface="Arial"/>
                <a:cs typeface="Arial"/>
              </a:rPr>
              <a:t>Clean, filter &amp; reshape it. Every step is recorded so it repeats.</a:t>
            </a:r>
            <a:endParaRPr sz="1450"/>
          </a:p>
        </p:txBody>
      </p:sp>
      <p:sp>
        <p:nvSpPr>
          <p:cNvPr id="16" name="Text 13">
            <a:extLst>
              <a:ext uri="{FF2B5EF4-FFF2-40B4-BE49-F238E27FC236}">
                <a16:creationId xmlns:a16="http://schemas.microsoft.com/office/drawing/2014/main" id="{F4571254-0050-4FE1-8017-64A465023026}"/>
              </a:ext>
            </a:extLst>
          </p:cNvPr>
          <p:cNvSpPr>
            <a:spLocks noGrp="1"/>
          </p:cNvSpPr>
          <p:nvPr/>
        </p:nvSpPr>
        <p:spPr>
          <a:xfrm>
            <a:off x="7955280" y="3429000"/>
            <a:ext cx="411480" cy="822960"/>
          </a:xfrm>
          <a:prstGeom prst="rect">
            <a:avLst/>
          </a:prstGeom>
          <a:noFill/>
        </p:spPr>
        <p:txBody>
          <a:bodyPr wrap="square" lIns="0" tIns="0" rIns="0" bIns="0" anchor="ctr"/>
          <a:lstStyle/>
          <a:p>
            <a:pPr marL="0" indent="0" algn="ctr">
              <a:buNone/>
            </a:pPr>
            <a:r>
              <a:rPr sz="2400" b="1">
                <a:solidFill>
                  <a:srgbClr val="CF3338"/>
                </a:solidFill>
                <a:latin typeface="Arial Black"/>
                <a:ea typeface="Arial Black"/>
                <a:cs typeface="Arial Black"/>
              </a:rPr>
              <a:t>→</a:t>
            </a:r>
            <a:endParaRPr sz="2400"/>
          </a:p>
        </p:txBody>
      </p:sp>
      <p:sp>
        <p:nvSpPr>
          <p:cNvPr id="17" name="Shape 14">
            <a:extLst>
              <a:ext uri="{FF2B5EF4-FFF2-40B4-BE49-F238E27FC236}">
                <a16:creationId xmlns:a16="http://schemas.microsoft.com/office/drawing/2014/main" id="{2EF2AFAB-C50A-40F2-923E-B5B5778B5148}"/>
              </a:ext>
            </a:extLst>
          </p:cNvPr>
          <p:cNvSpPr>
            <a:spLocks noGrp="1"/>
          </p:cNvSpPr>
          <p:nvPr/>
        </p:nvSpPr>
        <p:spPr>
          <a:xfrm>
            <a:off x="8321040" y="2606040"/>
            <a:ext cx="3520440" cy="2468880"/>
          </a:xfrm>
          <a:prstGeom prst="rect">
            <a:avLst/>
          </a:prstGeom>
          <a:solidFill>
            <a:srgbClr val="FFFFFF"/>
          </a:solidFill>
          <a:ln w="12700">
            <a:solidFill>
              <a:srgbClr val="DEDBCF"/>
            </a:solidFill>
            <a:prstDash val="solid"/>
          </a:ln>
          <a:effectLst>
            <a:outerShdw blurRad="101600" dist="38100" dir="8100000" algn="bl" rotWithShape="0">
              <a:srgbClr val="000000">
                <a:alpha val="12000"/>
              </a:srgbClr>
            </a:outerShdw>
          </a:effectLst>
        </p:spPr>
        <p:txBody>
          <a:bodyPr/>
          <a:lstStyle/>
          <a:p>
            <a:endParaRPr/>
          </a:p>
        </p:txBody>
      </p:sp>
      <p:sp>
        <p:nvSpPr>
          <p:cNvPr id="18" name="Shape 15">
            <a:extLst>
              <a:ext uri="{FF2B5EF4-FFF2-40B4-BE49-F238E27FC236}">
                <a16:creationId xmlns:a16="http://schemas.microsoft.com/office/drawing/2014/main" id="{B2106104-B388-4922-A530-F6237F89140C}"/>
              </a:ext>
            </a:extLst>
          </p:cNvPr>
          <p:cNvSpPr>
            <a:spLocks noGrp="1"/>
          </p:cNvSpPr>
          <p:nvPr/>
        </p:nvSpPr>
        <p:spPr>
          <a:xfrm>
            <a:off x="8321040" y="2606040"/>
            <a:ext cx="3520440" cy="128016"/>
          </a:xfrm>
          <a:prstGeom prst="rect">
            <a:avLst/>
          </a:prstGeom>
          <a:solidFill>
            <a:srgbClr val="CF3338"/>
          </a:solidFill>
        </p:spPr>
        <p:txBody>
          <a:bodyPr/>
          <a:lstStyle/>
          <a:p>
            <a:endParaRPr/>
          </a:p>
        </p:txBody>
      </p:sp>
      <p:sp>
        <p:nvSpPr>
          <p:cNvPr id="19" name="Text 16">
            <a:extLst>
              <a:ext uri="{FF2B5EF4-FFF2-40B4-BE49-F238E27FC236}">
                <a16:creationId xmlns:a16="http://schemas.microsoft.com/office/drawing/2014/main" id="{FA60FABA-B858-41EF-9A45-17E092CC5AF7}"/>
              </a:ext>
            </a:extLst>
          </p:cNvPr>
          <p:cNvSpPr>
            <a:spLocks noGrp="1"/>
          </p:cNvSpPr>
          <p:nvPr/>
        </p:nvSpPr>
        <p:spPr>
          <a:xfrm>
            <a:off x="8595360" y="2926080"/>
            <a:ext cx="914400" cy="640080"/>
          </a:xfrm>
          <a:prstGeom prst="rect">
            <a:avLst/>
          </a:prstGeom>
          <a:noFill/>
        </p:spPr>
        <p:txBody>
          <a:bodyPr wrap="square" lIns="0" tIns="0" rIns="0" bIns="0" anchor="ctr"/>
          <a:lstStyle/>
          <a:p>
            <a:pPr marL="0" indent="0">
              <a:buNone/>
            </a:pPr>
            <a:r>
              <a:rPr sz="3000" b="1">
                <a:solidFill>
                  <a:srgbClr val="E7C9CA"/>
                </a:solidFill>
                <a:latin typeface="Arial Black"/>
                <a:ea typeface="Arial Black"/>
                <a:cs typeface="Arial Black"/>
              </a:rPr>
              <a:t>3</a:t>
            </a:r>
            <a:endParaRPr sz="3000"/>
          </a:p>
        </p:txBody>
      </p:sp>
      <p:sp>
        <p:nvSpPr>
          <p:cNvPr id="20" name="Text 17">
            <a:extLst>
              <a:ext uri="{FF2B5EF4-FFF2-40B4-BE49-F238E27FC236}">
                <a16:creationId xmlns:a16="http://schemas.microsoft.com/office/drawing/2014/main" id="{B2363C4C-9D1D-4DCD-B0DC-5EEA3BC2B537}"/>
              </a:ext>
            </a:extLst>
          </p:cNvPr>
          <p:cNvSpPr>
            <a:spLocks noGrp="1"/>
          </p:cNvSpPr>
          <p:nvPr/>
        </p:nvSpPr>
        <p:spPr>
          <a:xfrm>
            <a:off x="8613648" y="3566160"/>
            <a:ext cx="2971800" cy="457200"/>
          </a:xfrm>
          <a:prstGeom prst="rect">
            <a:avLst/>
          </a:prstGeom>
          <a:noFill/>
        </p:spPr>
        <p:txBody>
          <a:bodyPr wrap="square" lIns="0" tIns="0" rIns="0" bIns="0" anchor="ctr"/>
          <a:lstStyle/>
          <a:p>
            <a:pPr marL="0" indent="0">
              <a:buNone/>
            </a:pPr>
            <a:r>
              <a:rPr sz="2100" b="1">
                <a:solidFill>
                  <a:srgbClr val="1F2120"/>
                </a:solidFill>
                <a:latin typeface="Arial Black"/>
                <a:ea typeface="Arial Black"/>
                <a:cs typeface="Arial Black"/>
              </a:rPr>
              <a:t>Load</a:t>
            </a:r>
            <a:endParaRPr sz="2100"/>
          </a:p>
        </p:txBody>
      </p:sp>
      <p:sp>
        <p:nvSpPr>
          <p:cNvPr id="21" name="Text 18">
            <a:extLst>
              <a:ext uri="{FF2B5EF4-FFF2-40B4-BE49-F238E27FC236}">
                <a16:creationId xmlns:a16="http://schemas.microsoft.com/office/drawing/2014/main" id="{21864889-E312-4B60-9F55-EF000B9A8C92}"/>
              </a:ext>
            </a:extLst>
          </p:cNvPr>
          <p:cNvSpPr>
            <a:spLocks noGrp="1"/>
          </p:cNvSpPr>
          <p:nvPr/>
        </p:nvSpPr>
        <p:spPr>
          <a:xfrm>
            <a:off x="8613648" y="4069080"/>
            <a:ext cx="2971800" cy="914400"/>
          </a:xfrm>
          <a:prstGeom prst="rect">
            <a:avLst/>
          </a:prstGeom>
          <a:noFill/>
        </p:spPr>
        <p:txBody>
          <a:bodyPr wrap="square" lIns="0" tIns="0" rIns="0" bIns="0" anchor="ctr"/>
          <a:lstStyle/>
          <a:p>
            <a:pPr marL="0" indent="0">
              <a:lnSpc>
                <a:spcPct val="110000"/>
              </a:lnSpc>
              <a:buNone/>
            </a:pPr>
            <a:r>
              <a:rPr sz="1450">
                <a:solidFill>
                  <a:srgbClr val="707070"/>
                </a:solidFill>
                <a:latin typeface="Arial"/>
                <a:ea typeface="Arial"/>
                <a:cs typeface="Arial"/>
              </a:rPr>
              <a:t>Deliver tidy, refreshable data back to Excel for reports.</a:t>
            </a:r>
            <a:endParaRPr sz="1450"/>
          </a:p>
        </p:txBody>
      </p:sp>
      <p:sp>
        <p:nvSpPr>
          <p:cNvPr id="22" name="Text 19">
            <a:extLst>
              <a:ext uri="{FF2B5EF4-FFF2-40B4-BE49-F238E27FC236}">
                <a16:creationId xmlns:a16="http://schemas.microsoft.com/office/drawing/2014/main" id="{CA724448-5AA5-4FC4-820E-96F00FA9AD30}"/>
              </a:ext>
            </a:extLst>
          </p:cNvPr>
          <p:cNvSpPr>
            <a:spLocks noGrp="1"/>
          </p:cNvSpPr>
          <p:nvPr/>
        </p:nvSpPr>
        <p:spPr>
          <a:xfrm>
            <a:off x="640080" y="5532120"/>
            <a:ext cx="10881360" cy="548640"/>
          </a:xfrm>
          <a:prstGeom prst="rect">
            <a:avLst/>
          </a:prstGeom>
          <a:noFill/>
        </p:spPr>
        <p:txBody>
          <a:bodyPr wrap="square" lIns="0" tIns="0" rIns="0" bIns="0" anchor="ctr"/>
          <a:lstStyle/>
          <a:p>
            <a:pPr marL="0" indent="0">
              <a:buNone/>
            </a:pPr>
            <a:r>
              <a:rPr sz="1600" i="1">
                <a:solidFill>
                  <a:srgbClr val="1F2120"/>
                </a:solidFill>
                <a:latin typeface="Arial"/>
                <a:ea typeface="Arial"/>
                <a:cs typeface="Arial"/>
              </a:rPr>
              <a:t>Do it once, and it runs itself on every refresh, so your reports stay consistent instead of being rebuilt by hand.</a:t>
            </a:r>
            <a:endParaRPr sz="1600"/>
          </a:p>
        </p:txBody>
      </p:sp>
    </p:spTree>
    <p:extLst>
      <p:ext uri="{BB962C8B-B14F-4D97-AF65-F5344CB8AC3E}">
        <p14:creationId xmlns:p14="http://schemas.microsoft.com/office/powerpoint/2010/main" val="1566121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FEC5A1B-2403-4B09-A441-65B781BB3507}"/>
              </a:ext>
            </a:extLst>
          </p:cNvPr>
          <p:cNvSpPr>
            <a:spLocks noGrp="1"/>
          </p:cNvSpPr>
          <p:nvPr/>
        </p:nvSpPr>
        <p:spPr>
          <a:xfrm>
            <a:off x="822960" y="2651760"/>
            <a:ext cx="10515600" cy="1463040"/>
          </a:xfrm>
          <a:prstGeom prst="rect">
            <a:avLst/>
          </a:prstGeom>
          <a:noFill/>
        </p:spPr>
        <p:txBody>
          <a:bodyPr wrap="square" lIns="0" tIns="0" rIns="0" bIns="0" anchor="ctr"/>
          <a:lstStyle/>
          <a:p>
            <a:pPr marL="0" indent="0" algn="ctr">
              <a:buNone/>
            </a:pPr>
            <a:r>
              <a:rPr sz="5600" b="1">
                <a:solidFill>
                  <a:srgbClr val="FFFFFF"/>
                </a:solidFill>
                <a:latin typeface="Arial Black"/>
                <a:ea typeface="Arial Black"/>
                <a:cs typeface="Arial Black"/>
              </a:rPr>
              <a:t>Let's see it live.</a:t>
            </a:r>
            <a:endParaRPr sz="5600"/>
          </a:p>
        </p:txBody>
      </p:sp>
      <p:sp>
        <p:nvSpPr>
          <p:cNvPr id="3" name="Text 1">
            <a:extLst>
              <a:ext uri="{FF2B5EF4-FFF2-40B4-BE49-F238E27FC236}">
                <a16:creationId xmlns:a16="http://schemas.microsoft.com/office/drawing/2014/main" id="{321DDE7D-5E19-4DB1-896F-A299272E3B66}"/>
              </a:ext>
            </a:extLst>
          </p:cNvPr>
          <p:cNvSpPr>
            <a:spLocks noGrp="1"/>
          </p:cNvSpPr>
          <p:nvPr/>
        </p:nvSpPr>
        <p:spPr>
          <a:xfrm>
            <a:off x="822960" y="4114800"/>
            <a:ext cx="10515600" cy="548640"/>
          </a:xfrm>
          <a:prstGeom prst="rect">
            <a:avLst/>
          </a:prstGeom>
          <a:noFill/>
        </p:spPr>
        <p:txBody>
          <a:bodyPr wrap="square" lIns="0" tIns="0" rIns="0" bIns="0" anchor="ctr"/>
          <a:lstStyle/>
          <a:p>
            <a:pPr marL="0" indent="0" algn="ctr">
              <a:buNone/>
            </a:pPr>
            <a:r>
              <a:rPr sz="1900">
                <a:solidFill>
                  <a:srgbClr val="F4D7D8"/>
                </a:solidFill>
                <a:latin typeface="Arial"/>
                <a:ea typeface="Arial"/>
                <a:cs typeface="Arial"/>
              </a:rPr>
              <a:t>Three demos, one workbook. Follow along or watch the workflow.</a:t>
            </a:r>
            <a:endParaRPr sz="1900"/>
          </a:p>
        </p:txBody>
      </p:sp>
    </p:spTree>
    <p:extLst>
      <p:ext uri="{BB962C8B-B14F-4D97-AF65-F5344CB8AC3E}">
        <p14:creationId xmlns:p14="http://schemas.microsoft.com/office/powerpoint/2010/main" val="114090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EC85993-B9A9-4E2D-A2D3-DDFAB54A1B2E}"/>
              </a:ext>
            </a:extLst>
          </p:cNvPr>
          <p:cNvSpPr>
            <a:spLocks noGrp="1"/>
          </p:cNvSpPr>
          <p:nvPr/>
        </p:nvSpPr>
        <p:spPr>
          <a:xfrm>
            <a:off x="8595360" y="0"/>
            <a:ext cx="3596335" cy="6858000"/>
          </a:xfrm>
          <a:prstGeom prst="rect">
            <a:avLst/>
          </a:prstGeom>
          <a:solidFill>
            <a:srgbClr val="CF3338"/>
          </a:solidFill>
        </p:spPr>
        <p:txBody>
          <a:bodyPr/>
          <a:lstStyle/>
          <a:p>
            <a:endParaRPr/>
          </a:p>
        </p:txBody>
      </p:sp>
      <p:sp>
        <p:nvSpPr>
          <p:cNvPr id="3" name="Text 1">
            <a:extLst>
              <a:ext uri="{FF2B5EF4-FFF2-40B4-BE49-F238E27FC236}">
                <a16:creationId xmlns:a16="http://schemas.microsoft.com/office/drawing/2014/main" id="{9CB614BD-9B56-4D9B-AAB1-E1C0EED28B89}"/>
              </a:ext>
            </a:extLst>
          </p:cNvPr>
          <p:cNvSpPr>
            <a:spLocks noGrp="1"/>
          </p:cNvSpPr>
          <p:nvPr/>
        </p:nvSpPr>
        <p:spPr>
          <a:xfrm>
            <a:off x="8732520" y="4206240"/>
            <a:ext cx="3291840" cy="2194560"/>
          </a:xfrm>
          <a:prstGeom prst="rect">
            <a:avLst/>
          </a:prstGeom>
          <a:noFill/>
        </p:spPr>
        <p:txBody>
          <a:bodyPr wrap="square" lIns="0" tIns="0" rIns="0" bIns="0" anchor="ctr"/>
          <a:lstStyle/>
          <a:p>
            <a:pPr marL="0" indent="0" algn="r">
              <a:buNone/>
            </a:pPr>
            <a:r>
              <a:rPr sz="15000" b="1">
                <a:solidFill>
                  <a:srgbClr val="D9494E"/>
                </a:solidFill>
                <a:latin typeface="Arial Black"/>
                <a:ea typeface="Arial Black"/>
                <a:cs typeface="Arial Black"/>
              </a:rPr>
              <a:t>1</a:t>
            </a:r>
            <a:endParaRPr sz="15000"/>
          </a:p>
        </p:txBody>
      </p:sp>
      <p:sp>
        <p:nvSpPr>
          <p:cNvPr id="4" name="Text 2">
            <a:extLst>
              <a:ext uri="{FF2B5EF4-FFF2-40B4-BE49-F238E27FC236}">
                <a16:creationId xmlns:a16="http://schemas.microsoft.com/office/drawing/2014/main" id="{03781230-10C8-4DA8-B398-BDE7D7128623}"/>
              </a:ext>
            </a:extLst>
          </p:cNvPr>
          <p:cNvSpPr>
            <a:spLocks noGrp="1"/>
          </p:cNvSpPr>
          <p:nvPr/>
        </p:nvSpPr>
        <p:spPr>
          <a:xfrm>
            <a:off x="9098280" y="640080"/>
            <a:ext cx="2743200" cy="457200"/>
          </a:xfrm>
          <a:prstGeom prst="rect">
            <a:avLst/>
          </a:prstGeom>
          <a:noFill/>
        </p:spPr>
        <p:txBody>
          <a:bodyPr wrap="square" lIns="0" tIns="0" rIns="0" bIns="0" anchor="ctr"/>
          <a:lstStyle/>
          <a:p>
            <a:pPr marL="0" indent="0">
              <a:buNone/>
            </a:pPr>
            <a:r>
              <a:rPr sz="1500" b="1" spc="300">
                <a:solidFill>
                  <a:srgbClr val="F2D9DA"/>
                </a:solidFill>
                <a:latin typeface="Arial"/>
                <a:ea typeface="Arial"/>
                <a:cs typeface="Arial"/>
              </a:rPr>
              <a:t>DEMO 1</a:t>
            </a:r>
            <a:endParaRPr sz="1500"/>
          </a:p>
        </p:txBody>
      </p:sp>
      <p:sp>
        <p:nvSpPr>
          <p:cNvPr id="5" name="Text 3">
            <a:extLst>
              <a:ext uri="{FF2B5EF4-FFF2-40B4-BE49-F238E27FC236}">
                <a16:creationId xmlns:a16="http://schemas.microsoft.com/office/drawing/2014/main" id="{FB7CA879-C57A-4D99-B7D5-04E33E17952A}"/>
              </a:ext>
            </a:extLst>
          </p:cNvPr>
          <p:cNvSpPr>
            <a:spLocks noGrp="1"/>
          </p:cNvSpPr>
          <p:nvPr/>
        </p:nvSpPr>
        <p:spPr>
          <a:xfrm>
            <a:off x="9006840" y="1097280"/>
            <a:ext cx="2971800" cy="1828800"/>
          </a:xfrm>
          <a:prstGeom prst="rect">
            <a:avLst/>
          </a:prstGeom>
          <a:noFill/>
        </p:spPr>
        <p:txBody>
          <a:bodyPr wrap="square" lIns="0" tIns="0" rIns="0" bIns="0" anchor="ctr"/>
          <a:lstStyle/>
          <a:p>
            <a:pPr marL="0" indent="0">
              <a:lnSpc>
                <a:spcPct val="100000"/>
              </a:lnSpc>
              <a:buNone/>
            </a:pPr>
            <a:r>
              <a:rPr sz="2500" b="1">
                <a:solidFill>
                  <a:srgbClr val="FFFFFF"/>
                </a:solidFill>
                <a:latin typeface="Arial Black"/>
                <a:ea typeface="Arial Black"/>
                <a:cs typeface="Arial Black"/>
              </a:rPr>
              <a:t>Get comfortable in the Editor</a:t>
            </a:r>
            <a:endParaRPr sz="2500"/>
          </a:p>
        </p:txBody>
      </p:sp>
      <p:pic>
        <p:nvPicPr>
          <p:cNvPr id="14" name="Image 0"/>
          <p:cNvPicPr>
            <a:picLocks noChangeAspect="1"/>
          </p:cNvPicPr>
          <p:nvPr/>
        </p:nvPicPr>
        <p:blipFill>
          <a:blip r:embed="rId3"/>
          <a:stretch>
            <a:fillRect/>
          </a:stretch>
        </p:blipFill>
        <p:spPr>
          <a:xfrm>
            <a:off x="502920" y="384048"/>
            <a:ext cx="1828800" cy="258305"/>
          </a:xfrm>
          <a:prstGeom prst="rect">
            <a:avLst/>
          </a:prstGeom>
        </p:spPr>
      </p:pic>
      <p:sp>
        <p:nvSpPr>
          <p:cNvPr id="7" name="Text 4">
            <a:extLst>
              <a:ext uri="{FF2B5EF4-FFF2-40B4-BE49-F238E27FC236}">
                <a16:creationId xmlns:a16="http://schemas.microsoft.com/office/drawing/2014/main" id="{D1D6AE5D-D533-4C31-8EAA-DDAF76E1078C}"/>
              </a:ext>
            </a:extLst>
          </p:cNvPr>
          <p:cNvSpPr>
            <a:spLocks noGrp="1"/>
          </p:cNvSpPr>
          <p:nvPr/>
        </p:nvSpPr>
        <p:spPr>
          <a:xfrm>
            <a:off x="640080" y="2011680"/>
            <a:ext cx="7589520" cy="457200"/>
          </a:xfrm>
          <a:prstGeom prst="rect">
            <a:avLst/>
          </a:prstGeom>
          <a:noFill/>
        </p:spPr>
        <p:txBody>
          <a:bodyPr wrap="square" lIns="0" tIns="0" rIns="0" bIns="0" anchor="ctr"/>
          <a:lstStyle/>
          <a:p>
            <a:pPr marL="0" indent="0">
              <a:buNone/>
            </a:pPr>
            <a:r>
              <a:rPr sz="1800" b="1">
                <a:solidFill>
                  <a:srgbClr val="CF3338"/>
                </a:solidFill>
                <a:latin typeface="Arial"/>
                <a:ea typeface="Arial"/>
                <a:cs typeface="Arial"/>
              </a:rPr>
              <a:t>penguins  |  power-query-demo-day-data.xlsx</a:t>
            </a:r>
            <a:endParaRPr sz="1800"/>
          </a:p>
        </p:txBody>
      </p:sp>
      <p:sp>
        <p:nvSpPr>
          <p:cNvPr id="8" name="Text 5">
            <a:extLst>
              <a:ext uri="{FF2B5EF4-FFF2-40B4-BE49-F238E27FC236}">
                <a16:creationId xmlns:a16="http://schemas.microsoft.com/office/drawing/2014/main" id="{2593EE08-1346-4DBB-80B1-BDA31EEEF25A}"/>
              </a:ext>
            </a:extLst>
          </p:cNvPr>
          <p:cNvSpPr>
            <a:spLocks noGrp="1"/>
          </p:cNvSpPr>
          <p:nvPr/>
        </p:nvSpPr>
        <p:spPr>
          <a:xfrm>
            <a:off x="640080" y="2743200"/>
            <a:ext cx="7589520" cy="3383280"/>
          </a:xfrm>
          <a:prstGeom prst="rect">
            <a:avLst/>
          </a:prstGeom>
          <a:noFill/>
        </p:spPr>
        <p:txBody>
          <a:bodyPr wrap="square" lIns="0" tIns="0" rIns="0" bIns="0" anchor="ctr"/>
          <a:lstStyle/>
          <a:p>
            <a:pPr marL="0" indent="0">
              <a:buNone/>
            </a:pPr>
            <a:r>
              <a:rPr sz="1800" b="1">
                <a:solidFill>
                  <a:srgbClr val="CF3338"/>
                </a:solidFill>
                <a:latin typeface="Arial"/>
                <a:ea typeface="Arial"/>
                <a:cs typeface="Arial"/>
              </a:rPr>
              <a:t>1.  </a:t>
            </a:r>
            <a:r>
              <a:rPr sz="1800">
                <a:solidFill>
                  <a:srgbClr val="707070"/>
                </a:solidFill>
                <a:latin typeface="Arial"/>
                <a:ea typeface="Arial"/>
                <a:cs typeface="Arial"/>
              </a:rPr>
              <a:t>Load the table into Power Query (Data, then From Table/Range)</a:t>
            </a:r>
            <a:endParaRPr sz="1800"/>
          </a:p>
          <a:p>
            <a:pPr marL="0" indent="0">
              <a:buNone/>
            </a:pPr>
            <a:r>
              <a:rPr sz="1800" b="1">
                <a:solidFill>
                  <a:srgbClr val="CF3338"/>
                </a:solidFill>
                <a:latin typeface="Arial"/>
                <a:ea typeface="Arial"/>
                <a:cs typeface="Arial"/>
              </a:rPr>
              <a:t>2.  </a:t>
            </a:r>
            <a:r>
              <a:rPr sz="1800">
                <a:solidFill>
                  <a:srgbClr val="707070"/>
                </a:solidFill>
                <a:latin typeface="Arial"/>
                <a:ea typeface="Arial"/>
                <a:cs typeface="Arial"/>
              </a:rPr>
              <a:t>Set correct data types on each column</a:t>
            </a:r>
            <a:endParaRPr sz="1800"/>
          </a:p>
          <a:p>
            <a:pPr marL="0" indent="0">
              <a:buNone/>
            </a:pPr>
            <a:r>
              <a:rPr sz="1800" b="1">
                <a:solidFill>
                  <a:srgbClr val="CF3338"/>
                </a:solidFill>
                <a:latin typeface="Arial"/>
                <a:ea typeface="Arial"/>
                <a:cs typeface="Arial"/>
              </a:rPr>
              <a:t>3.  </a:t>
            </a:r>
            <a:r>
              <a:rPr sz="1800">
                <a:solidFill>
                  <a:srgbClr val="707070"/>
                </a:solidFill>
                <a:latin typeface="Arial"/>
                <a:ea typeface="Arial"/>
                <a:cs typeface="Arial"/>
              </a:rPr>
              <a:t>Profile columns from the View tab (whole dataset)</a:t>
            </a:r>
            <a:endParaRPr sz="1800"/>
          </a:p>
          <a:p>
            <a:pPr marL="0" indent="0">
              <a:buNone/>
            </a:pPr>
            <a:r>
              <a:rPr sz="1800" b="1">
                <a:solidFill>
                  <a:srgbClr val="CF3338"/>
                </a:solidFill>
                <a:latin typeface="Arial"/>
                <a:ea typeface="Arial"/>
                <a:cs typeface="Arial"/>
              </a:rPr>
              <a:t>4.  </a:t>
            </a:r>
            <a:r>
              <a:rPr sz="1800">
                <a:solidFill>
                  <a:srgbClr val="707070"/>
                </a:solidFill>
                <a:latin typeface="Arial"/>
                <a:ea typeface="Arial"/>
                <a:cs typeface="Arial"/>
              </a:rPr>
              <a:t>See what’s actually in your data before doing anything</a:t>
            </a:r>
            <a:endParaRPr sz="1800"/>
          </a:p>
        </p:txBody>
      </p:sp>
    </p:spTree>
    <p:extLst>
      <p:ext uri="{BB962C8B-B14F-4D97-AF65-F5344CB8AC3E}">
        <p14:creationId xmlns:p14="http://schemas.microsoft.com/office/powerpoint/2010/main" val="107499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866DCF0-5E79-4769-A56C-E459B8F30535}"/>
              </a:ext>
            </a:extLst>
          </p:cNvPr>
          <p:cNvSpPr>
            <a:spLocks noGrp="1"/>
          </p:cNvSpPr>
          <p:nvPr/>
        </p:nvSpPr>
        <p:spPr>
          <a:xfrm>
            <a:off x="8595360" y="0"/>
            <a:ext cx="3596335" cy="6858000"/>
          </a:xfrm>
          <a:prstGeom prst="rect">
            <a:avLst/>
          </a:prstGeom>
          <a:solidFill>
            <a:srgbClr val="CF3338"/>
          </a:solidFill>
        </p:spPr>
        <p:txBody>
          <a:bodyPr/>
          <a:lstStyle/>
          <a:p>
            <a:endParaRPr/>
          </a:p>
        </p:txBody>
      </p:sp>
      <p:sp>
        <p:nvSpPr>
          <p:cNvPr id="3" name="Text 1">
            <a:extLst>
              <a:ext uri="{FF2B5EF4-FFF2-40B4-BE49-F238E27FC236}">
                <a16:creationId xmlns:a16="http://schemas.microsoft.com/office/drawing/2014/main" id="{342D8955-1987-47DD-BD16-32568945FB10}"/>
              </a:ext>
            </a:extLst>
          </p:cNvPr>
          <p:cNvSpPr>
            <a:spLocks noGrp="1"/>
          </p:cNvSpPr>
          <p:nvPr/>
        </p:nvSpPr>
        <p:spPr>
          <a:xfrm>
            <a:off x="8732520" y="4206240"/>
            <a:ext cx="3291840" cy="2194560"/>
          </a:xfrm>
          <a:prstGeom prst="rect">
            <a:avLst/>
          </a:prstGeom>
          <a:noFill/>
        </p:spPr>
        <p:txBody>
          <a:bodyPr wrap="square" lIns="0" tIns="0" rIns="0" bIns="0" anchor="ctr"/>
          <a:lstStyle/>
          <a:p>
            <a:pPr marL="0" indent="0" algn="r">
              <a:buNone/>
            </a:pPr>
            <a:r>
              <a:rPr sz="15000" b="1">
                <a:solidFill>
                  <a:srgbClr val="D9494E"/>
                </a:solidFill>
                <a:latin typeface="Arial Black"/>
                <a:ea typeface="Arial Black"/>
                <a:cs typeface="Arial Black"/>
              </a:rPr>
              <a:t>2</a:t>
            </a:r>
            <a:endParaRPr sz="15000"/>
          </a:p>
        </p:txBody>
      </p:sp>
      <p:sp>
        <p:nvSpPr>
          <p:cNvPr id="4" name="Text 2">
            <a:extLst>
              <a:ext uri="{FF2B5EF4-FFF2-40B4-BE49-F238E27FC236}">
                <a16:creationId xmlns:a16="http://schemas.microsoft.com/office/drawing/2014/main" id="{E391D1ED-8546-4700-82B2-6B18103E95CC}"/>
              </a:ext>
            </a:extLst>
          </p:cNvPr>
          <p:cNvSpPr>
            <a:spLocks noGrp="1"/>
          </p:cNvSpPr>
          <p:nvPr/>
        </p:nvSpPr>
        <p:spPr>
          <a:xfrm>
            <a:off x="9098280" y="640080"/>
            <a:ext cx="2743200" cy="457200"/>
          </a:xfrm>
          <a:prstGeom prst="rect">
            <a:avLst/>
          </a:prstGeom>
          <a:noFill/>
        </p:spPr>
        <p:txBody>
          <a:bodyPr wrap="square" lIns="0" tIns="0" rIns="0" bIns="0" anchor="ctr"/>
          <a:lstStyle/>
          <a:p>
            <a:pPr marL="0" indent="0">
              <a:buNone/>
            </a:pPr>
            <a:r>
              <a:rPr sz="1500" b="1" spc="300">
                <a:solidFill>
                  <a:srgbClr val="F2D9DA"/>
                </a:solidFill>
                <a:latin typeface="Arial"/>
                <a:ea typeface="Arial"/>
                <a:cs typeface="Arial"/>
              </a:rPr>
              <a:t>DEMO 2</a:t>
            </a:r>
            <a:endParaRPr sz="1500"/>
          </a:p>
        </p:txBody>
      </p:sp>
      <p:sp>
        <p:nvSpPr>
          <p:cNvPr id="5" name="Text 3">
            <a:extLst>
              <a:ext uri="{FF2B5EF4-FFF2-40B4-BE49-F238E27FC236}">
                <a16:creationId xmlns:a16="http://schemas.microsoft.com/office/drawing/2014/main" id="{A404310E-58F1-43F3-99EB-5E49034D01EE}"/>
              </a:ext>
            </a:extLst>
          </p:cNvPr>
          <p:cNvSpPr>
            <a:spLocks noGrp="1"/>
          </p:cNvSpPr>
          <p:nvPr/>
        </p:nvSpPr>
        <p:spPr>
          <a:xfrm>
            <a:off x="9006840" y="1097280"/>
            <a:ext cx="2971800" cy="1828800"/>
          </a:xfrm>
          <a:prstGeom prst="rect">
            <a:avLst/>
          </a:prstGeom>
          <a:noFill/>
        </p:spPr>
        <p:txBody>
          <a:bodyPr wrap="square" lIns="0" tIns="0" rIns="0" bIns="0" anchor="ctr"/>
          <a:lstStyle/>
          <a:p>
            <a:pPr marL="0" indent="0">
              <a:lnSpc>
                <a:spcPct val="100000"/>
              </a:lnSpc>
              <a:buNone/>
            </a:pPr>
            <a:r>
              <a:rPr sz="2500" b="1">
                <a:solidFill>
                  <a:srgbClr val="FFFFFF"/>
                </a:solidFill>
                <a:latin typeface="Arial Black"/>
                <a:ea typeface="Arial Black"/>
                <a:cs typeface="Arial Black"/>
              </a:rPr>
              <a:t>Repeatable cleanup with Applied Steps</a:t>
            </a:r>
            <a:endParaRPr sz="2500"/>
          </a:p>
        </p:txBody>
      </p:sp>
      <p:pic>
        <p:nvPicPr>
          <p:cNvPr id="14" name="Image 0"/>
          <p:cNvPicPr>
            <a:picLocks noChangeAspect="1"/>
          </p:cNvPicPr>
          <p:nvPr/>
        </p:nvPicPr>
        <p:blipFill>
          <a:blip r:embed="rId3"/>
          <a:stretch>
            <a:fillRect/>
          </a:stretch>
        </p:blipFill>
        <p:spPr>
          <a:xfrm>
            <a:off x="502920" y="384048"/>
            <a:ext cx="1828800" cy="258305"/>
          </a:xfrm>
          <a:prstGeom prst="rect">
            <a:avLst/>
          </a:prstGeom>
        </p:spPr>
      </p:pic>
      <p:sp>
        <p:nvSpPr>
          <p:cNvPr id="7" name="Text 4">
            <a:extLst>
              <a:ext uri="{FF2B5EF4-FFF2-40B4-BE49-F238E27FC236}">
                <a16:creationId xmlns:a16="http://schemas.microsoft.com/office/drawing/2014/main" id="{84957DA7-1C53-4F2A-8B59-23603C4CB60B}"/>
              </a:ext>
            </a:extLst>
          </p:cNvPr>
          <p:cNvSpPr>
            <a:spLocks noGrp="1"/>
          </p:cNvSpPr>
          <p:nvPr/>
        </p:nvSpPr>
        <p:spPr>
          <a:xfrm>
            <a:off x="640080" y="2011680"/>
            <a:ext cx="7589520" cy="457200"/>
          </a:xfrm>
          <a:prstGeom prst="rect">
            <a:avLst/>
          </a:prstGeom>
          <a:noFill/>
        </p:spPr>
        <p:txBody>
          <a:bodyPr wrap="square" lIns="0" tIns="0" rIns="0" bIns="0" anchor="ctr"/>
          <a:lstStyle/>
          <a:p>
            <a:pPr marL="0" indent="0">
              <a:buNone/>
            </a:pPr>
            <a:r>
              <a:rPr sz="1800" b="1">
                <a:solidFill>
                  <a:srgbClr val="CF3338"/>
                </a:solidFill>
                <a:latin typeface="Arial"/>
                <a:ea typeface="Arial"/>
                <a:cs typeface="Arial"/>
              </a:rPr>
              <a:t>signups  |  power-query-demo-day-data.xlsx</a:t>
            </a:r>
            <a:endParaRPr sz="1800"/>
          </a:p>
        </p:txBody>
      </p:sp>
      <p:sp>
        <p:nvSpPr>
          <p:cNvPr id="8" name="Text 5">
            <a:extLst>
              <a:ext uri="{FF2B5EF4-FFF2-40B4-BE49-F238E27FC236}">
                <a16:creationId xmlns:a16="http://schemas.microsoft.com/office/drawing/2014/main" id="{B6577FF0-2830-4ABF-ACA6-99C310196112}"/>
              </a:ext>
            </a:extLst>
          </p:cNvPr>
          <p:cNvSpPr>
            <a:spLocks noGrp="1"/>
          </p:cNvSpPr>
          <p:nvPr/>
        </p:nvSpPr>
        <p:spPr>
          <a:xfrm>
            <a:off x="640080" y="2743200"/>
            <a:ext cx="7589520" cy="3383280"/>
          </a:xfrm>
          <a:prstGeom prst="rect">
            <a:avLst/>
          </a:prstGeom>
          <a:noFill/>
        </p:spPr>
        <p:txBody>
          <a:bodyPr wrap="square" lIns="0" tIns="0" rIns="0" bIns="0" anchor="ctr"/>
          <a:lstStyle/>
          <a:p>
            <a:pPr marL="0" indent="0">
              <a:buNone/>
            </a:pPr>
            <a:r>
              <a:rPr sz="1800" b="1">
                <a:solidFill>
                  <a:srgbClr val="CF3338"/>
                </a:solidFill>
                <a:latin typeface="Arial"/>
                <a:ea typeface="Arial"/>
                <a:cs typeface="Arial"/>
              </a:rPr>
              <a:t>1.  </a:t>
            </a:r>
            <a:r>
              <a:rPr sz="1800">
                <a:solidFill>
                  <a:srgbClr val="707070"/>
                </a:solidFill>
                <a:latin typeface="Arial"/>
                <a:ea typeface="Arial"/>
                <a:cs typeface="Arial"/>
              </a:rPr>
              <a:t>Remove blanks and duplicates; filter out bad records</a:t>
            </a:r>
            <a:endParaRPr sz="1800"/>
          </a:p>
          <a:p>
            <a:pPr marL="0" indent="0">
              <a:buNone/>
            </a:pPr>
            <a:r>
              <a:rPr sz="1800" b="1">
                <a:solidFill>
                  <a:srgbClr val="CF3338"/>
                </a:solidFill>
                <a:latin typeface="Arial"/>
                <a:ea typeface="Arial"/>
                <a:cs typeface="Arial"/>
              </a:rPr>
              <a:t>2.  </a:t>
            </a:r>
            <a:r>
              <a:rPr sz="1800">
                <a:solidFill>
                  <a:srgbClr val="707070"/>
                </a:solidFill>
                <a:latin typeface="Arial"/>
                <a:ea typeface="Arial"/>
                <a:cs typeface="Arial"/>
              </a:rPr>
              <a:t>Every action is recorded as an Applied Step</a:t>
            </a:r>
            <a:endParaRPr sz="1800"/>
          </a:p>
          <a:p>
            <a:pPr marL="0" indent="0">
              <a:buNone/>
            </a:pPr>
            <a:r>
              <a:rPr sz="1800" b="1">
                <a:solidFill>
                  <a:srgbClr val="CF3338"/>
                </a:solidFill>
                <a:latin typeface="Arial"/>
                <a:ea typeface="Arial"/>
                <a:cs typeface="Arial"/>
              </a:rPr>
              <a:t>3.  </a:t>
            </a:r>
            <a:r>
              <a:rPr sz="1800">
                <a:solidFill>
                  <a:srgbClr val="707070"/>
                </a:solidFill>
                <a:latin typeface="Arial"/>
                <a:ea typeface="Arial"/>
                <a:cs typeface="Arial"/>
              </a:rPr>
              <a:t>Close &amp; Load the cleaned result back to Excel</a:t>
            </a:r>
            <a:endParaRPr sz="1800"/>
          </a:p>
          <a:p>
            <a:pPr marL="0" indent="0">
              <a:buNone/>
            </a:pPr>
            <a:r>
              <a:rPr sz="1800" b="1">
                <a:solidFill>
                  <a:srgbClr val="CF3338"/>
                </a:solidFill>
                <a:latin typeface="Arial"/>
                <a:ea typeface="Arial"/>
                <a:cs typeface="Arial"/>
              </a:rPr>
              <a:t>4.  </a:t>
            </a:r>
            <a:r>
              <a:rPr sz="1800">
                <a:solidFill>
                  <a:srgbClr val="707070"/>
                </a:solidFill>
                <a:latin typeface="Arial"/>
                <a:ea typeface="Arial"/>
                <a:cs typeface="Arial"/>
              </a:rPr>
              <a:t>Add new records, hit Refresh, and the cleanup re-runs itself</a:t>
            </a:r>
            <a:endParaRPr sz="1800"/>
          </a:p>
        </p:txBody>
      </p:sp>
    </p:spTree>
    <p:extLst>
      <p:ext uri="{BB962C8B-B14F-4D97-AF65-F5344CB8AC3E}">
        <p14:creationId xmlns:p14="http://schemas.microsoft.com/office/powerpoint/2010/main" val="1789855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C4E8215-45E3-43FE-8205-72E225D4853C}"/>
              </a:ext>
            </a:extLst>
          </p:cNvPr>
          <p:cNvSpPr>
            <a:spLocks noGrp="1"/>
          </p:cNvSpPr>
          <p:nvPr/>
        </p:nvSpPr>
        <p:spPr>
          <a:xfrm>
            <a:off x="8595360" y="0"/>
            <a:ext cx="3596335" cy="6858000"/>
          </a:xfrm>
          <a:prstGeom prst="rect">
            <a:avLst/>
          </a:prstGeom>
          <a:solidFill>
            <a:srgbClr val="CF3338"/>
          </a:solidFill>
        </p:spPr>
        <p:txBody>
          <a:bodyPr/>
          <a:lstStyle/>
          <a:p>
            <a:endParaRPr/>
          </a:p>
        </p:txBody>
      </p:sp>
      <p:sp>
        <p:nvSpPr>
          <p:cNvPr id="3" name="Text 1">
            <a:extLst>
              <a:ext uri="{FF2B5EF4-FFF2-40B4-BE49-F238E27FC236}">
                <a16:creationId xmlns:a16="http://schemas.microsoft.com/office/drawing/2014/main" id="{67D52DBB-0C32-4763-8C8E-79DD5A6060A8}"/>
              </a:ext>
            </a:extLst>
          </p:cNvPr>
          <p:cNvSpPr>
            <a:spLocks noGrp="1"/>
          </p:cNvSpPr>
          <p:nvPr/>
        </p:nvSpPr>
        <p:spPr>
          <a:xfrm>
            <a:off x="8732520" y="4206240"/>
            <a:ext cx="3291840" cy="2194560"/>
          </a:xfrm>
          <a:prstGeom prst="rect">
            <a:avLst/>
          </a:prstGeom>
          <a:noFill/>
        </p:spPr>
        <p:txBody>
          <a:bodyPr wrap="square" lIns="0" tIns="0" rIns="0" bIns="0" anchor="ctr"/>
          <a:lstStyle/>
          <a:p>
            <a:pPr marL="0" indent="0" algn="r">
              <a:buNone/>
            </a:pPr>
            <a:r>
              <a:rPr sz="15000" b="1">
                <a:solidFill>
                  <a:srgbClr val="D9494E"/>
                </a:solidFill>
                <a:latin typeface="Arial Black"/>
                <a:ea typeface="Arial Black"/>
                <a:cs typeface="Arial Black"/>
              </a:rPr>
              <a:t>3</a:t>
            </a:r>
            <a:endParaRPr sz="15000"/>
          </a:p>
        </p:txBody>
      </p:sp>
      <p:sp>
        <p:nvSpPr>
          <p:cNvPr id="4" name="Text 2">
            <a:extLst>
              <a:ext uri="{FF2B5EF4-FFF2-40B4-BE49-F238E27FC236}">
                <a16:creationId xmlns:a16="http://schemas.microsoft.com/office/drawing/2014/main" id="{E1D2F9F6-815F-4294-AD22-4A4228A2DEF2}"/>
              </a:ext>
            </a:extLst>
          </p:cNvPr>
          <p:cNvSpPr>
            <a:spLocks noGrp="1"/>
          </p:cNvSpPr>
          <p:nvPr/>
        </p:nvSpPr>
        <p:spPr>
          <a:xfrm>
            <a:off x="9098280" y="640080"/>
            <a:ext cx="2743200" cy="457200"/>
          </a:xfrm>
          <a:prstGeom prst="rect">
            <a:avLst/>
          </a:prstGeom>
          <a:noFill/>
        </p:spPr>
        <p:txBody>
          <a:bodyPr wrap="square" lIns="0" tIns="0" rIns="0" bIns="0" anchor="ctr"/>
          <a:lstStyle/>
          <a:p>
            <a:pPr marL="0" indent="0">
              <a:buNone/>
            </a:pPr>
            <a:r>
              <a:rPr sz="1500" b="1" spc="300">
                <a:solidFill>
                  <a:srgbClr val="F2D9DA"/>
                </a:solidFill>
                <a:latin typeface="Arial"/>
                <a:ea typeface="Arial"/>
                <a:cs typeface="Arial"/>
              </a:rPr>
              <a:t>DEMO 3</a:t>
            </a:r>
            <a:endParaRPr sz="1500"/>
          </a:p>
        </p:txBody>
      </p:sp>
      <p:sp>
        <p:nvSpPr>
          <p:cNvPr id="5" name="Text 3">
            <a:extLst>
              <a:ext uri="{FF2B5EF4-FFF2-40B4-BE49-F238E27FC236}">
                <a16:creationId xmlns:a16="http://schemas.microsoft.com/office/drawing/2014/main" id="{1ADDF4C3-2B82-4278-83AD-42EA03CB8179}"/>
              </a:ext>
            </a:extLst>
          </p:cNvPr>
          <p:cNvSpPr>
            <a:spLocks noGrp="1"/>
          </p:cNvSpPr>
          <p:nvPr/>
        </p:nvSpPr>
        <p:spPr>
          <a:xfrm>
            <a:off x="9006840" y="1097280"/>
            <a:ext cx="2971800" cy="1828800"/>
          </a:xfrm>
          <a:prstGeom prst="rect">
            <a:avLst/>
          </a:prstGeom>
          <a:noFill/>
        </p:spPr>
        <p:txBody>
          <a:bodyPr wrap="square" lIns="0" tIns="0" rIns="0" bIns="0" anchor="ctr"/>
          <a:lstStyle/>
          <a:p>
            <a:pPr marL="0" indent="0">
              <a:lnSpc>
                <a:spcPct val="100000"/>
              </a:lnSpc>
              <a:buNone/>
            </a:pPr>
            <a:r>
              <a:rPr sz="2500" b="1">
                <a:solidFill>
                  <a:srgbClr val="FFFFFF"/>
                </a:solidFill>
                <a:latin typeface="Arial Black"/>
                <a:ea typeface="Arial Black"/>
                <a:cs typeface="Arial Black"/>
              </a:rPr>
              <a:t>Reshape with Unpivot</a:t>
            </a:r>
            <a:endParaRPr sz="2500"/>
          </a:p>
        </p:txBody>
      </p:sp>
      <p:pic>
        <p:nvPicPr>
          <p:cNvPr id="14" name="Image 0"/>
          <p:cNvPicPr>
            <a:picLocks noChangeAspect="1"/>
          </p:cNvPicPr>
          <p:nvPr/>
        </p:nvPicPr>
        <p:blipFill>
          <a:blip r:embed="rId3"/>
          <a:stretch>
            <a:fillRect/>
          </a:stretch>
        </p:blipFill>
        <p:spPr>
          <a:xfrm>
            <a:off x="502920" y="384048"/>
            <a:ext cx="1828800" cy="258305"/>
          </a:xfrm>
          <a:prstGeom prst="rect">
            <a:avLst/>
          </a:prstGeom>
        </p:spPr>
      </p:pic>
      <p:sp>
        <p:nvSpPr>
          <p:cNvPr id="7" name="Text 4">
            <a:extLst>
              <a:ext uri="{FF2B5EF4-FFF2-40B4-BE49-F238E27FC236}">
                <a16:creationId xmlns:a16="http://schemas.microsoft.com/office/drawing/2014/main" id="{93036B60-205D-483D-A5F2-822E20FE020D}"/>
              </a:ext>
            </a:extLst>
          </p:cNvPr>
          <p:cNvSpPr>
            <a:spLocks noGrp="1"/>
          </p:cNvSpPr>
          <p:nvPr/>
        </p:nvSpPr>
        <p:spPr>
          <a:xfrm>
            <a:off x="640080" y="2011680"/>
            <a:ext cx="7589520" cy="457200"/>
          </a:xfrm>
          <a:prstGeom prst="rect">
            <a:avLst/>
          </a:prstGeom>
          <a:noFill/>
        </p:spPr>
        <p:txBody>
          <a:bodyPr wrap="square" lIns="0" tIns="0" rIns="0" bIns="0" anchor="ctr"/>
          <a:lstStyle/>
          <a:p>
            <a:pPr marL="0" indent="0">
              <a:buNone/>
            </a:pPr>
            <a:r>
              <a:rPr sz="1800" b="1">
                <a:solidFill>
                  <a:srgbClr val="CF3338"/>
                </a:solidFill>
                <a:latin typeface="Arial"/>
                <a:ea typeface="Arial"/>
                <a:cs typeface="Arial"/>
              </a:rPr>
              <a:t>wholesale-customers  |  power-query-demo-day-data.xlsx</a:t>
            </a:r>
            <a:endParaRPr sz="1800"/>
          </a:p>
        </p:txBody>
      </p:sp>
      <p:sp>
        <p:nvSpPr>
          <p:cNvPr id="8" name="Text 5">
            <a:extLst>
              <a:ext uri="{FF2B5EF4-FFF2-40B4-BE49-F238E27FC236}">
                <a16:creationId xmlns:a16="http://schemas.microsoft.com/office/drawing/2014/main" id="{E221BA8F-8258-42F1-A2BC-E0BC85C4F66C}"/>
              </a:ext>
            </a:extLst>
          </p:cNvPr>
          <p:cNvSpPr>
            <a:spLocks noGrp="1"/>
          </p:cNvSpPr>
          <p:nvPr/>
        </p:nvSpPr>
        <p:spPr>
          <a:xfrm>
            <a:off x="640080" y="2743200"/>
            <a:ext cx="7589520" cy="3383280"/>
          </a:xfrm>
          <a:prstGeom prst="rect">
            <a:avLst/>
          </a:prstGeom>
          <a:noFill/>
        </p:spPr>
        <p:txBody>
          <a:bodyPr wrap="square" lIns="0" tIns="0" rIns="0" bIns="0" anchor="ctr"/>
          <a:lstStyle/>
          <a:p>
            <a:pPr marL="0" indent="0">
              <a:buNone/>
            </a:pPr>
            <a:r>
              <a:rPr sz="1800" b="1">
                <a:solidFill>
                  <a:srgbClr val="CF3338"/>
                </a:solidFill>
                <a:latin typeface="Arial"/>
                <a:ea typeface="Arial"/>
                <a:cs typeface="Arial"/>
              </a:rPr>
              <a:t>1.  </a:t>
            </a:r>
            <a:r>
              <a:rPr sz="1800">
                <a:solidFill>
                  <a:srgbClr val="707070"/>
                </a:solidFill>
                <a:latin typeface="Arial"/>
                <a:ea typeface="Arial"/>
                <a:cs typeface="Arial"/>
              </a:rPr>
              <a:t>Spot data with one attribute spread across many columns</a:t>
            </a:r>
            <a:endParaRPr sz="1800"/>
          </a:p>
          <a:p>
            <a:pPr marL="0" indent="0">
              <a:buNone/>
            </a:pPr>
            <a:r>
              <a:rPr sz="1800" b="1">
                <a:solidFill>
                  <a:srgbClr val="CF3338"/>
                </a:solidFill>
                <a:latin typeface="Arial"/>
                <a:ea typeface="Arial"/>
                <a:cs typeface="Arial"/>
              </a:rPr>
              <a:t>2.  </a:t>
            </a:r>
            <a:r>
              <a:rPr sz="1800">
                <a:solidFill>
                  <a:srgbClr val="707070"/>
                </a:solidFill>
                <a:latin typeface="Arial"/>
                <a:ea typeface="Arial"/>
                <a:cs typeface="Arial"/>
              </a:rPr>
              <a:t>Select those columns, right-click, then Unpivot Columns</a:t>
            </a:r>
            <a:endParaRPr sz="1800"/>
          </a:p>
          <a:p>
            <a:pPr marL="0" indent="0">
              <a:buNone/>
            </a:pPr>
            <a:r>
              <a:rPr sz="1800" b="1">
                <a:solidFill>
                  <a:srgbClr val="CF3338"/>
                </a:solidFill>
                <a:latin typeface="Arial"/>
                <a:ea typeface="Arial"/>
                <a:cs typeface="Arial"/>
              </a:rPr>
              <a:t>3.  </a:t>
            </a:r>
            <a:r>
              <a:rPr sz="1800">
                <a:solidFill>
                  <a:srgbClr val="707070"/>
                </a:solidFill>
                <a:latin typeface="Arial"/>
                <a:ea typeface="Arial"/>
                <a:cs typeface="Arial"/>
              </a:rPr>
              <a:t>Get tidy Attribute / Value columns</a:t>
            </a:r>
            <a:endParaRPr sz="1800"/>
          </a:p>
          <a:p>
            <a:pPr marL="0" indent="0">
              <a:buNone/>
            </a:pPr>
            <a:r>
              <a:rPr sz="1800" b="1">
                <a:solidFill>
                  <a:srgbClr val="CF3338"/>
                </a:solidFill>
                <a:latin typeface="Arial"/>
                <a:ea typeface="Arial"/>
                <a:cs typeface="Arial"/>
              </a:rPr>
              <a:t>4.  </a:t>
            </a:r>
            <a:r>
              <a:rPr sz="1800">
                <a:solidFill>
                  <a:srgbClr val="707070"/>
                </a:solidFill>
                <a:latin typeface="Arial"/>
                <a:ea typeface="Arial"/>
                <a:cs typeface="Arial"/>
              </a:rPr>
              <a:t>Now you can pivot, analyze, and report on it</a:t>
            </a:r>
            <a:endParaRPr sz="1800"/>
          </a:p>
        </p:txBody>
      </p:sp>
    </p:spTree>
    <p:extLst>
      <p:ext uri="{BB962C8B-B14F-4D97-AF65-F5344CB8AC3E}">
        <p14:creationId xmlns:p14="http://schemas.microsoft.com/office/powerpoint/2010/main" val="2233018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pic>
        <p:nvPicPr>
          <p:cNvPr id="9" name="Image 0"/>
          <p:cNvPicPr>
            <a:picLocks noChangeAspect="1"/>
          </p:cNvPicPr>
          <p:nvPr/>
        </p:nvPicPr>
        <p:blipFill>
          <a:blip r:embed="rId3"/>
          <a:stretch>
            <a:fillRect/>
          </a:stretch>
        </p:blipFill>
        <p:spPr>
          <a:xfrm>
            <a:off x="502920" y="384048"/>
            <a:ext cx="1828800" cy="258305"/>
          </a:xfrm>
          <a:prstGeom prst="rect">
            <a:avLst/>
          </a:prstGeom>
        </p:spPr>
      </p:pic>
      <p:sp>
        <p:nvSpPr>
          <p:cNvPr id="3" name="Text 0">
            <a:extLst>
              <a:ext uri="{FF2B5EF4-FFF2-40B4-BE49-F238E27FC236}">
                <a16:creationId xmlns:a16="http://schemas.microsoft.com/office/drawing/2014/main" id="{04373C77-4F83-4F60-A43B-95ED11BD01C8}"/>
              </a:ext>
            </a:extLst>
          </p:cNvPr>
          <p:cNvSpPr>
            <a:spLocks noGrp="1"/>
          </p:cNvSpPr>
          <p:nvPr/>
        </p:nvSpPr>
        <p:spPr>
          <a:xfrm>
            <a:off x="548640" y="868680"/>
            <a:ext cx="10058400" cy="320040"/>
          </a:xfrm>
          <a:prstGeom prst="rect">
            <a:avLst/>
          </a:prstGeom>
          <a:noFill/>
        </p:spPr>
        <p:txBody>
          <a:bodyPr wrap="square" lIns="0" tIns="0" rIns="0" bIns="0" anchor="ctr"/>
          <a:lstStyle/>
          <a:p>
            <a:pPr marL="0" indent="0">
              <a:buNone/>
            </a:pPr>
            <a:r>
              <a:rPr sz="1300" b="1" spc="300">
                <a:solidFill>
                  <a:srgbClr val="CF3338"/>
                </a:solidFill>
                <a:latin typeface="Arial"/>
                <a:ea typeface="Arial"/>
                <a:cs typeface="Arial"/>
              </a:rPr>
              <a:t>THE TAKEAWAY</a:t>
            </a:r>
            <a:endParaRPr sz="1300"/>
          </a:p>
        </p:txBody>
      </p:sp>
      <p:sp>
        <p:nvSpPr>
          <p:cNvPr id="4" name="Text 1">
            <a:extLst>
              <a:ext uri="{FF2B5EF4-FFF2-40B4-BE49-F238E27FC236}">
                <a16:creationId xmlns:a16="http://schemas.microsoft.com/office/drawing/2014/main" id="{860AD915-A760-417B-BC77-A9691088CF5C}"/>
              </a:ext>
            </a:extLst>
          </p:cNvPr>
          <p:cNvSpPr>
            <a:spLocks noGrp="1"/>
          </p:cNvSpPr>
          <p:nvPr/>
        </p:nvSpPr>
        <p:spPr>
          <a:xfrm>
            <a:off x="548640" y="1143000"/>
            <a:ext cx="11064240" cy="1097280"/>
          </a:xfrm>
          <a:prstGeom prst="rect">
            <a:avLst/>
          </a:prstGeom>
          <a:noFill/>
        </p:spPr>
        <p:txBody>
          <a:bodyPr wrap="square" lIns="0" tIns="0" rIns="0" bIns="0" anchor="ctr"/>
          <a:lstStyle/>
          <a:p>
            <a:pPr marL="0" indent="0" algn="l">
              <a:buNone/>
            </a:pPr>
            <a:r>
              <a:rPr sz="3800" b="1">
                <a:solidFill>
                  <a:srgbClr val="1F2120"/>
                </a:solidFill>
                <a:latin typeface="Arial Black"/>
                <a:ea typeface="Arial Black"/>
                <a:cs typeface="Arial Black"/>
              </a:rPr>
              <a:t>It's about when, not just how</a:t>
            </a:r>
            <a:endParaRPr sz="3800"/>
          </a:p>
        </p:txBody>
      </p:sp>
      <p:sp>
        <p:nvSpPr>
          <p:cNvPr id="5" name="Text 2">
            <a:extLst>
              <a:ext uri="{FF2B5EF4-FFF2-40B4-BE49-F238E27FC236}">
                <a16:creationId xmlns:a16="http://schemas.microsoft.com/office/drawing/2014/main" id="{87503CA1-8986-427A-9D86-9538C5F43E01}"/>
              </a:ext>
            </a:extLst>
          </p:cNvPr>
          <p:cNvSpPr>
            <a:spLocks noGrp="1"/>
          </p:cNvSpPr>
          <p:nvPr/>
        </p:nvSpPr>
        <p:spPr>
          <a:xfrm>
            <a:off x="640080" y="2286000"/>
            <a:ext cx="10424160" cy="822960"/>
          </a:xfrm>
          <a:prstGeom prst="rect">
            <a:avLst/>
          </a:prstGeom>
          <a:noFill/>
        </p:spPr>
        <p:txBody>
          <a:bodyPr wrap="square" lIns="0" tIns="0" rIns="0" bIns="0" anchor="ctr"/>
          <a:lstStyle/>
          <a:p>
            <a:pPr marL="0" indent="0">
              <a:lnSpc>
                <a:spcPct val="112000"/>
              </a:lnSpc>
              <a:buNone/>
            </a:pPr>
            <a:r>
              <a:rPr sz="1800">
                <a:solidFill>
                  <a:srgbClr val="707070"/>
                </a:solidFill>
                <a:latin typeface="Arial"/>
                <a:ea typeface="Arial"/>
                <a:cs typeface="Arial"/>
              </a:rPr>
              <a:t>A few foundational steps eliminate most of the copy-paste-and-fix routines people get stuck doing in Excel:</a:t>
            </a:r>
            <a:endParaRPr sz="1800"/>
          </a:p>
        </p:txBody>
      </p:sp>
      <p:sp>
        <p:nvSpPr>
          <p:cNvPr id="6" name="Text 3">
            <a:extLst>
              <a:ext uri="{FF2B5EF4-FFF2-40B4-BE49-F238E27FC236}">
                <a16:creationId xmlns:a16="http://schemas.microsoft.com/office/drawing/2014/main" id="{AC6CCE54-996D-4674-8D59-259DE11C6006}"/>
              </a:ext>
            </a:extLst>
          </p:cNvPr>
          <p:cNvSpPr>
            <a:spLocks noGrp="1"/>
          </p:cNvSpPr>
          <p:nvPr/>
        </p:nvSpPr>
        <p:spPr>
          <a:xfrm>
            <a:off x="640080" y="3200400"/>
            <a:ext cx="10241280" cy="2194560"/>
          </a:xfrm>
          <a:prstGeom prst="rect">
            <a:avLst/>
          </a:prstGeom>
          <a:noFill/>
        </p:spPr>
        <p:txBody>
          <a:bodyPr wrap="square" lIns="0" tIns="0" rIns="0" bIns="0" anchor="ctr"/>
          <a:lstStyle/>
          <a:p>
            <a:pPr marL="279400" indent="-279400">
              <a:spcAft>
                <a:spcPts val="1400"/>
              </a:spcAft>
              <a:buSzPct val="100000"/>
              <a:buChar char="•"/>
            </a:pPr>
            <a:r>
              <a:rPr sz="2000">
                <a:solidFill>
                  <a:srgbClr val="1F2120"/>
                </a:solidFill>
                <a:latin typeface="Arial"/>
                <a:ea typeface="Arial"/>
                <a:cs typeface="Arial"/>
              </a:rPr>
              <a:t>Profile first, so you actually know what’s in your data</a:t>
            </a:r>
            <a:endParaRPr sz="2000"/>
          </a:p>
          <a:p>
            <a:pPr marL="279400" indent="-279400">
              <a:spcAft>
                <a:spcPts val="1400"/>
              </a:spcAft>
              <a:buSzPct val="100000"/>
              <a:buChar char="•"/>
            </a:pPr>
            <a:r>
              <a:rPr sz="2000">
                <a:solidFill>
                  <a:srgbClr val="1F2120"/>
                </a:solidFill>
                <a:latin typeface="Arial"/>
                <a:ea typeface="Arial"/>
                <a:cs typeface="Arial"/>
              </a:rPr>
              <a:t>Build cleanup as Applied Steps that re-run on every refresh</a:t>
            </a:r>
            <a:endParaRPr sz="2000"/>
          </a:p>
          <a:p>
            <a:pPr marL="279400" indent="-279400">
              <a:spcAft>
                <a:spcPts val="1400"/>
              </a:spcAft>
              <a:buSzPct val="100000"/>
              <a:buChar char="•"/>
            </a:pPr>
            <a:r>
              <a:rPr sz="2000">
                <a:solidFill>
                  <a:srgbClr val="1F2120"/>
                </a:solidFill>
                <a:latin typeface="Arial"/>
                <a:ea typeface="Arial"/>
                <a:cs typeface="Arial"/>
              </a:rPr>
              <a:t>Reshape with Unpivot so data lands in a form you can use</a:t>
            </a:r>
            <a:endParaRPr sz="2000"/>
          </a:p>
        </p:txBody>
      </p:sp>
      <p:sp>
        <p:nvSpPr>
          <p:cNvPr id="7" name="Text 4">
            <a:extLst>
              <a:ext uri="{FF2B5EF4-FFF2-40B4-BE49-F238E27FC236}">
                <a16:creationId xmlns:a16="http://schemas.microsoft.com/office/drawing/2014/main" id="{82F77CD7-2DBA-46B4-9407-9F9C28439338}"/>
              </a:ext>
            </a:extLst>
          </p:cNvPr>
          <p:cNvSpPr>
            <a:spLocks noGrp="1"/>
          </p:cNvSpPr>
          <p:nvPr/>
        </p:nvSpPr>
        <p:spPr>
          <a:xfrm>
            <a:off x="640080" y="5577840"/>
            <a:ext cx="10881360" cy="548640"/>
          </a:xfrm>
          <a:prstGeom prst="rect">
            <a:avLst/>
          </a:prstGeom>
          <a:noFill/>
        </p:spPr>
        <p:txBody>
          <a:bodyPr wrap="square" lIns="0" tIns="0" rIns="0" bIns="0" anchor="ctr"/>
          <a:lstStyle/>
          <a:p>
            <a:pPr marL="0" indent="0">
              <a:buNone/>
            </a:pPr>
            <a:r>
              <a:rPr sz="1600" b="1" i="1">
                <a:solidFill>
                  <a:srgbClr val="CF3338"/>
                </a:solidFill>
                <a:latin typeface="Arial"/>
                <a:ea typeface="Arial"/>
                <a:cs typeface="Arial"/>
              </a:rPr>
              <a:t>Your reports stay consistent and refreshable, instead of being rebuilt by hand each week.</a:t>
            </a:r>
            <a:endParaRPr sz="1600"/>
          </a:p>
        </p:txBody>
      </p:sp>
    </p:spTree>
    <p:extLst>
      <p:ext uri="{BB962C8B-B14F-4D97-AF65-F5344CB8AC3E}">
        <p14:creationId xmlns:p14="http://schemas.microsoft.com/office/powerpoint/2010/main" val="2422663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pic>
        <p:nvPicPr>
          <p:cNvPr id="18" name="Image 0"/>
          <p:cNvPicPr>
            <a:picLocks noChangeAspect="1"/>
          </p:cNvPicPr>
          <p:nvPr/>
        </p:nvPicPr>
        <p:blipFill>
          <a:blip r:embed="rId3"/>
          <a:stretch>
            <a:fillRect/>
          </a:stretch>
        </p:blipFill>
        <p:spPr>
          <a:xfrm>
            <a:off x="502920" y="384048"/>
            <a:ext cx="1828800" cy="258305"/>
          </a:xfrm>
          <a:prstGeom prst="rect">
            <a:avLst/>
          </a:prstGeom>
        </p:spPr>
      </p:pic>
      <p:sp>
        <p:nvSpPr>
          <p:cNvPr id="3" name="Text 0">
            <a:extLst>
              <a:ext uri="{FF2B5EF4-FFF2-40B4-BE49-F238E27FC236}">
                <a16:creationId xmlns:a16="http://schemas.microsoft.com/office/drawing/2014/main" id="{F0039345-ED31-49F3-96BE-26943176B26D}"/>
              </a:ext>
            </a:extLst>
          </p:cNvPr>
          <p:cNvSpPr>
            <a:spLocks noGrp="1"/>
          </p:cNvSpPr>
          <p:nvPr/>
        </p:nvSpPr>
        <p:spPr>
          <a:xfrm>
            <a:off x="548640" y="868680"/>
            <a:ext cx="10058400" cy="320040"/>
          </a:xfrm>
          <a:prstGeom prst="rect">
            <a:avLst/>
          </a:prstGeom>
          <a:noFill/>
        </p:spPr>
        <p:txBody>
          <a:bodyPr wrap="square" lIns="0" tIns="0" rIns="0" bIns="0" anchor="ctr"/>
          <a:lstStyle/>
          <a:p>
            <a:pPr marL="0" indent="0">
              <a:buNone/>
            </a:pPr>
            <a:r>
              <a:rPr sz="1300" b="1" spc="300">
                <a:solidFill>
                  <a:srgbClr val="CF3338"/>
                </a:solidFill>
                <a:latin typeface="Arial"/>
                <a:ea typeface="Arial"/>
                <a:cs typeface="Arial"/>
              </a:rPr>
              <a:t>WANT TO GO DEEPER?</a:t>
            </a:r>
            <a:endParaRPr sz="1300"/>
          </a:p>
        </p:txBody>
      </p:sp>
      <p:sp>
        <p:nvSpPr>
          <p:cNvPr id="4" name="Text 1">
            <a:extLst>
              <a:ext uri="{FF2B5EF4-FFF2-40B4-BE49-F238E27FC236}">
                <a16:creationId xmlns:a16="http://schemas.microsoft.com/office/drawing/2014/main" id="{606042CD-195C-416E-BD63-65741CDE7BF3}"/>
              </a:ext>
            </a:extLst>
          </p:cNvPr>
          <p:cNvSpPr>
            <a:spLocks noGrp="1"/>
          </p:cNvSpPr>
          <p:nvPr/>
        </p:nvSpPr>
        <p:spPr>
          <a:xfrm>
            <a:off x="548640" y="1143000"/>
            <a:ext cx="11064240" cy="1097280"/>
          </a:xfrm>
          <a:prstGeom prst="rect">
            <a:avLst/>
          </a:prstGeom>
          <a:noFill/>
        </p:spPr>
        <p:txBody>
          <a:bodyPr wrap="square" lIns="0" tIns="0" rIns="0" bIns="0" anchor="ctr"/>
          <a:lstStyle/>
          <a:p>
            <a:pPr marL="0" indent="0" algn="l">
              <a:buNone/>
            </a:pPr>
            <a:r>
              <a:rPr sz="3800" b="1">
                <a:solidFill>
                  <a:srgbClr val="1F2120"/>
                </a:solidFill>
                <a:latin typeface="Arial Black"/>
                <a:ea typeface="Arial Black"/>
                <a:cs typeface="Arial Black"/>
              </a:rPr>
              <a:t>Two more ways to keep going</a:t>
            </a:r>
            <a:endParaRPr sz="3800"/>
          </a:p>
        </p:txBody>
      </p:sp>
      <p:pic>
        <p:nvPicPr>
          <p:cNvPr id="21" name="Image 1"/>
          <p:cNvPicPr>
            <a:picLocks noChangeAspect="1"/>
          </p:cNvPicPr>
          <p:nvPr/>
        </p:nvPicPr>
        <p:blipFill>
          <a:blip r:embed="rId4"/>
          <a:stretch>
            <a:fillRect/>
          </a:stretch>
        </p:blipFill>
        <p:spPr>
          <a:xfrm>
            <a:off x="640080" y="2377440"/>
            <a:ext cx="1882474" cy="2468880"/>
          </a:xfrm>
          <a:prstGeom prst="rect">
            <a:avLst/>
          </a:prstGeom>
          <a:effectLst>
            <a:outerShdw blurRad="127000" dist="50800" dir="8100000" algn="bl" rotWithShape="0">
              <a:srgbClr val="000000">
                <a:alpha val="20000"/>
              </a:srgbClr>
            </a:outerShdw>
          </a:effectLst>
        </p:spPr>
      </p:pic>
      <p:sp>
        <p:nvSpPr>
          <p:cNvPr id="6" name="Text 2">
            <a:extLst>
              <a:ext uri="{FF2B5EF4-FFF2-40B4-BE49-F238E27FC236}">
                <a16:creationId xmlns:a16="http://schemas.microsoft.com/office/drawing/2014/main" id="{26B0CA93-8BBA-4977-99B3-B05B3E7625B3}"/>
              </a:ext>
            </a:extLst>
          </p:cNvPr>
          <p:cNvSpPr>
            <a:spLocks noGrp="1"/>
          </p:cNvSpPr>
          <p:nvPr/>
        </p:nvSpPr>
        <p:spPr>
          <a:xfrm>
            <a:off x="2834640" y="2468880"/>
            <a:ext cx="3657600" cy="320040"/>
          </a:xfrm>
          <a:prstGeom prst="rect">
            <a:avLst/>
          </a:prstGeom>
          <a:noFill/>
        </p:spPr>
        <p:txBody>
          <a:bodyPr wrap="square" lIns="0" tIns="0" rIns="0" bIns="0" anchor="ctr"/>
          <a:lstStyle/>
          <a:p>
            <a:pPr marL="0" indent="0">
              <a:buNone/>
            </a:pPr>
            <a:r>
              <a:rPr sz="1250" b="1" spc="150">
                <a:solidFill>
                  <a:srgbClr val="CF3338"/>
                </a:solidFill>
                <a:latin typeface="Arial"/>
                <a:ea typeface="Arial"/>
                <a:cs typeface="Arial"/>
              </a:rPr>
              <a:t>READ THE BOOK</a:t>
            </a:r>
            <a:endParaRPr sz="1250"/>
          </a:p>
        </p:txBody>
      </p:sp>
      <p:sp>
        <p:nvSpPr>
          <p:cNvPr id="7" name="Text 3">
            <a:extLst>
              <a:ext uri="{FF2B5EF4-FFF2-40B4-BE49-F238E27FC236}">
                <a16:creationId xmlns:a16="http://schemas.microsoft.com/office/drawing/2014/main" id="{C1B89C29-A4D5-4A21-A633-A255F7494F4A}"/>
              </a:ext>
            </a:extLst>
          </p:cNvPr>
          <p:cNvSpPr>
            <a:spLocks noGrp="1"/>
          </p:cNvSpPr>
          <p:nvPr/>
        </p:nvSpPr>
        <p:spPr>
          <a:xfrm>
            <a:off x="2834640" y="2834640"/>
            <a:ext cx="3200400" cy="1097280"/>
          </a:xfrm>
          <a:prstGeom prst="rect">
            <a:avLst/>
          </a:prstGeom>
          <a:noFill/>
        </p:spPr>
        <p:txBody>
          <a:bodyPr wrap="square" lIns="0" tIns="0" rIns="0" bIns="0" anchor="ctr"/>
          <a:lstStyle/>
          <a:p>
            <a:pPr marL="0" indent="0">
              <a:lnSpc>
                <a:spcPct val="100000"/>
              </a:lnSpc>
              <a:buNone/>
            </a:pPr>
            <a:r>
              <a:rPr sz="1900" b="1">
                <a:solidFill>
                  <a:srgbClr val="1F2120"/>
                </a:solidFill>
                <a:latin typeface="Arial Black"/>
                <a:ea typeface="Arial Black"/>
                <a:cs typeface="Arial Black"/>
              </a:rPr>
              <a:t>Modern Data Analytics in Excel</a:t>
            </a:r>
            <a:endParaRPr sz="1900"/>
          </a:p>
        </p:txBody>
      </p:sp>
      <p:sp>
        <p:nvSpPr>
          <p:cNvPr id="8" name="Text 4">
            <a:extLst>
              <a:ext uri="{FF2B5EF4-FFF2-40B4-BE49-F238E27FC236}">
                <a16:creationId xmlns:a16="http://schemas.microsoft.com/office/drawing/2014/main" id="{EE20A52A-0711-46A2-8A22-466962CDB149}"/>
              </a:ext>
            </a:extLst>
          </p:cNvPr>
          <p:cNvSpPr>
            <a:spLocks noGrp="1"/>
          </p:cNvSpPr>
          <p:nvPr/>
        </p:nvSpPr>
        <p:spPr>
          <a:xfrm>
            <a:off x="2834640" y="3886200"/>
            <a:ext cx="3200400" cy="640080"/>
          </a:xfrm>
          <a:prstGeom prst="rect">
            <a:avLst/>
          </a:prstGeom>
          <a:noFill/>
        </p:spPr>
        <p:txBody>
          <a:bodyPr wrap="square" lIns="0" tIns="0" rIns="0" bIns="0" anchor="ctr"/>
          <a:lstStyle/>
          <a:p>
            <a:pPr marL="0" indent="0">
              <a:lnSpc>
                <a:spcPct val="110000"/>
              </a:lnSpc>
              <a:buNone/>
            </a:pPr>
            <a:r>
              <a:rPr sz="1400">
                <a:solidFill>
                  <a:srgbClr val="707070"/>
                </a:solidFill>
                <a:latin typeface="Arial"/>
                <a:ea typeface="Arial"/>
                <a:cs typeface="Arial"/>
              </a:rPr>
              <a:t>Power Query, Power Pivot &amp; more (O’Reilly).</a:t>
            </a:r>
            <a:endParaRPr sz="1400"/>
          </a:p>
        </p:txBody>
      </p:sp>
      <p:sp>
        <p:nvSpPr>
          <p:cNvPr id="9" name="Text 5">
            <a:hlinkClick r:id="rId5"/>
            <a:extLst>
              <a:ext uri="{FF2B5EF4-FFF2-40B4-BE49-F238E27FC236}">
                <a16:creationId xmlns:a16="http://schemas.microsoft.com/office/drawing/2014/main" id="{979394DF-BF84-4066-AD1F-CF079BCA06B2}"/>
              </a:ext>
            </a:extLst>
          </p:cNvPr>
          <p:cNvSpPr>
            <a:spLocks noGrp="1"/>
          </p:cNvSpPr>
          <p:nvPr/>
        </p:nvSpPr>
        <p:spPr>
          <a:xfrm>
            <a:off x="2834640" y="4572000"/>
            <a:ext cx="3291840" cy="365760"/>
          </a:xfrm>
          <a:prstGeom prst="rect">
            <a:avLst/>
          </a:prstGeom>
          <a:noFill/>
        </p:spPr>
        <p:txBody>
          <a:bodyPr wrap="square" lIns="0" tIns="0" rIns="0" bIns="0" anchor="ctr"/>
          <a:lstStyle/>
          <a:p>
            <a:pPr marL="0" indent="0">
              <a:buNone/>
            </a:pPr>
            <a:r>
              <a:rPr sz="1350" b="1" u="sng">
                <a:solidFill>
                  <a:srgbClr val="CF3338"/>
                </a:solidFill>
                <a:latin typeface="Arial"/>
                <a:ea typeface="Arial"/>
                <a:cs typeface="Arial"/>
                <a:hlinkClick r:id="rId5"/>
              </a:rPr>
              <a:t>stringfestanalytics.com/maxl</a:t>
            </a:r>
            <a:endParaRPr sz="1350"/>
          </a:p>
        </p:txBody>
      </p:sp>
      <p:sp>
        <p:nvSpPr>
          <p:cNvPr id="10" name="Shape 6">
            <a:extLst>
              <a:ext uri="{FF2B5EF4-FFF2-40B4-BE49-F238E27FC236}">
                <a16:creationId xmlns:a16="http://schemas.microsoft.com/office/drawing/2014/main" id="{EB929EAA-695E-4D7E-875B-A606FB9ACDEA}"/>
              </a:ext>
            </a:extLst>
          </p:cNvPr>
          <p:cNvSpPr>
            <a:spLocks noGrp="1"/>
          </p:cNvSpPr>
          <p:nvPr/>
        </p:nvSpPr>
        <p:spPr>
          <a:xfrm>
            <a:off x="6583680" y="2377440"/>
            <a:ext cx="4937760" cy="3246120"/>
          </a:xfrm>
          <a:prstGeom prst="rect">
            <a:avLst/>
          </a:prstGeom>
          <a:solidFill>
            <a:srgbClr val="FFFFFF"/>
          </a:solidFill>
          <a:ln w="12700">
            <a:solidFill>
              <a:srgbClr val="DEDBCF"/>
            </a:solidFill>
            <a:prstDash val="solid"/>
          </a:ln>
          <a:effectLst>
            <a:outerShdw blurRad="101600" dist="38100" dir="8100000" algn="bl" rotWithShape="0">
              <a:srgbClr val="000000">
                <a:alpha val="12000"/>
              </a:srgbClr>
            </a:outerShdw>
          </a:effectLst>
        </p:spPr>
        <p:txBody>
          <a:bodyPr/>
          <a:lstStyle/>
          <a:p>
            <a:endParaRPr/>
          </a:p>
        </p:txBody>
      </p:sp>
      <p:sp>
        <p:nvSpPr>
          <p:cNvPr id="11" name="Shape 7">
            <a:extLst>
              <a:ext uri="{FF2B5EF4-FFF2-40B4-BE49-F238E27FC236}">
                <a16:creationId xmlns:a16="http://schemas.microsoft.com/office/drawing/2014/main" id="{1E331EBD-DA8D-47D8-BF83-77E950E403D1}"/>
              </a:ext>
            </a:extLst>
          </p:cNvPr>
          <p:cNvSpPr>
            <a:spLocks noGrp="1"/>
          </p:cNvSpPr>
          <p:nvPr/>
        </p:nvSpPr>
        <p:spPr>
          <a:xfrm>
            <a:off x="6583680" y="2377440"/>
            <a:ext cx="128016" cy="3246120"/>
          </a:xfrm>
          <a:prstGeom prst="rect">
            <a:avLst/>
          </a:prstGeom>
          <a:solidFill>
            <a:srgbClr val="CF3338"/>
          </a:solidFill>
        </p:spPr>
        <p:txBody>
          <a:bodyPr/>
          <a:lstStyle/>
          <a:p>
            <a:endParaRPr/>
          </a:p>
        </p:txBody>
      </p:sp>
      <p:sp>
        <p:nvSpPr>
          <p:cNvPr id="12" name="Text 8">
            <a:extLst>
              <a:ext uri="{FF2B5EF4-FFF2-40B4-BE49-F238E27FC236}">
                <a16:creationId xmlns:a16="http://schemas.microsoft.com/office/drawing/2014/main" id="{6216FBC4-B401-4144-AC30-6595142C800D}"/>
              </a:ext>
            </a:extLst>
          </p:cNvPr>
          <p:cNvSpPr>
            <a:spLocks noGrp="1"/>
          </p:cNvSpPr>
          <p:nvPr/>
        </p:nvSpPr>
        <p:spPr>
          <a:xfrm>
            <a:off x="6903720" y="2606040"/>
            <a:ext cx="4389120" cy="320040"/>
          </a:xfrm>
          <a:prstGeom prst="rect">
            <a:avLst/>
          </a:prstGeom>
          <a:noFill/>
        </p:spPr>
        <p:txBody>
          <a:bodyPr wrap="square" lIns="0" tIns="0" rIns="0" bIns="0" anchor="ctr"/>
          <a:lstStyle/>
          <a:p>
            <a:pPr marL="0" indent="0">
              <a:buNone/>
            </a:pPr>
            <a:r>
              <a:rPr sz="1250" b="1" spc="150">
                <a:solidFill>
                  <a:srgbClr val="CF3338"/>
                </a:solidFill>
                <a:latin typeface="Arial"/>
                <a:ea typeface="Arial"/>
                <a:cs typeface="Arial"/>
              </a:rPr>
              <a:t>WORK WITH ME</a:t>
            </a:r>
            <a:endParaRPr sz="1250"/>
          </a:p>
        </p:txBody>
      </p:sp>
      <p:sp>
        <p:nvSpPr>
          <p:cNvPr id="13" name="Text 9">
            <a:extLst>
              <a:ext uri="{FF2B5EF4-FFF2-40B4-BE49-F238E27FC236}">
                <a16:creationId xmlns:a16="http://schemas.microsoft.com/office/drawing/2014/main" id="{1B22724F-3E8A-4936-9637-97A72F574385}"/>
              </a:ext>
            </a:extLst>
          </p:cNvPr>
          <p:cNvSpPr>
            <a:spLocks noGrp="1"/>
          </p:cNvSpPr>
          <p:nvPr/>
        </p:nvSpPr>
        <p:spPr>
          <a:xfrm>
            <a:off x="6903720" y="2971800"/>
            <a:ext cx="4389120" cy="822960"/>
          </a:xfrm>
          <a:prstGeom prst="rect">
            <a:avLst/>
          </a:prstGeom>
          <a:noFill/>
        </p:spPr>
        <p:txBody>
          <a:bodyPr wrap="square" lIns="0" tIns="0" rIns="0" bIns="0" anchor="ctr"/>
          <a:lstStyle/>
          <a:p>
            <a:pPr marL="0" indent="0">
              <a:lnSpc>
                <a:spcPct val="100000"/>
              </a:lnSpc>
              <a:buNone/>
            </a:pPr>
            <a:r>
              <a:rPr sz="1900" b="1">
                <a:solidFill>
                  <a:srgbClr val="1F2120"/>
                </a:solidFill>
                <a:latin typeface="Arial Black"/>
                <a:ea typeface="Arial Black"/>
                <a:cs typeface="Arial Black"/>
              </a:rPr>
              <a:t>Excel training &amp; analytics consulting</a:t>
            </a:r>
            <a:endParaRPr sz="1900"/>
          </a:p>
        </p:txBody>
      </p:sp>
      <p:sp>
        <p:nvSpPr>
          <p:cNvPr id="14" name="Text 10">
            <a:extLst>
              <a:ext uri="{FF2B5EF4-FFF2-40B4-BE49-F238E27FC236}">
                <a16:creationId xmlns:a16="http://schemas.microsoft.com/office/drawing/2014/main" id="{C2A94A3D-DDC4-4965-9D3B-389D0511F12E}"/>
              </a:ext>
            </a:extLst>
          </p:cNvPr>
          <p:cNvSpPr>
            <a:spLocks noGrp="1"/>
          </p:cNvSpPr>
          <p:nvPr/>
        </p:nvSpPr>
        <p:spPr>
          <a:xfrm>
            <a:off x="6903720" y="3886200"/>
            <a:ext cx="4389120" cy="1188720"/>
          </a:xfrm>
          <a:prstGeom prst="rect">
            <a:avLst/>
          </a:prstGeom>
          <a:noFill/>
        </p:spPr>
        <p:txBody>
          <a:bodyPr wrap="square" lIns="0" tIns="0" rIns="0" bIns="0" anchor="ctr"/>
          <a:lstStyle/>
          <a:p>
            <a:pPr marL="0" indent="0">
              <a:lnSpc>
                <a:spcPct val="115000"/>
              </a:lnSpc>
              <a:buNone/>
            </a:pPr>
            <a:r>
              <a:rPr sz="1500">
                <a:solidFill>
                  <a:srgbClr val="707070"/>
                </a:solidFill>
                <a:latin typeface="Arial"/>
                <a:ea typeface="Arial"/>
                <a:cs typeface="Arial"/>
              </a:rPr>
              <a:t>I work with individuals and organizations that want to build reliable, maintainable Excel workflows. If that’s you, let’s talk.</a:t>
            </a:r>
            <a:endParaRPr sz="1500"/>
          </a:p>
        </p:txBody>
      </p:sp>
      <p:sp>
        <p:nvSpPr>
          <p:cNvPr id="15" name="Text 11">
            <a:extLst>
              <a:ext uri="{FF2B5EF4-FFF2-40B4-BE49-F238E27FC236}">
                <a16:creationId xmlns:a16="http://schemas.microsoft.com/office/drawing/2014/main" id="{685F3F0C-901E-47CA-B4F9-2071B453EEBD}"/>
              </a:ext>
            </a:extLst>
          </p:cNvPr>
          <p:cNvSpPr>
            <a:spLocks noGrp="1"/>
          </p:cNvSpPr>
          <p:nvPr/>
        </p:nvSpPr>
        <p:spPr>
          <a:xfrm>
            <a:off x="6903720" y="5120640"/>
            <a:ext cx="4389120" cy="365760"/>
          </a:xfrm>
          <a:prstGeom prst="rect">
            <a:avLst/>
          </a:prstGeom>
          <a:noFill/>
        </p:spPr>
        <p:txBody>
          <a:bodyPr wrap="square" lIns="0" tIns="0" rIns="0" bIns="0" anchor="ctr"/>
          <a:lstStyle/>
          <a:p>
            <a:pPr marL="0" indent="0">
              <a:buNone/>
            </a:pPr>
            <a:r>
              <a:rPr sz="1400" b="1">
                <a:solidFill>
                  <a:srgbClr val="CF3338"/>
                </a:solidFill>
                <a:latin typeface="Arial"/>
                <a:ea typeface="Arial"/>
                <a:cs typeface="Arial"/>
              </a:rPr>
              <a:t>george@stringfestanalytics.com</a:t>
            </a:r>
            <a:endParaRPr sz="1400"/>
          </a:p>
        </p:txBody>
      </p:sp>
    </p:spTree>
    <p:extLst>
      <p:ext uri="{BB962C8B-B14F-4D97-AF65-F5344CB8AC3E}">
        <p14:creationId xmlns:p14="http://schemas.microsoft.com/office/powerpoint/2010/main" val="14165155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F4BFD5E-120B-46FD-A490-E6DD6D6456A5}"/>
              </a:ext>
            </a:extLst>
          </p:cNvPr>
          <p:cNvSpPr>
            <a:spLocks noGrp="1"/>
          </p:cNvSpPr>
          <p:nvPr/>
        </p:nvSpPr>
        <p:spPr>
          <a:xfrm>
            <a:off x="822960" y="1005840"/>
            <a:ext cx="10058400" cy="1097280"/>
          </a:xfrm>
          <a:prstGeom prst="rect">
            <a:avLst/>
          </a:prstGeom>
          <a:noFill/>
        </p:spPr>
        <p:txBody>
          <a:bodyPr wrap="square" lIns="0" tIns="0" rIns="0" bIns="0" anchor="ctr"/>
          <a:lstStyle/>
          <a:p>
            <a:pPr marL="0" indent="0">
              <a:buNone/>
            </a:pPr>
            <a:r>
              <a:rPr sz="5000" b="1">
                <a:solidFill>
                  <a:srgbClr val="FFFFFF"/>
                </a:solidFill>
                <a:latin typeface="Arial Black"/>
                <a:ea typeface="Arial Black"/>
                <a:cs typeface="Arial Black"/>
              </a:rPr>
              <a:t>Thank you</a:t>
            </a:r>
            <a:endParaRPr sz="5000"/>
          </a:p>
        </p:txBody>
      </p:sp>
      <p:sp>
        <p:nvSpPr>
          <p:cNvPr id="3" name="Text 1">
            <a:extLst>
              <a:ext uri="{FF2B5EF4-FFF2-40B4-BE49-F238E27FC236}">
                <a16:creationId xmlns:a16="http://schemas.microsoft.com/office/drawing/2014/main" id="{BE179A08-6F01-491D-BC95-57C3E5CFBFBB}"/>
              </a:ext>
            </a:extLst>
          </p:cNvPr>
          <p:cNvSpPr>
            <a:spLocks noGrp="1"/>
          </p:cNvSpPr>
          <p:nvPr/>
        </p:nvSpPr>
        <p:spPr>
          <a:xfrm>
            <a:off x="822960" y="2240280"/>
            <a:ext cx="8686800" cy="1097280"/>
          </a:xfrm>
          <a:prstGeom prst="rect">
            <a:avLst/>
          </a:prstGeom>
          <a:noFill/>
        </p:spPr>
        <p:txBody>
          <a:bodyPr wrap="square" lIns="0" tIns="0" rIns="0" bIns="0" anchor="ctr"/>
          <a:lstStyle/>
          <a:p>
            <a:pPr marL="0" indent="0">
              <a:lnSpc>
                <a:spcPct val="115000"/>
              </a:lnSpc>
              <a:buNone/>
            </a:pPr>
            <a:r>
              <a:rPr sz="1800">
                <a:solidFill>
                  <a:srgbClr val="F2E9E9"/>
                </a:solidFill>
                <a:latin typeface="Arial"/>
                <a:ea typeface="Arial"/>
                <a:cs typeface="Arial"/>
              </a:rPr>
              <a:t>Thanks for spending your lunch hour with me. If you’re tired of cleaning the same data the same way every week, you’ll get a lot from putting these steps to work.</a:t>
            </a:r>
            <a:endParaRPr sz="1800"/>
          </a:p>
        </p:txBody>
      </p:sp>
      <p:sp>
        <p:nvSpPr>
          <p:cNvPr id="4" name="Text 2">
            <a:extLst>
              <a:ext uri="{FF2B5EF4-FFF2-40B4-BE49-F238E27FC236}">
                <a16:creationId xmlns:a16="http://schemas.microsoft.com/office/drawing/2014/main" id="{6D24096F-D6BB-43F9-8800-38498E9EFCB0}"/>
              </a:ext>
            </a:extLst>
          </p:cNvPr>
          <p:cNvSpPr>
            <a:spLocks noGrp="1"/>
          </p:cNvSpPr>
          <p:nvPr/>
        </p:nvSpPr>
        <p:spPr>
          <a:xfrm>
            <a:off x="822960" y="3611880"/>
            <a:ext cx="2468880" cy="457200"/>
          </a:xfrm>
          <a:prstGeom prst="rect">
            <a:avLst/>
          </a:prstGeom>
          <a:noFill/>
        </p:spPr>
        <p:txBody>
          <a:bodyPr wrap="square" lIns="0" tIns="0" rIns="0" bIns="0" anchor="ctr"/>
          <a:lstStyle/>
          <a:p>
            <a:pPr marL="0" indent="0">
              <a:buNone/>
            </a:pPr>
            <a:r>
              <a:rPr sz="1300" b="1" spc="200">
                <a:solidFill>
                  <a:srgbClr val="F2A9AB"/>
                </a:solidFill>
                <a:latin typeface="Arial"/>
                <a:ea typeface="Arial"/>
                <a:cs typeface="Arial"/>
              </a:rPr>
              <a:t>WEBSITE</a:t>
            </a:r>
            <a:endParaRPr sz="1300"/>
          </a:p>
        </p:txBody>
      </p:sp>
      <p:sp>
        <p:nvSpPr>
          <p:cNvPr id="5" name="Text 3">
            <a:extLst>
              <a:ext uri="{FF2B5EF4-FFF2-40B4-BE49-F238E27FC236}">
                <a16:creationId xmlns:a16="http://schemas.microsoft.com/office/drawing/2014/main" id="{4B6A362F-7745-4C37-AC42-E4921205B2F6}"/>
              </a:ext>
            </a:extLst>
          </p:cNvPr>
          <p:cNvSpPr>
            <a:spLocks noGrp="1"/>
          </p:cNvSpPr>
          <p:nvPr/>
        </p:nvSpPr>
        <p:spPr>
          <a:xfrm>
            <a:off x="3291840" y="3611880"/>
            <a:ext cx="7315200" cy="457200"/>
          </a:xfrm>
          <a:prstGeom prst="rect">
            <a:avLst/>
          </a:prstGeom>
          <a:noFill/>
        </p:spPr>
        <p:txBody>
          <a:bodyPr wrap="square" lIns="0" tIns="0" rIns="0" bIns="0" anchor="ctr"/>
          <a:lstStyle/>
          <a:p>
            <a:pPr marL="0" indent="0">
              <a:buNone/>
            </a:pPr>
            <a:r>
              <a:rPr sz="1800">
                <a:solidFill>
                  <a:srgbClr val="FFFFFF"/>
                </a:solidFill>
                <a:latin typeface="Arial"/>
                <a:ea typeface="Arial"/>
                <a:cs typeface="Arial"/>
              </a:rPr>
              <a:t>stringfestanalytics.com</a:t>
            </a:r>
            <a:endParaRPr sz="1800"/>
          </a:p>
        </p:txBody>
      </p:sp>
      <p:sp>
        <p:nvSpPr>
          <p:cNvPr id="6" name="Text 4">
            <a:extLst>
              <a:ext uri="{FF2B5EF4-FFF2-40B4-BE49-F238E27FC236}">
                <a16:creationId xmlns:a16="http://schemas.microsoft.com/office/drawing/2014/main" id="{BC7C1415-254E-4924-8BB6-BF1C1666C0BC}"/>
              </a:ext>
            </a:extLst>
          </p:cNvPr>
          <p:cNvSpPr>
            <a:spLocks noGrp="1"/>
          </p:cNvSpPr>
          <p:nvPr/>
        </p:nvSpPr>
        <p:spPr>
          <a:xfrm>
            <a:off x="822960" y="4270248"/>
            <a:ext cx="2468880" cy="457200"/>
          </a:xfrm>
          <a:prstGeom prst="rect">
            <a:avLst/>
          </a:prstGeom>
          <a:noFill/>
        </p:spPr>
        <p:txBody>
          <a:bodyPr wrap="square" lIns="0" tIns="0" rIns="0" bIns="0" anchor="ctr"/>
          <a:lstStyle/>
          <a:p>
            <a:pPr marL="0" indent="0">
              <a:buNone/>
            </a:pPr>
            <a:r>
              <a:rPr sz="1300" b="1" spc="200">
                <a:solidFill>
                  <a:srgbClr val="F2A9AB"/>
                </a:solidFill>
                <a:latin typeface="Arial"/>
                <a:ea typeface="Arial"/>
                <a:cs typeface="Arial"/>
              </a:rPr>
              <a:t>EMAIL</a:t>
            </a:r>
            <a:endParaRPr sz="1300"/>
          </a:p>
        </p:txBody>
      </p:sp>
      <p:sp>
        <p:nvSpPr>
          <p:cNvPr id="7" name="Text 5">
            <a:extLst>
              <a:ext uri="{FF2B5EF4-FFF2-40B4-BE49-F238E27FC236}">
                <a16:creationId xmlns:a16="http://schemas.microsoft.com/office/drawing/2014/main" id="{ADBF97AF-7ACD-47D7-80D1-C8C25BCFC282}"/>
              </a:ext>
            </a:extLst>
          </p:cNvPr>
          <p:cNvSpPr>
            <a:spLocks noGrp="1"/>
          </p:cNvSpPr>
          <p:nvPr/>
        </p:nvSpPr>
        <p:spPr>
          <a:xfrm>
            <a:off x="3291840" y="4270248"/>
            <a:ext cx="7315200" cy="457200"/>
          </a:xfrm>
          <a:prstGeom prst="rect">
            <a:avLst/>
          </a:prstGeom>
          <a:noFill/>
        </p:spPr>
        <p:txBody>
          <a:bodyPr wrap="square" lIns="0" tIns="0" rIns="0" bIns="0" anchor="ctr"/>
          <a:lstStyle/>
          <a:p>
            <a:pPr marL="0" indent="0">
              <a:buNone/>
            </a:pPr>
            <a:r>
              <a:rPr sz="1800">
                <a:solidFill>
                  <a:srgbClr val="FFFFFF"/>
                </a:solidFill>
                <a:latin typeface="Arial"/>
                <a:ea typeface="Arial"/>
                <a:cs typeface="Arial"/>
              </a:rPr>
              <a:t>george@stringfestanalytics.com</a:t>
            </a:r>
            <a:endParaRPr sz="1800"/>
          </a:p>
        </p:txBody>
      </p:sp>
      <p:sp>
        <p:nvSpPr>
          <p:cNvPr id="8" name="Text 6">
            <a:extLst>
              <a:ext uri="{FF2B5EF4-FFF2-40B4-BE49-F238E27FC236}">
                <a16:creationId xmlns:a16="http://schemas.microsoft.com/office/drawing/2014/main" id="{3306A2ED-C69D-4E29-85AB-209111204B0F}"/>
              </a:ext>
            </a:extLst>
          </p:cNvPr>
          <p:cNvSpPr>
            <a:spLocks noGrp="1"/>
          </p:cNvSpPr>
          <p:nvPr/>
        </p:nvSpPr>
        <p:spPr>
          <a:xfrm>
            <a:off x="822960" y="4928616"/>
            <a:ext cx="2468880" cy="457200"/>
          </a:xfrm>
          <a:prstGeom prst="rect">
            <a:avLst/>
          </a:prstGeom>
          <a:noFill/>
        </p:spPr>
        <p:txBody>
          <a:bodyPr wrap="square" lIns="0" tIns="0" rIns="0" bIns="0" anchor="ctr"/>
          <a:lstStyle/>
          <a:p>
            <a:pPr marL="0" indent="0">
              <a:buNone/>
            </a:pPr>
            <a:r>
              <a:rPr sz="1300" b="1" spc="200">
                <a:solidFill>
                  <a:srgbClr val="F2A9AB"/>
                </a:solidFill>
                <a:latin typeface="Arial"/>
                <a:ea typeface="Arial"/>
                <a:cs typeface="Arial"/>
              </a:rPr>
              <a:t>LINKEDIN</a:t>
            </a:r>
            <a:endParaRPr sz="1300"/>
          </a:p>
        </p:txBody>
      </p:sp>
      <p:sp>
        <p:nvSpPr>
          <p:cNvPr id="9" name="Text 7">
            <a:extLst>
              <a:ext uri="{FF2B5EF4-FFF2-40B4-BE49-F238E27FC236}">
                <a16:creationId xmlns:a16="http://schemas.microsoft.com/office/drawing/2014/main" id="{7B9A65AE-207B-422B-8AD5-C34D63C54124}"/>
              </a:ext>
            </a:extLst>
          </p:cNvPr>
          <p:cNvSpPr>
            <a:spLocks noGrp="1"/>
          </p:cNvSpPr>
          <p:nvPr/>
        </p:nvSpPr>
        <p:spPr>
          <a:xfrm>
            <a:off x="3291840" y="4928616"/>
            <a:ext cx="7315200" cy="457200"/>
          </a:xfrm>
          <a:prstGeom prst="rect">
            <a:avLst/>
          </a:prstGeom>
          <a:noFill/>
        </p:spPr>
        <p:txBody>
          <a:bodyPr wrap="square" lIns="0" tIns="0" rIns="0" bIns="0" anchor="ctr"/>
          <a:lstStyle/>
          <a:p>
            <a:pPr marL="0" indent="0">
              <a:buNone/>
            </a:pPr>
            <a:r>
              <a:rPr sz="1800">
                <a:solidFill>
                  <a:srgbClr val="FFFFFF"/>
                </a:solidFill>
                <a:latin typeface="Arial"/>
                <a:ea typeface="Arial"/>
                <a:cs typeface="Arial"/>
              </a:rPr>
              <a:t>linkedin.com/in/gjmount</a:t>
            </a:r>
            <a:endParaRPr sz="1800"/>
          </a:p>
        </p:txBody>
      </p:sp>
      <p:sp>
        <p:nvSpPr>
          <p:cNvPr id="10" name="Text 8">
            <a:extLst>
              <a:ext uri="{FF2B5EF4-FFF2-40B4-BE49-F238E27FC236}">
                <a16:creationId xmlns:a16="http://schemas.microsoft.com/office/drawing/2014/main" id="{F4E8448B-D25B-4181-B69F-D5FDF794BAAD}"/>
              </a:ext>
            </a:extLst>
          </p:cNvPr>
          <p:cNvSpPr>
            <a:spLocks noGrp="1"/>
          </p:cNvSpPr>
          <p:nvPr/>
        </p:nvSpPr>
        <p:spPr>
          <a:xfrm>
            <a:off x="822960" y="5586984"/>
            <a:ext cx="2468880" cy="457200"/>
          </a:xfrm>
          <a:prstGeom prst="rect">
            <a:avLst/>
          </a:prstGeom>
          <a:noFill/>
        </p:spPr>
        <p:txBody>
          <a:bodyPr wrap="square" lIns="0" tIns="0" rIns="0" bIns="0" anchor="ctr"/>
          <a:lstStyle/>
          <a:p>
            <a:pPr marL="0" indent="0">
              <a:buNone/>
            </a:pPr>
            <a:r>
              <a:rPr sz="1300" b="1" spc="200">
                <a:solidFill>
                  <a:srgbClr val="F2A9AB"/>
                </a:solidFill>
                <a:latin typeface="Arial"/>
                <a:ea typeface="Arial"/>
                <a:cs typeface="Arial"/>
              </a:rPr>
              <a:t>RECORDING</a:t>
            </a:r>
            <a:endParaRPr sz="1300"/>
          </a:p>
        </p:txBody>
      </p:sp>
      <p:sp>
        <p:nvSpPr>
          <p:cNvPr id="11" name="Text 9">
            <a:extLst>
              <a:ext uri="{FF2B5EF4-FFF2-40B4-BE49-F238E27FC236}">
                <a16:creationId xmlns:a16="http://schemas.microsoft.com/office/drawing/2014/main" id="{E893AE74-C9CA-458C-956D-C47C874B46E6}"/>
              </a:ext>
            </a:extLst>
          </p:cNvPr>
          <p:cNvSpPr>
            <a:spLocks noGrp="1"/>
          </p:cNvSpPr>
          <p:nvPr/>
        </p:nvSpPr>
        <p:spPr>
          <a:xfrm>
            <a:off x="3291840" y="5586984"/>
            <a:ext cx="7315200" cy="457200"/>
          </a:xfrm>
          <a:prstGeom prst="rect">
            <a:avLst/>
          </a:prstGeom>
          <a:noFill/>
        </p:spPr>
        <p:txBody>
          <a:bodyPr wrap="square" lIns="0" tIns="0" rIns="0" bIns="0" anchor="ctr"/>
          <a:lstStyle/>
          <a:p>
            <a:r>
              <a:rPr sz="1800" b="0" i="0" dirty="0">
                <a:solidFill>
                  <a:schemeClr val="bg1"/>
                </a:solidFill>
                <a:latin typeface="Arial"/>
                <a:ea typeface="Arial"/>
                <a:cs typeface="Arial"/>
                <a:hlinkClick r:id="rId3">
                  <a:extLst>
                    <a:ext uri="{A12FA001-AC4F-418D-AE19-62706E023703}">
                      <ahyp:hlinkClr xmlns:ahyp="http://schemas.microsoft.com/office/drawing/2018/hyperlinkcolor" val="tx"/>
                    </a:ext>
                  </a:extLst>
                </a:hlinkClick>
              </a:rPr>
              <a:t>Available through my Stringfest membership</a:t>
            </a:r>
          </a:p>
        </p:txBody>
      </p:sp>
      <p:pic>
        <p:nvPicPr>
          <p:cNvPr id="23" name="Image 0"/>
          <p:cNvPicPr>
            <a:picLocks noChangeAspect="1"/>
          </p:cNvPicPr>
          <p:nvPr/>
        </p:nvPicPr>
        <p:blipFill>
          <a:blip r:embed="rId4"/>
          <a:stretch>
            <a:fillRect/>
          </a:stretch>
        </p:blipFill>
        <p:spPr>
          <a:xfrm>
            <a:off x="8595360" y="6126480"/>
            <a:ext cx="2926080" cy="401383"/>
          </a:xfrm>
          <a:prstGeom prst="rect">
            <a:avLst/>
          </a:prstGeom>
        </p:spPr>
      </p:pic>
    </p:spTree>
    <p:extLst>
      <p:ext uri="{BB962C8B-B14F-4D97-AF65-F5344CB8AC3E}">
        <p14:creationId xmlns:p14="http://schemas.microsoft.com/office/powerpoint/2010/main" val="1969797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pic>
        <p:nvPicPr>
          <p:cNvPr id="9" name="Image 0"/>
          <p:cNvPicPr>
            <a:picLocks noChangeAspect="1"/>
          </p:cNvPicPr>
          <p:nvPr/>
        </p:nvPicPr>
        <p:blipFill>
          <a:blip r:embed="rId3"/>
          <a:stretch>
            <a:fillRect/>
          </a:stretch>
        </p:blipFill>
        <p:spPr>
          <a:xfrm>
            <a:off x="502920" y="384048"/>
            <a:ext cx="1828800" cy="258305"/>
          </a:xfrm>
          <a:prstGeom prst="rect">
            <a:avLst/>
          </a:prstGeom>
        </p:spPr>
      </p:pic>
      <p:sp>
        <p:nvSpPr>
          <p:cNvPr id="3" name="Text 0">
            <a:extLst>
              <a:ext uri="{FF2B5EF4-FFF2-40B4-BE49-F238E27FC236}">
                <a16:creationId xmlns:a16="http://schemas.microsoft.com/office/drawing/2014/main" id="{D3E4022F-4A68-49C2-BC20-CAE58B352AB1}"/>
              </a:ext>
            </a:extLst>
          </p:cNvPr>
          <p:cNvSpPr>
            <a:spLocks noGrp="1"/>
          </p:cNvSpPr>
          <p:nvPr/>
        </p:nvSpPr>
        <p:spPr>
          <a:xfrm>
            <a:off x="548640" y="868680"/>
            <a:ext cx="10058400" cy="320040"/>
          </a:xfrm>
          <a:prstGeom prst="rect">
            <a:avLst/>
          </a:prstGeom>
          <a:noFill/>
        </p:spPr>
        <p:txBody>
          <a:bodyPr wrap="square" lIns="0" tIns="0" rIns="0" bIns="0" anchor="ctr"/>
          <a:lstStyle/>
          <a:p>
            <a:pPr marL="0" indent="0">
              <a:buNone/>
            </a:pPr>
            <a:r>
              <a:rPr sz="1300" b="1" spc="300">
                <a:solidFill>
                  <a:srgbClr val="CF3338"/>
                </a:solidFill>
                <a:latin typeface="Arial"/>
                <a:ea typeface="Arial"/>
                <a:cs typeface="Arial"/>
              </a:rPr>
              <a:t>BEFORE YOU GO</a:t>
            </a:r>
            <a:endParaRPr sz="1300"/>
          </a:p>
        </p:txBody>
      </p:sp>
      <p:sp>
        <p:nvSpPr>
          <p:cNvPr id="4" name="Text 1">
            <a:extLst>
              <a:ext uri="{FF2B5EF4-FFF2-40B4-BE49-F238E27FC236}">
                <a16:creationId xmlns:a16="http://schemas.microsoft.com/office/drawing/2014/main" id="{4EF9E2B5-EE02-4017-B56E-4AFBD468957C}"/>
              </a:ext>
            </a:extLst>
          </p:cNvPr>
          <p:cNvSpPr>
            <a:spLocks noGrp="1"/>
          </p:cNvSpPr>
          <p:nvPr/>
        </p:nvSpPr>
        <p:spPr>
          <a:xfrm>
            <a:off x="548640" y="1143000"/>
            <a:ext cx="11064240" cy="1097280"/>
          </a:xfrm>
          <a:prstGeom prst="rect">
            <a:avLst/>
          </a:prstGeom>
          <a:noFill/>
        </p:spPr>
        <p:txBody>
          <a:bodyPr wrap="square" lIns="0" tIns="0" rIns="0" bIns="0" anchor="ctr"/>
          <a:lstStyle/>
          <a:p>
            <a:pPr marL="0" indent="0" algn="l">
              <a:buNone/>
            </a:pPr>
            <a:r>
              <a:rPr sz="3800" b="1">
                <a:solidFill>
                  <a:srgbClr val="1F2120"/>
                </a:solidFill>
                <a:latin typeface="Arial Black"/>
                <a:ea typeface="Arial Black"/>
                <a:cs typeface="Arial Black"/>
              </a:rPr>
              <a:t>Recording and questions</a:t>
            </a:r>
            <a:endParaRPr sz="3800"/>
          </a:p>
        </p:txBody>
      </p:sp>
      <p:sp>
        <p:nvSpPr>
          <p:cNvPr id="5" name="Text 2">
            <a:extLst>
              <a:ext uri="{FF2B5EF4-FFF2-40B4-BE49-F238E27FC236}">
                <a16:creationId xmlns:a16="http://schemas.microsoft.com/office/drawing/2014/main" id="{0FDC5C52-7FF4-4151-A854-CE6EF135A650}"/>
              </a:ext>
            </a:extLst>
          </p:cNvPr>
          <p:cNvSpPr>
            <a:spLocks noGrp="1"/>
          </p:cNvSpPr>
          <p:nvPr/>
        </p:nvSpPr>
        <p:spPr>
          <a:xfrm>
            <a:off x="640080" y="2331720"/>
            <a:ext cx="10424160" cy="1463040"/>
          </a:xfrm>
          <a:prstGeom prst="rect">
            <a:avLst/>
          </a:prstGeom>
          <a:noFill/>
        </p:spPr>
        <p:txBody>
          <a:bodyPr wrap="square" lIns="0" tIns="0" rIns="0" bIns="0" anchor="ctr"/>
          <a:lstStyle/>
          <a:p>
            <a:pPr marL="0" indent="0">
              <a:lnSpc>
                <a:spcPct val="118000"/>
              </a:lnSpc>
              <a:buNone/>
            </a:pPr>
            <a:r>
              <a:rPr sz="2000">
                <a:solidFill>
                  <a:srgbClr val="707070"/>
                </a:solidFill>
                <a:latin typeface="Arial"/>
                <a:ea typeface="Arial"/>
                <a:cs typeface="Arial"/>
              </a:rPr>
              <a:t>Happy to take questions while we’re together. The recording will be available through my Stringfest membership. Keep the supplied workbook and demo notes for practice.</a:t>
            </a:r>
            <a:endParaRPr sz="2000"/>
          </a:p>
        </p:txBody>
      </p:sp>
      <p:sp>
        <p:nvSpPr>
          <p:cNvPr id="6" name="Shape 3">
            <a:extLst>
              <a:ext uri="{FF2B5EF4-FFF2-40B4-BE49-F238E27FC236}">
                <a16:creationId xmlns:a16="http://schemas.microsoft.com/office/drawing/2014/main" id="{AFB6A696-DDC8-4B74-B4E6-8D43A8FE1D00}"/>
              </a:ext>
            </a:extLst>
          </p:cNvPr>
          <p:cNvSpPr>
            <a:spLocks noGrp="1"/>
          </p:cNvSpPr>
          <p:nvPr/>
        </p:nvSpPr>
        <p:spPr>
          <a:xfrm>
            <a:off x="640080" y="4069080"/>
            <a:ext cx="7132320" cy="685800"/>
          </a:xfrm>
          <a:prstGeom prst="rect">
            <a:avLst/>
          </a:prstGeom>
          <a:solidFill>
            <a:srgbClr val="CF3338"/>
          </a:solidFill>
        </p:spPr>
        <p:txBody>
          <a:bodyPr/>
          <a:lstStyle/>
          <a:p>
            <a:endParaRPr/>
          </a:p>
        </p:txBody>
      </p:sp>
      <p:sp>
        <p:nvSpPr>
          <p:cNvPr id="7" name="Text 4">
            <a:extLst>
              <a:ext uri="{FF2B5EF4-FFF2-40B4-BE49-F238E27FC236}">
                <a16:creationId xmlns:a16="http://schemas.microsoft.com/office/drawing/2014/main" id="{ACC5894F-CB66-428D-9AAA-36E3D1D94C61}"/>
              </a:ext>
            </a:extLst>
          </p:cNvPr>
          <p:cNvSpPr>
            <a:spLocks noGrp="1"/>
          </p:cNvSpPr>
          <p:nvPr/>
        </p:nvSpPr>
        <p:spPr>
          <a:xfrm>
            <a:off x="640080" y="4069080"/>
            <a:ext cx="7132320" cy="685800"/>
          </a:xfrm>
          <a:prstGeom prst="rect">
            <a:avLst/>
          </a:prstGeom>
          <a:noFill/>
        </p:spPr>
        <p:txBody>
          <a:bodyPr wrap="square" lIns="0" tIns="0" rIns="0" bIns="0" anchor="ctr"/>
          <a:lstStyle/>
          <a:p>
            <a:pPr algn="ctr">
              <a:buNone/>
            </a:pPr>
            <a:r>
              <a:rPr sz="1600" b="1" i="0" dirty="0">
                <a:solidFill>
                  <a:schemeClr val="bg1"/>
                </a:solidFill>
                <a:latin typeface="Arial"/>
                <a:ea typeface="Arial"/>
                <a:cs typeface="Arial"/>
                <a:hlinkClick r:id="rId4">
                  <a:extLst>
                    <a:ext uri="{A12FA001-AC4F-418D-AE19-62706E023703}">
                      <ahyp:hlinkClr xmlns:ahyp="http://schemas.microsoft.com/office/drawing/2018/hyperlinkcolor" val="tx"/>
                    </a:ext>
                  </a:extLst>
                </a:hlinkClick>
              </a:rPr>
              <a:t>Get the recording through my membership</a:t>
            </a:r>
          </a:p>
        </p:txBody>
      </p:sp>
    </p:spTree>
    <p:extLst>
      <p:ext uri="{BB962C8B-B14F-4D97-AF65-F5344CB8AC3E}">
        <p14:creationId xmlns:p14="http://schemas.microsoft.com/office/powerpoint/2010/main" val="5530194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1745</Words>
  <Application>Microsoft Office PowerPoint</Application>
  <DocSecurity>0</DocSecurity>
  <PresentationFormat>Widescreen</PresentationFormat>
  <Paragraphs>137</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Arial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George Mount</cp:lastModifiedBy>
  <cp:revision>1</cp:revision>
  <dcterms:created xsi:type="dcterms:W3CDTF">2026-09-09T15:51:57Z</dcterms:created>
  <dcterms:modified xsi:type="dcterms:W3CDTF">2026-09-09T15:56:29Z</dcterms:modified>
</cp:coreProperties>
</file>