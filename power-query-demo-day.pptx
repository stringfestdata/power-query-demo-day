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Power Query Demo Day. This is a free, live demo. We'll watch real Power Query workflows together. Stop cleaning the same data by hand every week, and let's see how Power Query makes cleanup run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intro. I'm George Mount, founder of Stringfest Analytics. I write and teach on modern Excel analytics. Today is a preview of how I approach Excel training and consulting in real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build or maintain Excel workbooks for your job, this is for you. Repeated manual cleanup, workbooks that break with new data, data in the wrong shape. Power Query is built to make these go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set expectations. This is a practical live demo from real workflows. It is not a beginner class, not a feature tour, not a full hands-on workshop, and not a watch-and-forget webinar. The focus is reliability and maintainable workbooks.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how today works. We watch the workflows together. You do NOT need to download anything or follow along live. If you want to practice the examples yourself, the download files, replay, and practice materials are included with the membership. Watch live for free, then practice later with the membership.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walk through three examples drawn from real analytical work: getting comfortable in the Editor with profiling, repeatable refreshable cleanup with Applied Steps, and reshaping data with unpivot. The focus is not just how the tools work, but when they're worth using.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 the hood, Power Query is an extract, transform, load tool living inside Excel. The magic is that you define the steps once and they re-run automatically every refresh. Manual, repeat-every-week cleanup becomes a process that runs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get into the demos. Watch the overall workflow and the problems each step solves. You'll be able to redo every one of these yourself with the membership materials.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 getting comfortable in the Power Query Editor. Load the penguins table, set correct data types, and profile the columns: column quality, distribution, and statistics. Switch profiling to the entire dataset. The point is to see what's actually in your data before you touch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2, repeatable refreshable cleanup. We take a messy RSVP list and clean it once: remove blanks and duplicates, filter out bad records. Every action is recorded as an Applied Step. Then we add new records and Refresh, and watch the entire cleanup process repeat itself automatically. That's the payoff.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3, reshaping with unpivot. This data arrives in the wrong shape: one attribute spread across many columns, so you can't pivot it. Select those columns, Unpivot, and you get tidy Attribute and Value columns you can actually analyze. This is the step most people don't know exists, and it's painful to fix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takeaway is that it's about knowing when these tools are worth using. Profile first, build cleanup that re-runs on refresh, and reshape with unpivot. Do that and your reports stay consistent and refreshable instead of being rebuilt by hand every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you'd need to practice is in the membership: the download files for all three demos, the full replay, practice materials, and the growing archive of past sessions. Watch live for free, then practice later with the membership.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ways to keep going. My O'Reilly book, Modern Data Analytics in Excel, goes deep on Power Query and Power Pivot. And if you want to go further, I work with individuals and organizations on Excel training and analytics consulting. Reach out and let's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joining Power Query Demo Day. Find me on LinkedIn or by email anytime, and remember the membership has everything you need to practice these examples yourself.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Any questions before we wrap? Today was free to watch live. To practice on your own, the files, replay, and materials are all in the membership. And I'd love your feedback or a testimonial. Thanks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stringfestdata.gumroad.com/l/mxlais?layout=profile" TargetMode="External"/><Relationship Id="rId1"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stringfestdata.gumroad.com/l/mxlais?layout=profile" TargetMode="External"/><Relationship Id="rId1" Type="http://schemas.openxmlformats.org/officeDocument/2006/relationships/image" Target="../media/image-13-1.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stringfestanalytics.com/maxl/" TargetMode="External"/><Relationship Id="rId1" Type="http://schemas.openxmlformats.org/officeDocument/2006/relationships/image" Target="../media/image-14-1.png"/><Relationship Id="rId2" Type="http://schemas.openxmlformats.org/officeDocument/2006/relationships/image" Target="../media/image-14-2.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stringfestdata.gumroad.com/l/mxlais?layout=profile" TargetMode="External"/><Relationship Id="rId1" Type="http://schemas.openxmlformats.org/officeDocument/2006/relationships/image" Target="../media/image-16-1.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EECE1"/>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CF3338"/>
          </a:solidFill>
          <a:ln/>
        </p:spPr>
      </p:sp>
      <p:pic>
        <p:nvPicPr>
          <p:cNvPr id="3" name="Image 0" descr="/sessions/charming-zealous-noether/mnt/outputs/deckassets/stringfest-logo-dark.png">    </p:cNvPr>
          <p:cNvPicPr>
            <a:picLocks noChangeAspect="1"/>
          </p:cNvPicPr>
          <p:nvPr/>
        </p:nvPicPr>
        <p:blipFill>
          <a:blip r:embed="rId1"/>
          <a:stretch>
            <a:fillRect/>
          </a:stretch>
        </p:blipFill>
        <p:spPr>
          <a:xfrm>
            <a:off x="777240" y="640080"/>
            <a:ext cx="2011680" cy="1177569"/>
          </a:xfrm>
          <a:prstGeom prst="rect">
            <a:avLst/>
          </a:prstGeom>
        </p:spPr>
      </p:pic>
      <p:sp>
        <p:nvSpPr>
          <p:cNvPr id="4" name="Text 1"/>
          <p:cNvSpPr/>
          <p:nvPr/>
        </p:nvSpPr>
        <p:spPr>
          <a:xfrm>
            <a:off x="822960" y="2514600"/>
            <a:ext cx="10515600" cy="365760"/>
          </a:xfrm>
          <a:prstGeom prst="rect">
            <a:avLst/>
          </a:prstGeom>
          <a:noFill/>
          <a:ln/>
        </p:spPr>
        <p:txBody>
          <a:bodyPr wrap="square" lIns="0" tIns="0" rIns="0" bIns="0" rtlCol="0" anchor="ctr"/>
          <a:lstStyle/>
          <a:p>
            <a:pPr indent="0" marL="0">
              <a:buNone/>
            </a:pPr>
            <a:r>
              <a:rPr lang="en-US" sz="1500" b="1" spc="250" kern="0" dirty="0">
                <a:solidFill>
                  <a:srgbClr val="CF3338"/>
                </a:solidFill>
                <a:latin typeface="Arial" pitchFamily="34" charset="0"/>
                <a:ea typeface="Arial" pitchFamily="34" charset="-122"/>
                <a:cs typeface="Arial" pitchFamily="34" charset="-120"/>
              </a:rPr>
              <a:t>FREE LIVE DEMO  ·  EXCEL + AI LIVE</a:t>
            </a:r>
            <a:endParaRPr lang="en-US" sz="1500" dirty="0"/>
          </a:p>
        </p:txBody>
      </p:sp>
      <p:sp>
        <p:nvSpPr>
          <p:cNvPr id="5" name="Text 2"/>
          <p:cNvSpPr/>
          <p:nvPr/>
        </p:nvSpPr>
        <p:spPr>
          <a:xfrm>
            <a:off x="777240" y="2926080"/>
            <a:ext cx="11064240" cy="1005840"/>
          </a:xfrm>
          <a:prstGeom prst="rect">
            <a:avLst/>
          </a:prstGeom>
          <a:noFill/>
          <a:ln/>
        </p:spPr>
        <p:txBody>
          <a:bodyPr wrap="square" lIns="0" tIns="0" rIns="0" bIns="0" rtlCol="0" anchor="ctr"/>
          <a:lstStyle/>
          <a:p>
            <a:pPr indent="0" marL="0">
              <a:buNone/>
            </a:pPr>
            <a:r>
              <a:rPr lang="en-US" sz="5400" b="1" dirty="0">
                <a:solidFill>
                  <a:srgbClr val="1F2120"/>
                </a:solidFill>
                <a:latin typeface="Arial Black" pitchFamily="34" charset="0"/>
                <a:ea typeface="Arial Black" pitchFamily="34" charset="-122"/>
                <a:cs typeface="Arial Black" pitchFamily="34" charset="-120"/>
              </a:rPr>
              <a:t>Power Query Demo Day</a:t>
            </a:r>
            <a:endParaRPr lang="en-US" sz="5400" dirty="0"/>
          </a:p>
        </p:txBody>
      </p:sp>
      <p:sp>
        <p:nvSpPr>
          <p:cNvPr id="6" name="Text 3"/>
          <p:cNvSpPr/>
          <p:nvPr/>
        </p:nvSpPr>
        <p:spPr>
          <a:xfrm>
            <a:off x="822960" y="4114800"/>
            <a:ext cx="10607040" cy="502920"/>
          </a:xfrm>
          <a:prstGeom prst="rect">
            <a:avLst/>
          </a:prstGeom>
          <a:noFill/>
          <a:ln/>
        </p:spPr>
        <p:txBody>
          <a:bodyPr wrap="square" lIns="0" tIns="0" rIns="0" bIns="0" rtlCol="0" anchor="ctr"/>
          <a:lstStyle/>
          <a:p>
            <a:pPr indent="0" marL="0">
              <a:buNone/>
            </a:pPr>
            <a:r>
              <a:rPr lang="en-US" sz="2200" dirty="0">
                <a:solidFill>
                  <a:srgbClr val="707070"/>
                </a:solidFill>
                <a:latin typeface="Arial" pitchFamily="34" charset="0"/>
                <a:ea typeface="Arial" pitchFamily="34" charset="-122"/>
                <a:cs typeface="Arial" pitchFamily="34" charset="-120"/>
              </a:rPr>
              <a:t>First Steps for Power Query with Microsoft Excel</a:t>
            </a:r>
            <a:endParaRPr lang="en-US" sz="2200" dirty="0"/>
          </a:p>
        </p:txBody>
      </p:sp>
      <p:sp>
        <p:nvSpPr>
          <p:cNvPr id="7" name="Text 4"/>
          <p:cNvSpPr/>
          <p:nvPr/>
        </p:nvSpPr>
        <p:spPr>
          <a:xfrm>
            <a:off x="822960" y="5074920"/>
            <a:ext cx="10515600" cy="365760"/>
          </a:xfrm>
          <a:prstGeom prst="rect">
            <a:avLst/>
          </a:prstGeom>
          <a:noFill/>
          <a:ln/>
        </p:spPr>
        <p:txBody>
          <a:bodyPr wrap="square" lIns="0" tIns="0" rIns="0" bIns="0" rtlCol="0" anchor="ctr"/>
          <a:lstStyle/>
          <a:p>
            <a:pPr indent="0" marL="0">
              <a:buNone/>
            </a:pPr>
            <a:r>
              <a:rPr lang="en-US" sz="1600" b="1" dirty="0">
                <a:solidFill>
                  <a:srgbClr val="1F2120"/>
                </a:solidFill>
                <a:latin typeface="Arial" pitchFamily="34" charset="0"/>
                <a:ea typeface="Arial" pitchFamily="34" charset="-122"/>
                <a:cs typeface="Arial" pitchFamily="34" charset="-120"/>
              </a:rPr>
              <a:t>Wednesday, September 9</a:t>
            </a:r>
            <a:pPr indent="0" marL="0">
              <a:buNone/>
            </a:pPr>
            <a:r>
              <a:rPr lang="en-US" sz="1600" dirty="0">
                <a:solidFill>
                  <a:srgbClr val="707070"/>
                </a:solidFill>
                <a:latin typeface="Arial" pitchFamily="34" charset="0"/>
                <a:ea typeface="Arial" pitchFamily="34" charset="-122"/>
                <a:cs typeface="Arial" pitchFamily="34" charset="-120"/>
              </a:rPr>
              <a:t>   ·   12 to 1 PM EDT</a:t>
            </a:r>
            <a:endParaRPr lang="en-US" sz="1600" dirty="0"/>
          </a:p>
        </p:txBody>
      </p:sp>
      <p:sp>
        <p:nvSpPr>
          <p:cNvPr id="8" name="Text 5"/>
          <p:cNvSpPr/>
          <p:nvPr/>
        </p:nvSpPr>
        <p:spPr>
          <a:xfrm>
            <a:off x="822960" y="5623560"/>
            <a:ext cx="9144000" cy="365760"/>
          </a:xfrm>
          <a:prstGeom prst="rect">
            <a:avLst/>
          </a:prstGeom>
          <a:noFill/>
          <a:ln/>
        </p:spPr>
        <p:txBody>
          <a:bodyPr wrap="square" lIns="0" tIns="0" rIns="0" bIns="0" rtlCol="0" anchor="ctr"/>
          <a:lstStyle/>
          <a:p>
            <a:pPr indent="0" marL="0">
              <a:buNone/>
            </a:pPr>
            <a:r>
              <a:rPr lang="en-US" sz="1600" b="1" dirty="0">
                <a:solidFill>
                  <a:srgbClr val="1F2120"/>
                </a:solidFill>
                <a:latin typeface="Arial" pitchFamily="34" charset="0"/>
                <a:ea typeface="Arial" pitchFamily="34" charset="-122"/>
                <a:cs typeface="Arial" pitchFamily="34" charset="-120"/>
              </a:rPr>
              <a:t>George Mount</a:t>
            </a:r>
            <a:pPr indent="0" marL="0">
              <a:buNone/>
            </a:pPr>
            <a:r>
              <a:rPr lang="en-US" sz="1600" dirty="0">
                <a:solidFill>
                  <a:srgbClr val="707070"/>
                </a:solidFill>
                <a:latin typeface="Arial" pitchFamily="34" charset="0"/>
                <a:ea typeface="Arial" pitchFamily="34" charset="-122"/>
                <a:cs typeface="Arial" pitchFamily="34" charset="-120"/>
              </a:rPr>
              <a:t>   ·   Stringfest Analytics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C00000"/>
        </a:solidFill>
      </p:bgPr>
    </p:bg>
    <p:spTree>
      <p:nvGrpSpPr>
        <p:cNvPr id="1" name=""/>
        <p:cNvGrpSpPr/>
        <p:nvPr/>
      </p:nvGrpSpPr>
      <p:grpSpPr>
        <a:xfrm>
          <a:off x="0" y="0"/>
          <a:ext cx="0" cy="0"/>
          <a:chOff x="0" y="0"/>
          <a:chExt cx="0" cy="0"/>
        </a:xfrm>
      </p:grpSpPr>
      <p:sp>
        <p:nvSpPr>
          <p:cNvPr id="2" name="Text 0"/>
          <p:cNvSpPr/>
          <p:nvPr/>
        </p:nvSpPr>
        <p:spPr>
          <a:xfrm>
            <a:off x="822960" y="914400"/>
            <a:ext cx="10058400" cy="914400"/>
          </a:xfrm>
          <a:prstGeom prst="rect">
            <a:avLst/>
          </a:prstGeom>
          <a:noFill/>
          <a:ln/>
        </p:spPr>
        <p:txBody>
          <a:bodyPr wrap="square" lIns="0" tIns="0" rIns="0" bIns="0" rtlCol="0" anchor="ctr"/>
          <a:lstStyle/>
          <a:p>
            <a:pPr indent="0" marL="0">
              <a:buNone/>
            </a:pPr>
            <a:r>
              <a:rPr lang="en-US" sz="4400" b="1" dirty="0">
                <a:solidFill>
                  <a:srgbClr val="FFFFFF"/>
                </a:solidFill>
                <a:latin typeface="Arial Black" pitchFamily="34" charset="0"/>
                <a:ea typeface="Arial Black" pitchFamily="34" charset="-122"/>
                <a:cs typeface="Arial Black" pitchFamily="34" charset="-120"/>
              </a:rPr>
              <a:t>HI, I'M GEORGE</a:t>
            </a:r>
            <a:endParaRPr lang="en-US" sz="4400" dirty="0"/>
          </a:p>
        </p:txBody>
      </p:sp>
      <p:sp>
        <p:nvSpPr>
          <p:cNvPr id="3" name="Text 1"/>
          <p:cNvSpPr/>
          <p:nvPr/>
        </p:nvSpPr>
        <p:spPr>
          <a:xfrm>
            <a:off x="822960" y="2103120"/>
            <a:ext cx="8412480" cy="2743200"/>
          </a:xfrm>
          <a:prstGeom prst="rect">
            <a:avLst/>
          </a:prstGeom>
          <a:noFill/>
          <a:ln/>
        </p:spPr>
        <p:txBody>
          <a:bodyPr wrap="square" lIns="0" tIns="0" rIns="0" bIns="0" rtlCol="0" anchor="ctr"/>
          <a:lstStyle/>
          <a:p>
            <a:pPr indent="0" marL="0">
              <a:lnSpc>
                <a:spcPct val="115000"/>
              </a:lnSpc>
              <a:buNone/>
            </a:pPr>
            <a:r>
              <a:rPr lang="en-US" sz="2100" b="1" dirty="0">
                <a:solidFill>
                  <a:srgbClr val="FFFFFF"/>
                </a:solidFill>
                <a:latin typeface="Arial" pitchFamily="34" charset="0"/>
                <a:ea typeface="Arial" pitchFamily="34" charset="-122"/>
                <a:cs typeface="Arial" pitchFamily="34" charset="-120"/>
              </a:rPr>
              <a:t>I help Excel users move from fragile spreadsheets to confident, scalable analysis.</a:t>
            </a:r>
            <a:endParaRPr lang="en-US" sz="2100" dirty="0"/>
          </a:p>
          <a:p>
            <a:pPr indent="0" marL="0">
              <a:lnSpc>
                <a:spcPct val="115000"/>
              </a:lnSpc>
              <a:buNone/>
            </a:pPr>
            <a:r>
              <a:rPr lang="en-US" sz="1000" dirty="0">
                <a:solidFill>
                  <a:srgbClr val="FFFFFF"/>
                </a:solidFill>
                <a:latin typeface="Arial" pitchFamily="34" charset="0"/>
                <a:ea typeface="Arial" pitchFamily="34" charset="-122"/>
                <a:cs typeface="Arial" pitchFamily="34" charset="-120"/>
              </a:rPr>
              <a:t> </a:t>
            </a:r>
            <a:endParaRPr lang="en-US" sz="2100" dirty="0"/>
          </a:p>
          <a:p>
            <a:pPr indent="0" marL="0">
              <a:lnSpc>
                <a:spcPct val="115000"/>
              </a:lnSpc>
              <a:buNone/>
            </a:pPr>
            <a:r>
              <a:rPr lang="en-US" sz="2100" dirty="0">
                <a:solidFill>
                  <a:srgbClr val="F2E9E9"/>
                </a:solidFill>
                <a:latin typeface="Arial" pitchFamily="34" charset="0"/>
                <a:ea typeface="Arial" pitchFamily="34" charset="-122"/>
                <a:cs typeface="Arial" pitchFamily="34" charset="-120"/>
              </a:rPr>
              <a:t>Founder of Stringfest Analytics. Author of “Advancing into Analytics” and “Modern Data Analytics in Excel” (O’Reilly). Microsoft MVP and data-analytics trainer.</a:t>
            </a:r>
            <a:endParaRPr lang="en-US" sz="2100" dirty="0"/>
          </a:p>
        </p:txBody>
      </p:sp>
      <p:pic>
        <p:nvPicPr>
          <p:cNvPr id="4" name="Image 0" descr="/sessions/charming-zealous-noether/mnt/outputs/deckassets/stringfest-logo-white.png">    </p:cNvPr>
          <p:cNvPicPr>
            <a:picLocks noChangeAspect="1"/>
          </p:cNvPicPr>
          <p:nvPr/>
        </p:nvPicPr>
        <p:blipFill>
          <a:blip r:embed="rId1"/>
          <a:stretch>
            <a:fillRect/>
          </a:stretch>
        </p:blipFill>
        <p:spPr>
          <a:xfrm>
            <a:off x="822960" y="5943600"/>
            <a:ext cx="2926080" cy="401383"/>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EECE1"/>
        </a:solidFill>
      </p:bgPr>
    </p:bg>
    <p:spTree>
      <p:nvGrpSpPr>
        <p:cNvPr id="1" name=""/>
        <p:cNvGrpSpPr/>
        <p:nvPr/>
      </p:nvGrpSpPr>
      <p:grpSpPr>
        <a:xfrm>
          <a:off x="0" y="0"/>
          <a:ext cx="0" cy="0"/>
          <a:chOff x="0" y="0"/>
          <a:chExt cx="0" cy="0"/>
        </a:xfrm>
      </p:grpSpPr>
      <p:pic>
        <p:nvPicPr>
          <p:cNvPr id="2" name="Image 0" descr="/sessions/charming-zealous-noether/mnt/outputs/deckassets/stringfest-wordmark-dark.png">    </p:cNvPr>
          <p:cNvPicPr>
            <a:picLocks noChangeAspect="1"/>
          </p:cNvPicPr>
          <p:nvPr/>
        </p:nvPicPr>
        <p:blipFill>
          <a:blip r:embed="rId1"/>
          <a:stretch>
            <a:fillRect/>
          </a:stretch>
        </p:blipFill>
        <p:spPr>
          <a:xfrm>
            <a:off x="502920" y="384048"/>
            <a:ext cx="1828800" cy="258305"/>
          </a:xfrm>
          <a:prstGeom prst="rect">
            <a:avLst/>
          </a:prstGeom>
        </p:spPr>
      </p:pic>
      <p:sp>
        <p:nvSpPr>
          <p:cNvPr id="3" name="Text 0"/>
          <p:cNvSpPr/>
          <p:nvPr/>
        </p:nvSpPr>
        <p:spPr>
          <a:xfrm>
            <a:off x="548640" y="868680"/>
            <a:ext cx="10058400" cy="320040"/>
          </a:xfrm>
          <a:prstGeom prst="rect">
            <a:avLst/>
          </a:prstGeom>
          <a:noFill/>
          <a:ln/>
        </p:spPr>
        <p:txBody>
          <a:bodyPr wrap="square" lIns="0" tIns="0" rIns="0" bIns="0" rtlCol="0" anchor="ctr"/>
          <a:lstStyle/>
          <a:p>
            <a:pPr indent="0" marL="0">
              <a:buNone/>
            </a:pPr>
            <a:r>
              <a:rPr lang="en-US" sz="1300" b="1" spc="300" kern="0" dirty="0">
                <a:solidFill>
                  <a:srgbClr val="CF3338"/>
                </a:solidFill>
                <a:latin typeface="Arial" pitchFamily="34" charset="0"/>
                <a:ea typeface="Arial" pitchFamily="34" charset="-122"/>
                <a:cs typeface="Arial" pitchFamily="34" charset="-120"/>
              </a:rPr>
              <a:t>WHY YOU'RE HERE</a:t>
            </a:r>
            <a:endParaRPr lang="en-US" sz="1300" dirty="0"/>
          </a:p>
        </p:txBody>
      </p:sp>
      <p:sp>
        <p:nvSpPr>
          <p:cNvPr id="4" name="Text 1"/>
          <p:cNvSpPr/>
          <p:nvPr/>
        </p:nvSpPr>
        <p:spPr>
          <a:xfrm>
            <a:off x="548640" y="1143000"/>
            <a:ext cx="11064240" cy="1097280"/>
          </a:xfrm>
          <a:prstGeom prst="rect">
            <a:avLst/>
          </a:prstGeom>
          <a:noFill/>
          <a:ln/>
        </p:spPr>
        <p:txBody>
          <a:bodyPr wrap="square" lIns="0" tIns="0" rIns="0" bIns="0" rtlCol="0" anchor="ctr"/>
          <a:lstStyle/>
          <a:p>
            <a:pPr algn="l" indent="0" marL="0">
              <a:buNone/>
            </a:pPr>
            <a:r>
              <a:rPr lang="en-US" sz="3800" b="1" dirty="0">
                <a:solidFill>
                  <a:srgbClr val="1F2120"/>
                </a:solidFill>
                <a:latin typeface="Arial Black" pitchFamily="34" charset="0"/>
                <a:ea typeface="Arial Black" pitchFamily="34" charset="-122"/>
                <a:cs typeface="Arial Black" pitchFamily="34" charset="-120"/>
              </a:rPr>
              <a:t>Stop cleaning the same data by hand every week</a:t>
            </a:r>
            <a:endParaRPr lang="en-US" sz="3800" dirty="0"/>
          </a:p>
        </p:txBody>
      </p:sp>
      <p:sp>
        <p:nvSpPr>
          <p:cNvPr id="5" name="Text 2"/>
          <p:cNvSpPr/>
          <p:nvPr/>
        </p:nvSpPr>
        <p:spPr>
          <a:xfrm>
            <a:off x="640080" y="2331720"/>
            <a:ext cx="10424160" cy="822960"/>
          </a:xfrm>
          <a:prstGeom prst="rect">
            <a:avLst/>
          </a:prstGeom>
          <a:noFill/>
          <a:ln/>
        </p:spPr>
        <p:txBody>
          <a:bodyPr wrap="square" lIns="0" tIns="0" rIns="0" bIns="0" rtlCol="0" anchor="ctr"/>
          <a:lstStyle/>
          <a:p>
            <a:pPr indent="0" marL="0">
              <a:lnSpc>
                <a:spcPct val="112000"/>
              </a:lnSpc>
              <a:buNone/>
            </a:pPr>
            <a:r>
              <a:rPr lang="en-US" sz="1800" dirty="0">
                <a:solidFill>
                  <a:srgbClr val="707070"/>
                </a:solidFill>
                <a:latin typeface="Arial" pitchFamily="34" charset="0"/>
                <a:ea typeface="Arial" pitchFamily="34" charset="-122"/>
                <a:cs typeface="Arial" pitchFamily="34" charset="-120"/>
              </a:rPr>
              <a:t>This session is for professionals who use Excel and lose real time cleaning and reshaping data before they can actually use it. You probably know the feeling:</a:t>
            </a:r>
            <a:endParaRPr lang="en-US" sz="1800" dirty="0"/>
          </a:p>
        </p:txBody>
      </p:sp>
      <p:sp>
        <p:nvSpPr>
          <p:cNvPr id="6" name="Text 3"/>
          <p:cNvSpPr/>
          <p:nvPr/>
        </p:nvSpPr>
        <p:spPr>
          <a:xfrm>
            <a:off x="640080" y="3291840"/>
            <a:ext cx="10058400" cy="2743200"/>
          </a:xfrm>
          <a:prstGeom prst="rect">
            <a:avLst/>
          </a:prstGeom>
          <a:noFill/>
          <a:ln/>
        </p:spPr>
        <p:txBody>
          <a:bodyPr wrap="square" lIns="0" tIns="0" rIns="0" bIns="0" rtlCol="0" anchor="ctr"/>
          <a:lstStyle/>
          <a:p>
            <a:pPr marL="279400" indent="-279400">
              <a:spcAft>
                <a:spcPts val="1300"/>
              </a:spcAft>
              <a:buSzPct val="100000"/>
              <a:buChar char="•"/>
            </a:pPr>
            <a:r>
              <a:rPr lang="en-US" sz="1900" dirty="0">
                <a:solidFill>
                  <a:srgbClr val="1F2120"/>
                </a:solidFill>
                <a:latin typeface="Arial" pitchFamily="34" charset="0"/>
                <a:ea typeface="Arial" pitchFamily="34" charset="-122"/>
                <a:cs typeface="Arial" pitchFamily="34" charset="-120"/>
              </a:rPr>
              <a:t>Repeating the same manual cleanup before every report</a:t>
            </a:r>
            <a:endParaRPr lang="en-US" sz="1900" dirty="0"/>
          </a:p>
          <a:p>
            <a:pPr marL="279400" indent="-279400">
              <a:spcAft>
                <a:spcPts val="1300"/>
              </a:spcAft>
              <a:buSzPct val="100000"/>
              <a:buChar char="•"/>
            </a:pPr>
            <a:r>
              <a:rPr lang="en-US" sz="1900" dirty="0">
                <a:solidFill>
                  <a:srgbClr val="1F2120"/>
                </a:solidFill>
                <a:latin typeface="Arial" pitchFamily="34" charset="0"/>
                <a:ea typeface="Arial" pitchFamily="34" charset="-122"/>
                <a:cs typeface="Arial" pitchFamily="34" charset="-120"/>
              </a:rPr>
              <a:t>Workbooks that break the moment new data comes in</a:t>
            </a:r>
            <a:endParaRPr lang="en-US" sz="1900" dirty="0"/>
          </a:p>
          <a:p>
            <a:pPr marL="279400" indent="-279400">
              <a:spcAft>
                <a:spcPts val="1300"/>
              </a:spcAft>
              <a:buSzPct val="100000"/>
              <a:buChar char="•"/>
            </a:pPr>
            <a:r>
              <a:rPr lang="en-US" sz="1900" dirty="0">
                <a:solidFill>
                  <a:srgbClr val="1F2120"/>
                </a:solidFill>
                <a:latin typeface="Arial" pitchFamily="34" charset="0"/>
                <a:ea typeface="Arial" pitchFamily="34" charset="-122"/>
                <a:cs typeface="Arial" pitchFamily="34" charset="-120"/>
              </a:rPr>
              <a:t>Data that arrives in the wrong shape and is painful to rearrange</a:t>
            </a:r>
            <a:endParaRPr lang="en-US" sz="1900" dirty="0"/>
          </a:p>
          <a:p>
            <a:pPr marL="279400" indent="-279400">
              <a:spcAft>
                <a:spcPts val="1300"/>
              </a:spcAft>
              <a:buSzPct val="100000"/>
              <a:buChar char="•"/>
            </a:pPr>
            <a:r>
              <a:rPr lang="en-US" sz="1900" dirty="0">
                <a:solidFill>
                  <a:srgbClr val="1F2120"/>
                </a:solidFill>
                <a:latin typeface="Arial" pitchFamily="34" charset="0"/>
                <a:ea typeface="Arial" pitchFamily="34" charset="-122"/>
                <a:cs typeface="Arial" pitchFamily="34" charset="-120"/>
              </a:rPr>
              <a:t>One-off cleanup routines that never scale</a:t>
            </a:r>
            <a:endParaRPr lang="en-US" sz="1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EECE1"/>
        </a:solidFill>
      </p:bgPr>
    </p:bg>
    <p:spTree>
      <p:nvGrpSpPr>
        <p:cNvPr id="1" name=""/>
        <p:cNvGrpSpPr/>
        <p:nvPr/>
      </p:nvGrpSpPr>
      <p:grpSpPr>
        <a:xfrm>
          <a:off x="0" y="0"/>
          <a:ext cx="0" cy="0"/>
          <a:chOff x="0" y="0"/>
          <a:chExt cx="0" cy="0"/>
        </a:xfrm>
      </p:grpSpPr>
      <p:pic>
        <p:nvPicPr>
          <p:cNvPr id="2" name="Image 0" descr="/sessions/charming-zealous-noether/mnt/outputs/deckassets/stringfest-wordmark-dark.png">    </p:cNvPr>
          <p:cNvPicPr>
            <a:picLocks noChangeAspect="1"/>
          </p:cNvPicPr>
          <p:nvPr/>
        </p:nvPicPr>
        <p:blipFill>
          <a:blip r:embed="rId1"/>
          <a:stretch>
            <a:fillRect/>
          </a:stretch>
        </p:blipFill>
        <p:spPr>
          <a:xfrm>
            <a:off x="502920" y="384048"/>
            <a:ext cx="1828800" cy="258305"/>
          </a:xfrm>
          <a:prstGeom prst="rect">
            <a:avLst/>
          </a:prstGeom>
        </p:spPr>
      </p:pic>
      <p:sp>
        <p:nvSpPr>
          <p:cNvPr id="3" name="Text 0"/>
          <p:cNvSpPr/>
          <p:nvPr/>
        </p:nvSpPr>
        <p:spPr>
          <a:xfrm>
            <a:off x="548640" y="868680"/>
            <a:ext cx="10058400" cy="320040"/>
          </a:xfrm>
          <a:prstGeom prst="rect">
            <a:avLst/>
          </a:prstGeom>
          <a:noFill/>
          <a:ln/>
        </p:spPr>
        <p:txBody>
          <a:bodyPr wrap="square" lIns="0" tIns="0" rIns="0" bIns="0" rtlCol="0" anchor="ctr"/>
          <a:lstStyle/>
          <a:p>
            <a:pPr indent="0" marL="0">
              <a:buNone/>
            </a:pPr>
            <a:r>
              <a:rPr lang="en-US" sz="1300" b="1" spc="300" kern="0" dirty="0">
                <a:solidFill>
                  <a:srgbClr val="CF3338"/>
                </a:solidFill>
                <a:latin typeface="Arial" pitchFamily="34" charset="0"/>
                <a:ea typeface="Arial" pitchFamily="34" charset="-122"/>
                <a:cs typeface="Arial" pitchFamily="34" charset="-120"/>
              </a:rPr>
              <a:t>SET EXPECTATIONS</a:t>
            </a:r>
            <a:endParaRPr lang="en-US" sz="1300" dirty="0"/>
          </a:p>
        </p:txBody>
      </p:sp>
      <p:sp>
        <p:nvSpPr>
          <p:cNvPr id="4" name="Text 1"/>
          <p:cNvSpPr/>
          <p:nvPr/>
        </p:nvSpPr>
        <p:spPr>
          <a:xfrm>
            <a:off x="548640" y="1143000"/>
            <a:ext cx="11064240" cy="1097280"/>
          </a:xfrm>
          <a:prstGeom prst="rect">
            <a:avLst/>
          </a:prstGeom>
          <a:noFill/>
          <a:ln/>
        </p:spPr>
        <p:txBody>
          <a:bodyPr wrap="square" lIns="0" tIns="0" rIns="0" bIns="0" rtlCol="0" anchor="ctr"/>
          <a:lstStyle/>
          <a:p>
            <a:pPr algn="l" indent="0" marL="0">
              <a:buNone/>
            </a:pPr>
            <a:r>
              <a:rPr lang="en-US" sz="3800" b="1" dirty="0">
                <a:solidFill>
                  <a:srgbClr val="1F2120"/>
                </a:solidFill>
                <a:latin typeface="Arial Black" pitchFamily="34" charset="0"/>
                <a:ea typeface="Arial Black" pitchFamily="34" charset="-122"/>
                <a:cs typeface="Arial Black" pitchFamily="34" charset="-120"/>
              </a:rPr>
              <a:t>What this session is, and isn't</a:t>
            </a:r>
            <a:endParaRPr lang="en-US" sz="3800" dirty="0"/>
          </a:p>
        </p:txBody>
      </p:sp>
      <p:sp>
        <p:nvSpPr>
          <p:cNvPr id="5" name="Shape 2"/>
          <p:cNvSpPr/>
          <p:nvPr/>
        </p:nvSpPr>
        <p:spPr>
          <a:xfrm>
            <a:off x="640080" y="2331720"/>
            <a:ext cx="5349240" cy="3749040"/>
          </a:xfrm>
          <a:prstGeom prst="rect">
            <a:avLst/>
          </a:prstGeom>
          <a:solidFill>
            <a:srgbClr val="FFFFFF"/>
          </a:solidFill>
          <a:ln w="12700">
            <a:solidFill>
              <a:srgbClr val="DEDBCF"/>
            </a:solidFill>
            <a:prstDash val="solid"/>
          </a:ln>
          <a:effectLst>
            <a:outerShdw sx="100000" sy="100000" kx="0" ky="0" algn="bl" rotWithShape="0" blurRad="101600" dist="38100" dir="8100000">
              <a:srgbClr val="000000">
                <a:alpha val="12000"/>
              </a:srgbClr>
            </a:outerShdw>
          </a:effectLst>
        </p:spPr>
      </p:sp>
      <p:sp>
        <p:nvSpPr>
          <p:cNvPr id="6" name="Shape 3"/>
          <p:cNvSpPr/>
          <p:nvPr/>
        </p:nvSpPr>
        <p:spPr>
          <a:xfrm>
            <a:off x="640080" y="2331720"/>
            <a:ext cx="5349240" cy="128016"/>
          </a:xfrm>
          <a:prstGeom prst="rect">
            <a:avLst/>
          </a:prstGeom>
          <a:solidFill>
            <a:srgbClr val="CF3338"/>
          </a:solidFill>
          <a:ln/>
        </p:spPr>
      </p:sp>
      <p:sp>
        <p:nvSpPr>
          <p:cNvPr id="7" name="Text 4"/>
          <p:cNvSpPr/>
          <p:nvPr/>
        </p:nvSpPr>
        <p:spPr>
          <a:xfrm>
            <a:off x="914400" y="2560320"/>
            <a:ext cx="4572000" cy="365760"/>
          </a:xfrm>
          <a:prstGeom prst="rect">
            <a:avLst/>
          </a:prstGeom>
          <a:noFill/>
          <a:ln/>
        </p:spPr>
        <p:txBody>
          <a:bodyPr wrap="square" lIns="0" tIns="0" rIns="0" bIns="0" rtlCol="0" anchor="ctr"/>
          <a:lstStyle/>
          <a:p>
            <a:pPr indent="0" marL="0">
              <a:buNone/>
            </a:pPr>
            <a:r>
              <a:rPr lang="en-US" sz="1400" b="1" spc="200" kern="0" dirty="0">
                <a:solidFill>
                  <a:srgbClr val="CF3338"/>
                </a:solidFill>
                <a:latin typeface="Arial" pitchFamily="34" charset="0"/>
                <a:ea typeface="Arial" pitchFamily="34" charset="-122"/>
                <a:cs typeface="Arial" pitchFamily="34" charset="-120"/>
              </a:rPr>
              <a:t>IT IS</a:t>
            </a:r>
            <a:endParaRPr lang="en-US" sz="1400" dirty="0"/>
          </a:p>
        </p:txBody>
      </p:sp>
      <p:sp>
        <p:nvSpPr>
          <p:cNvPr id="8" name="Text 5"/>
          <p:cNvSpPr/>
          <p:nvPr/>
        </p:nvSpPr>
        <p:spPr>
          <a:xfrm>
            <a:off x="914400" y="3063240"/>
            <a:ext cx="4846320" cy="2834640"/>
          </a:xfrm>
          <a:prstGeom prst="rect">
            <a:avLst/>
          </a:prstGeom>
          <a:noFill/>
          <a:ln/>
        </p:spPr>
        <p:txBody>
          <a:bodyPr wrap="square" lIns="0" tIns="0" rIns="0" bIns="0" rtlCol="0" anchor="ctr"/>
          <a:lstStyle/>
          <a:p>
            <a:pPr marL="279400" indent="-279400">
              <a:spcAft>
                <a:spcPts val="1100"/>
              </a:spcAft>
              <a:buSzPct val="100000"/>
              <a:buChar char="✓"/>
            </a:pPr>
            <a:r>
              <a:rPr lang="en-US" sz="1500" dirty="0">
                <a:solidFill>
                  <a:srgbClr val="1F2120"/>
                </a:solidFill>
                <a:latin typeface="Arial" pitchFamily="34" charset="0"/>
                <a:ea typeface="Arial" pitchFamily="34" charset="-122"/>
                <a:cs typeface="Arial" pitchFamily="34" charset="-120"/>
              </a:rPr>
              <a:t>Practical demonstrations from real Excel workflows</a:t>
            </a:r>
            <a:endParaRPr lang="en-US" sz="1500" dirty="0"/>
          </a:p>
          <a:p>
            <a:pPr marL="279400" indent="-279400">
              <a:spcAft>
                <a:spcPts val="1100"/>
              </a:spcAft>
              <a:buSzPct val="100000"/>
              <a:buChar char="✓"/>
            </a:pPr>
            <a:r>
              <a:rPr lang="en-US" sz="1500" dirty="0">
                <a:solidFill>
                  <a:srgbClr val="1F2120"/>
                </a:solidFill>
                <a:latin typeface="Arial" pitchFamily="34" charset="0"/>
                <a:ea typeface="Arial" pitchFamily="34" charset="-122"/>
                <a:cs typeface="Arial" pitchFamily="34" charset="-120"/>
              </a:rPr>
              <a:t>A preview of how I approach Excel training &amp; consulting</a:t>
            </a:r>
            <a:endParaRPr lang="en-US" sz="1500" dirty="0"/>
          </a:p>
          <a:p>
            <a:pPr marL="279400" indent="-279400">
              <a:spcAft>
                <a:spcPts val="1100"/>
              </a:spcAft>
              <a:buSzPct val="100000"/>
              <a:buChar char="✓"/>
            </a:pPr>
            <a:r>
              <a:rPr lang="en-US" sz="1500" dirty="0">
                <a:solidFill>
                  <a:srgbClr val="1F2120"/>
                </a:solidFill>
                <a:latin typeface="Arial" pitchFamily="34" charset="0"/>
                <a:ea typeface="Arial" pitchFamily="34" charset="-122"/>
                <a:cs typeface="Arial" pitchFamily="34" charset="-120"/>
              </a:rPr>
              <a:t>Focused on reliability, structure &amp; maintainable workbooks</a:t>
            </a:r>
            <a:endParaRPr lang="en-US" sz="1500" dirty="0"/>
          </a:p>
          <a:p>
            <a:pPr marL="279400" indent="-279400">
              <a:spcAft>
                <a:spcPts val="1100"/>
              </a:spcAft>
              <a:buSzPct val="100000"/>
              <a:buChar char="✓"/>
            </a:pPr>
            <a:r>
              <a:rPr lang="en-US" sz="1500" dirty="0">
                <a:solidFill>
                  <a:srgbClr val="1F2120"/>
                </a:solidFill>
                <a:latin typeface="Arial" pitchFamily="34" charset="0"/>
                <a:ea typeface="Arial" pitchFamily="34" charset="-122"/>
                <a:cs typeface="Arial" pitchFamily="34" charset="-120"/>
              </a:rPr>
              <a:t>A chance to watch Power Query applied live</a:t>
            </a:r>
            <a:endParaRPr lang="en-US" sz="1500" dirty="0"/>
          </a:p>
        </p:txBody>
      </p:sp>
      <p:sp>
        <p:nvSpPr>
          <p:cNvPr id="9" name="Shape 6"/>
          <p:cNvSpPr/>
          <p:nvPr/>
        </p:nvSpPr>
        <p:spPr>
          <a:xfrm>
            <a:off x="6217920" y="2331720"/>
            <a:ext cx="5349240" cy="3749040"/>
          </a:xfrm>
          <a:prstGeom prst="rect">
            <a:avLst/>
          </a:prstGeom>
          <a:solidFill>
            <a:srgbClr val="FFFFFF"/>
          </a:solidFill>
          <a:ln w="12700">
            <a:solidFill>
              <a:srgbClr val="DEDBCF"/>
            </a:solidFill>
            <a:prstDash val="solid"/>
          </a:ln>
          <a:effectLst>
            <a:outerShdw sx="100000" sy="100000" kx="0" ky="0" algn="bl" rotWithShape="0" blurRad="101600" dist="38100" dir="8100000">
              <a:srgbClr val="000000">
                <a:alpha val="12000"/>
              </a:srgbClr>
            </a:outerShdw>
          </a:effectLst>
        </p:spPr>
      </p:sp>
      <p:sp>
        <p:nvSpPr>
          <p:cNvPr id="10" name="Shape 7"/>
          <p:cNvSpPr/>
          <p:nvPr/>
        </p:nvSpPr>
        <p:spPr>
          <a:xfrm>
            <a:off x="6217920" y="2331720"/>
            <a:ext cx="5349240" cy="128016"/>
          </a:xfrm>
          <a:prstGeom prst="rect">
            <a:avLst/>
          </a:prstGeom>
          <a:solidFill>
            <a:srgbClr val="9A9A9A"/>
          </a:solidFill>
          <a:ln/>
        </p:spPr>
      </p:sp>
      <p:sp>
        <p:nvSpPr>
          <p:cNvPr id="11" name="Text 8"/>
          <p:cNvSpPr/>
          <p:nvPr/>
        </p:nvSpPr>
        <p:spPr>
          <a:xfrm>
            <a:off x="6492240" y="2560320"/>
            <a:ext cx="4572000" cy="365760"/>
          </a:xfrm>
          <a:prstGeom prst="rect">
            <a:avLst/>
          </a:prstGeom>
          <a:noFill/>
          <a:ln/>
        </p:spPr>
        <p:txBody>
          <a:bodyPr wrap="square" lIns="0" tIns="0" rIns="0" bIns="0" rtlCol="0" anchor="ctr"/>
          <a:lstStyle/>
          <a:p>
            <a:pPr indent="0" marL="0">
              <a:buNone/>
            </a:pPr>
            <a:r>
              <a:rPr lang="en-US" sz="1400" b="1" spc="200" kern="0" dirty="0">
                <a:solidFill>
                  <a:srgbClr val="707070"/>
                </a:solidFill>
                <a:latin typeface="Arial" pitchFamily="34" charset="0"/>
                <a:ea typeface="Arial" pitchFamily="34" charset="-122"/>
                <a:cs typeface="Arial" pitchFamily="34" charset="-120"/>
              </a:rPr>
              <a:t>IT ISN'T</a:t>
            </a:r>
            <a:endParaRPr lang="en-US" sz="1400" dirty="0"/>
          </a:p>
        </p:txBody>
      </p:sp>
      <p:sp>
        <p:nvSpPr>
          <p:cNvPr id="12" name="Text 9"/>
          <p:cNvSpPr/>
          <p:nvPr/>
        </p:nvSpPr>
        <p:spPr>
          <a:xfrm>
            <a:off x="6492240" y="3063240"/>
            <a:ext cx="4846320" cy="2834640"/>
          </a:xfrm>
          <a:prstGeom prst="rect">
            <a:avLst/>
          </a:prstGeom>
          <a:noFill/>
          <a:ln/>
        </p:spPr>
        <p:txBody>
          <a:bodyPr wrap="square" lIns="0" tIns="0" rIns="0" bIns="0" rtlCol="0" anchor="ctr"/>
          <a:lstStyle/>
          <a:p>
            <a:pPr marL="279400" indent="-279400">
              <a:spcAft>
                <a:spcPts val="1100"/>
              </a:spcAft>
              <a:buSzPct val="100000"/>
              <a:buChar char="✕"/>
            </a:pPr>
            <a:r>
              <a:rPr lang="en-US" sz="1500" dirty="0">
                <a:solidFill>
                  <a:srgbClr val="707070"/>
                </a:solidFill>
                <a:latin typeface="Arial" pitchFamily="34" charset="0"/>
                <a:ea typeface="Arial" pitchFamily="34" charset="-122"/>
                <a:cs typeface="Arial" pitchFamily="34" charset="-120"/>
              </a:rPr>
              <a:t>A beginner Excel class</a:t>
            </a:r>
            <a:endParaRPr lang="en-US" sz="1500" dirty="0"/>
          </a:p>
          <a:p>
            <a:pPr marL="279400" indent="-279400">
              <a:spcAft>
                <a:spcPts val="1100"/>
              </a:spcAft>
              <a:buSzPct val="100000"/>
              <a:buChar char="✕"/>
            </a:pPr>
            <a:r>
              <a:rPr lang="en-US" sz="1500" dirty="0">
                <a:solidFill>
                  <a:srgbClr val="707070"/>
                </a:solidFill>
                <a:latin typeface="Arial" pitchFamily="34" charset="0"/>
                <a:ea typeface="Arial" pitchFamily="34" charset="-122"/>
                <a:cs typeface="Arial" pitchFamily="34" charset="-120"/>
              </a:rPr>
              <a:t>A feature tour of everything in Power Query</a:t>
            </a:r>
            <a:endParaRPr lang="en-US" sz="1500" dirty="0"/>
          </a:p>
          <a:p>
            <a:pPr marL="279400" indent="-279400">
              <a:spcAft>
                <a:spcPts val="1100"/>
              </a:spcAft>
              <a:buSzPct val="100000"/>
              <a:buChar char="✕"/>
            </a:pPr>
            <a:r>
              <a:rPr lang="en-US" sz="1500" dirty="0">
                <a:solidFill>
                  <a:srgbClr val="707070"/>
                </a:solidFill>
                <a:latin typeface="Arial" pitchFamily="34" charset="0"/>
                <a:ea typeface="Arial" pitchFamily="34" charset="-122"/>
                <a:cs typeface="Arial" pitchFamily="34" charset="-120"/>
              </a:rPr>
              <a:t>A full hands-on workshop</a:t>
            </a:r>
            <a:endParaRPr lang="en-US" sz="1500" dirty="0"/>
          </a:p>
          <a:p>
            <a:pPr marL="279400" indent="-279400">
              <a:spcAft>
                <a:spcPts val="1100"/>
              </a:spcAft>
              <a:buSzPct val="100000"/>
              <a:buChar char="✕"/>
            </a:pPr>
            <a:r>
              <a:rPr lang="en-US" sz="1500" dirty="0">
                <a:solidFill>
                  <a:srgbClr val="707070"/>
                </a:solidFill>
                <a:latin typeface="Arial" pitchFamily="34" charset="0"/>
                <a:ea typeface="Arial" pitchFamily="34" charset="-122"/>
                <a:cs typeface="Arial" pitchFamily="34" charset="-120"/>
              </a:rPr>
              <a:t>A passive “watch and forget” webinar</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EECE1"/>
        </a:solidFill>
      </p:bgPr>
    </p:bg>
    <p:spTree>
      <p:nvGrpSpPr>
        <p:cNvPr id="1" name=""/>
        <p:cNvGrpSpPr/>
        <p:nvPr/>
      </p:nvGrpSpPr>
      <p:grpSpPr>
        <a:xfrm>
          <a:off x="0" y="0"/>
          <a:ext cx="0" cy="0"/>
          <a:chOff x="0" y="0"/>
          <a:chExt cx="0" cy="0"/>
        </a:xfrm>
      </p:grpSpPr>
      <p:pic>
        <p:nvPicPr>
          <p:cNvPr id="2" name="Image 0" descr="/sessions/charming-zealous-noether/mnt/outputs/deckassets/stringfest-wordmark-dark.png">    </p:cNvPr>
          <p:cNvPicPr>
            <a:picLocks noChangeAspect="1"/>
          </p:cNvPicPr>
          <p:nvPr/>
        </p:nvPicPr>
        <p:blipFill>
          <a:blip r:embed="rId1"/>
          <a:stretch>
            <a:fillRect/>
          </a:stretch>
        </p:blipFill>
        <p:spPr>
          <a:xfrm>
            <a:off x="502920" y="384048"/>
            <a:ext cx="1828800" cy="258305"/>
          </a:xfrm>
          <a:prstGeom prst="rect">
            <a:avLst/>
          </a:prstGeom>
        </p:spPr>
      </p:pic>
      <p:sp>
        <p:nvSpPr>
          <p:cNvPr id="3" name="Text 0"/>
          <p:cNvSpPr/>
          <p:nvPr/>
        </p:nvSpPr>
        <p:spPr>
          <a:xfrm>
            <a:off x="548640" y="868680"/>
            <a:ext cx="10058400" cy="320040"/>
          </a:xfrm>
          <a:prstGeom prst="rect">
            <a:avLst/>
          </a:prstGeom>
          <a:noFill/>
          <a:ln/>
        </p:spPr>
        <p:txBody>
          <a:bodyPr wrap="square" lIns="0" tIns="0" rIns="0" bIns="0" rtlCol="0" anchor="ctr"/>
          <a:lstStyle/>
          <a:p>
            <a:pPr indent="0" marL="0">
              <a:buNone/>
            </a:pPr>
            <a:r>
              <a:rPr lang="en-US" sz="1300" b="1" spc="300" kern="0" dirty="0">
                <a:solidFill>
                  <a:srgbClr val="CF3338"/>
                </a:solidFill>
                <a:latin typeface="Arial" pitchFamily="34" charset="0"/>
                <a:ea typeface="Arial" pitchFamily="34" charset="-122"/>
                <a:cs typeface="Arial" pitchFamily="34" charset="-120"/>
              </a:rPr>
              <a:t>HOW TODAY WORKS</a:t>
            </a:r>
            <a:endParaRPr lang="en-US" sz="1300" dirty="0"/>
          </a:p>
        </p:txBody>
      </p:sp>
      <p:sp>
        <p:nvSpPr>
          <p:cNvPr id="4" name="Text 1"/>
          <p:cNvSpPr/>
          <p:nvPr/>
        </p:nvSpPr>
        <p:spPr>
          <a:xfrm>
            <a:off x="548640" y="1143000"/>
            <a:ext cx="11064240" cy="1097280"/>
          </a:xfrm>
          <a:prstGeom prst="rect">
            <a:avLst/>
          </a:prstGeom>
          <a:noFill/>
          <a:ln/>
        </p:spPr>
        <p:txBody>
          <a:bodyPr wrap="square" lIns="0" tIns="0" rIns="0" bIns="0" rtlCol="0" anchor="ctr"/>
          <a:lstStyle/>
          <a:p>
            <a:pPr algn="l" indent="0" marL="0">
              <a:buNone/>
            </a:pPr>
            <a:r>
              <a:rPr lang="en-US" sz="3800" b="1" dirty="0">
                <a:solidFill>
                  <a:srgbClr val="1F2120"/>
                </a:solidFill>
                <a:latin typeface="Arial Black" pitchFamily="34" charset="0"/>
                <a:ea typeface="Arial Black" pitchFamily="34" charset="-122"/>
                <a:cs typeface="Arial Black" pitchFamily="34" charset="-120"/>
              </a:rPr>
              <a:t>Watch live, free. Practice later.</a:t>
            </a:r>
            <a:endParaRPr lang="en-US" sz="3800" dirty="0"/>
          </a:p>
        </p:txBody>
      </p:sp>
      <p:sp>
        <p:nvSpPr>
          <p:cNvPr id="5" name="Text 2"/>
          <p:cNvSpPr/>
          <p:nvPr/>
        </p:nvSpPr>
        <p:spPr>
          <a:xfrm>
            <a:off x="640080" y="2286000"/>
            <a:ext cx="6492240" cy="1737360"/>
          </a:xfrm>
          <a:prstGeom prst="rect">
            <a:avLst/>
          </a:prstGeom>
          <a:noFill/>
          <a:ln/>
        </p:spPr>
        <p:txBody>
          <a:bodyPr wrap="square" lIns="0" tIns="0" rIns="0" bIns="0" rtlCol="0" anchor="ctr"/>
          <a:lstStyle/>
          <a:p>
            <a:pPr indent="0" marL="0">
              <a:lnSpc>
                <a:spcPct val="118000"/>
              </a:lnSpc>
              <a:buNone/>
            </a:pPr>
            <a:r>
              <a:rPr lang="en-US" sz="1900" dirty="0">
                <a:solidFill>
                  <a:srgbClr val="707070"/>
                </a:solidFill>
                <a:latin typeface="Arial" pitchFamily="34" charset="0"/>
                <a:ea typeface="Arial" pitchFamily="34" charset="-122"/>
                <a:cs typeface="Arial" pitchFamily="34" charset="-120"/>
              </a:rPr>
              <a:t>To keep things focused and moving, we’ll watch the workflows together during the session. </a:t>
            </a:r>
            <a:pPr indent="0" marL="0">
              <a:lnSpc>
                <a:spcPct val="118000"/>
              </a:lnSpc>
              <a:buNone/>
            </a:pPr>
            <a:r>
              <a:rPr lang="en-US" sz="1900" b="1" dirty="0">
                <a:solidFill>
                  <a:srgbClr val="1F2120"/>
                </a:solidFill>
                <a:latin typeface="Arial" pitchFamily="34" charset="0"/>
                <a:ea typeface="Arial" pitchFamily="34" charset="-122"/>
                <a:cs typeface="Arial" pitchFamily="34" charset="-120"/>
              </a:rPr>
              <a:t>No need to download anything or follow along right now. Just watch.</a:t>
            </a:r>
            <a:endParaRPr lang="en-US" sz="1900" dirty="0"/>
          </a:p>
        </p:txBody>
      </p:sp>
      <p:sp>
        <p:nvSpPr>
          <p:cNvPr id="6" name="Text 3"/>
          <p:cNvSpPr/>
          <p:nvPr/>
        </p:nvSpPr>
        <p:spPr>
          <a:xfrm>
            <a:off x="640080" y="3977640"/>
            <a:ext cx="6492240" cy="1645920"/>
          </a:xfrm>
          <a:prstGeom prst="rect">
            <a:avLst/>
          </a:prstGeom>
          <a:noFill/>
          <a:ln/>
        </p:spPr>
        <p:txBody>
          <a:bodyPr wrap="square" lIns="0" tIns="0" rIns="0" bIns="0" rtlCol="0" anchor="ctr"/>
          <a:lstStyle/>
          <a:p>
            <a:pPr indent="0" marL="0">
              <a:lnSpc>
                <a:spcPct val="118000"/>
              </a:lnSpc>
              <a:buNone/>
            </a:pPr>
            <a:r>
              <a:rPr lang="en-US" sz="1900" dirty="0">
                <a:solidFill>
                  <a:srgbClr val="707070"/>
                </a:solidFill>
                <a:latin typeface="Arial" pitchFamily="34" charset="0"/>
                <a:ea typeface="Arial" pitchFamily="34" charset="-122"/>
                <a:cs typeface="Arial" pitchFamily="34" charset="-120"/>
              </a:rPr>
              <a:t>Want to redo every example yourself? </a:t>
            </a:r>
            <a:pPr indent="0" marL="0">
              <a:lnSpc>
                <a:spcPct val="118000"/>
              </a:lnSpc>
              <a:buNone/>
            </a:pPr>
            <a:r>
              <a:rPr lang="en-US" sz="1900" b="1" dirty="0">
                <a:solidFill>
                  <a:srgbClr val="1F2120"/>
                </a:solidFill>
                <a:latin typeface="Arial" pitchFamily="34" charset="0"/>
                <a:ea typeface="Arial" pitchFamily="34" charset="-122"/>
                <a:cs typeface="Arial" pitchFamily="34" charset="-120"/>
              </a:rPr>
              <a:t>The download files, replay, and practice materials come with the membership</a:t>
            </a:r>
            <a:pPr indent="0" marL="0">
              <a:lnSpc>
                <a:spcPct val="118000"/>
              </a:lnSpc>
              <a:buNone/>
            </a:pPr>
            <a:r>
              <a:rPr lang="en-US" sz="1900" dirty="0">
                <a:solidFill>
                  <a:srgbClr val="707070"/>
                </a:solidFill>
                <a:latin typeface="Arial" pitchFamily="34" charset="0"/>
                <a:ea typeface="Arial" pitchFamily="34" charset="-122"/>
                <a:cs typeface="Arial" pitchFamily="34" charset="-120"/>
              </a:rPr>
              <a:t>, so you can work through it all on your own time.</a:t>
            </a:r>
            <a:endParaRPr lang="en-US" sz="1900" dirty="0"/>
          </a:p>
        </p:txBody>
      </p:sp>
      <p:sp>
        <p:nvSpPr>
          <p:cNvPr id="7" name="Shape 4"/>
          <p:cNvSpPr/>
          <p:nvPr/>
        </p:nvSpPr>
        <p:spPr>
          <a:xfrm>
            <a:off x="7635240" y="2286000"/>
            <a:ext cx="3886200" cy="3703320"/>
          </a:xfrm>
          <a:prstGeom prst="rect">
            <a:avLst/>
          </a:prstGeom>
          <a:solidFill>
            <a:srgbClr val="CF3338"/>
          </a:solidFill>
          <a:ln/>
        </p:spPr>
      </p:sp>
      <p:sp>
        <p:nvSpPr>
          <p:cNvPr id="8" name="Text 5"/>
          <p:cNvSpPr/>
          <p:nvPr/>
        </p:nvSpPr>
        <p:spPr>
          <a:xfrm>
            <a:off x="7909560" y="2560320"/>
            <a:ext cx="3383280" cy="365760"/>
          </a:xfrm>
          <a:prstGeom prst="rect">
            <a:avLst/>
          </a:prstGeom>
          <a:noFill/>
          <a:ln/>
        </p:spPr>
        <p:txBody>
          <a:bodyPr wrap="square" lIns="0" tIns="0" rIns="0" bIns="0" rtlCol="0" anchor="ctr"/>
          <a:lstStyle/>
          <a:p>
            <a:pPr indent="0" marL="0">
              <a:buNone/>
            </a:pPr>
            <a:r>
              <a:rPr lang="en-US" sz="1300" b="1" spc="200" kern="0" dirty="0">
                <a:solidFill>
                  <a:srgbClr val="F2D9DA"/>
                </a:solidFill>
                <a:latin typeface="Arial" pitchFamily="34" charset="0"/>
                <a:ea typeface="Arial" pitchFamily="34" charset="-122"/>
                <a:cs typeface="Arial" pitchFamily="34" charset="-120"/>
              </a:rPr>
              <a:t>THE DEAL</a:t>
            </a:r>
            <a:endParaRPr lang="en-US" sz="1300" dirty="0"/>
          </a:p>
        </p:txBody>
      </p:sp>
      <p:sp>
        <p:nvSpPr>
          <p:cNvPr id="9" name="Text 6"/>
          <p:cNvSpPr/>
          <p:nvPr/>
        </p:nvSpPr>
        <p:spPr>
          <a:xfrm>
            <a:off x="7909560" y="3108960"/>
            <a:ext cx="3383280" cy="1828800"/>
          </a:xfrm>
          <a:prstGeom prst="rect">
            <a:avLst/>
          </a:prstGeom>
          <a:noFill/>
          <a:ln/>
        </p:spPr>
        <p:txBody>
          <a:bodyPr wrap="square" lIns="0" tIns="0" rIns="0" bIns="0" rtlCol="0" anchor="ctr"/>
          <a:lstStyle/>
          <a:p>
            <a:pPr indent="0" marL="0">
              <a:lnSpc>
                <a:spcPct val="100000"/>
              </a:lnSpc>
              <a:buNone/>
            </a:pPr>
            <a:r>
              <a:rPr lang="en-US" sz="2300" b="1" dirty="0">
                <a:solidFill>
                  <a:srgbClr val="FFFFFF"/>
                </a:solidFill>
                <a:latin typeface="Arial Black" pitchFamily="34" charset="0"/>
                <a:ea typeface="Arial Black" pitchFamily="34" charset="-122"/>
                <a:cs typeface="Arial Black" pitchFamily="34" charset="-120"/>
              </a:rPr>
              <a:t>Watch live</a:t>
            </a:r>
            <a:endParaRPr lang="en-US" sz="2300" dirty="0"/>
          </a:p>
          <a:p>
            <a:pPr indent="0" marL="0">
              <a:lnSpc>
                <a:spcPct val="100000"/>
              </a:lnSpc>
              <a:buNone/>
            </a:pPr>
            <a:r>
              <a:rPr lang="en-US" sz="2300" dirty="0">
                <a:solidFill>
                  <a:srgbClr val="F4D7D8"/>
                </a:solidFill>
                <a:latin typeface="Arial Black" pitchFamily="34" charset="0"/>
                <a:ea typeface="Arial Black" pitchFamily="34" charset="-122"/>
                <a:cs typeface="Arial Black" pitchFamily="34" charset="-120"/>
              </a:rPr>
              <a:t>for free</a:t>
            </a:r>
            <a:endParaRPr lang="en-US" sz="2300" dirty="0"/>
          </a:p>
          <a:p>
            <a:pPr indent="0" marL="0">
              <a:lnSpc>
                <a:spcPct val="100000"/>
              </a:lnSpc>
              <a:buNone/>
            </a:pPr>
            <a:r>
              <a:rPr lang="en-US" sz="1400" dirty="0">
                <a:solidFill>
                  <a:srgbClr val="FFFFFF"/>
                </a:solidFill>
                <a:latin typeface="Arial Black" pitchFamily="34" charset="0"/>
                <a:ea typeface="Arial Black" pitchFamily="34" charset="-122"/>
                <a:cs typeface="Arial Black" pitchFamily="34" charset="-120"/>
              </a:rPr>
              <a:t> </a:t>
            </a:r>
            <a:endParaRPr lang="en-US" sz="2300" dirty="0"/>
          </a:p>
          <a:p>
            <a:pPr indent="0" marL="0">
              <a:lnSpc>
                <a:spcPct val="100000"/>
              </a:lnSpc>
              <a:buNone/>
            </a:pPr>
            <a:r>
              <a:rPr lang="en-US" sz="2300" b="1" dirty="0">
                <a:solidFill>
                  <a:srgbClr val="FFFFFF"/>
                </a:solidFill>
                <a:latin typeface="Arial Black" pitchFamily="34" charset="0"/>
                <a:ea typeface="Arial Black" pitchFamily="34" charset="-122"/>
                <a:cs typeface="Arial Black" pitchFamily="34" charset="-120"/>
              </a:rPr>
              <a:t>Practice later</a:t>
            </a:r>
            <a:endParaRPr lang="en-US" sz="2300" dirty="0"/>
          </a:p>
          <a:p>
            <a:pPr indent="0" marL="0">
              <a:lnSpc>
                <a:spcPct val="100000"/>
              </a:lnSpc>
              <a:buNone/>
            </a:pPr>
            <a:r>
              <a:rPr lang="en-US" sz="2300" dirty="0">
                <a:solidFill>
                  <a:srgbClr val="F4D7D8"/>
                </a:solidFill>
                <a:latin typeface="Arial Black" pitchFamily="34" charset="0"/>
                <a:ea typeface="Arial Black" pitchFamily="34" charset="-122"/>
                <a:cs typeface="Arial Black" pitchFamily="34" charset="-120"/>
              </a:rPr>
              <a:t>with the membership</a:t>
            </a:r>
            <a:endParaRPr lang="en-US" sz="2300" dirty="0"/>
          </a:p>
        </p:txBody>
      </p:sp>
      <p:sp>
        <p:nvSpPr>
          <p:cNvPr id="10" name="Text 7">
            <a:hlinkClick r:id="rId2" tooltip=""/>
          </p:cNvPr>
          <p:cNvSpPr/>
          <p:nvPr/>
        </p:nvSpPr>
        <p:spPr>
          <a:xfrm>
            <a:off x="7909560" y="5440680"/>
            <a:ext cx="3474720" cy="365760"/>
          </a:xfrm>
          <a:prstGeom prst="rect">
            <a:avLst/>
          </a:prstGeom>
          <a:noFill/>
          <a:ln/>
        </p:spPr>
        <p:txBody>
          <a:bodyPr wrap="square" lIns="0" tIns="0" rIns="0" bIns="0" rtlCol="0" anchor="ctr"/>
          <a:lstStyle/>
          <a:p>
            <a:pPr indent="0" marL="0">
              <a:buNone/>
            </a:pPr>
            <a:r>
              <a:rPr lang="en-US" sz="1250" b="1" u="sng" dirty="0">
                <a:solidFill>
                  <a:srgbClr val="FFFFF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stringfestdata.gumroad.com/l/mxlais</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EECE1"/>
        </a:solidFill>
      </p:bgPr>
    </p:bg>
    <p:spTree>
      <p:nvGrpSpPr>
        <p:cNvPr id="1" name=""/>
        <p:cNvGrpSpPr/>
        <p:nvPr/>
      </p:nvGrpSpPr>
      <p:grpSpPr>
        <a:xfrm>
          <a:off x="0" y="0"/>
          <a:ext cx="0" cy="0"/>
          <a:chOff x="0" y="0"/>
          <a:chExt cx="0" cy="0"/>
        </a:xfrm>
      </p:grpSpPr>
      <p:pic>
        <p:nvPicPr>
          <p:cNvPr id="2" name="Image 0" descr="/sessions/charming-zealous-noether/mnt/outputs/deckassets/stringfest-wordmark-dark.png">    </p:cNvPr>
          <p:cNvPicPr>
            <a:picLocks noChangeAspect="1"/>
          </p:cNvPicPr>
          <p:nvPr/>
        </p:nvPicPr>
        <p:blipFill>
          <a:blip r:embed="rId1"/>
          <a:stretch>
            <a:fillRect/>
          </a:stretch>
        </p:blipFill>
        <p:spPr>
          <a:xfrm>
            <a:off x="502920" y="384048"/>
            <a:ext cx="1828800" cy="258305"/>
          </a:xfrm>
          <a:prstGeom prst="rect">
            <a:avLst/>
          </a:prstGeom>
        </p:spPr>
      </p:pic>
      <p:sp>
        <p:nvSpPr>
          <p:cNvPr id="3" name="Text 0"/>
          <p:cNvSpPr/>
          <p:nvPr/>
        </p:nvSpPr>
        <p:spPr>
          <a:xfrm>
            <a:off x="548640" y="868680"/>
            <a:ext cx="10058400" cy="320040"/>
          </a:xfrm>
          <a:prstGeom prst="rect">
            <a:avLst/>
          </a:prstGeom>
          <a:noFill/>
          <a:ln/>
        </p:spPr>
        <p:txBody>
          <a:bodyPr wrap="square" lIns="0" tIns="0" rIns="0" bIns="0" rtlCol="0" anchor="ctr"/>
          <a:lstStyle/>
          <a:p>
            <a:pPr indent="0" marL="0">
              <a:buNone/>
            </a:pPr>
            <a:r>
              <a:rPr lang="en-US" sz="1300" b="1" spc="300" kern="0" dirty="0">
                <a:solidFill>
                  <a:srgbClr val="CF3338"/>
                </a:solidFill>
                <a:latin typeface="Arial" pitchFamily="34" charset="0"/>
                <a:ea typeface="Arial" pitchFamily="34" charset="-122"/>
                <a:cs typeface="Arial" pitchFamily="34" charset="-120"/>
              </a:rPr>
              <a:t>WHAT WE'LL COVER</a:t>
            </a:r>
            <a:endParaRPr lang="en-US" sz="1300" dirty="0"/>
          </a:p>
        </p:txBody>
      </p:sp>
      <p:sp>
        <p:nvSpPr>
          <p:cNvPr id="4" name="Text 1"/>
          <p:cNvSpPr/>
          <p:nvPr/>
        </p:nvSpPr>
        <p:spPr>
          <a:xfrm>
            <a:off x="548640" y="1143000"/>
            <a:ext cx="11064240" cy="1097280"/>
          </a:xfrm>
          <a:prstGeom prst="rect">
            <a:avLst/>
          </a:prstGeom>
          <a:noFill/>
          <a:ln/>
        </p:spPr>
        <p:txBody>
          <a:bodyPr wrap="square" lIns="0" tIns="0" rIns="0" bIns="0" rtlCol="0" anchor="ctr"/>
          <a:lstStyle/>
          <a:p>
            <a:pPr algn="l" indent="0" marL="0">
              <a:buNone/>
            </a:pPr>
            <a:r>
              <a:rPr lang="en-US" sz="3800" b="1" dirty="0">
                <a:solidFill>
                  <a:srgbClr val="1F2120"/>
                </a:solidFill>
                <a:latin typeface="Arial Black" pitchFamily="34" charset="0"/>
                <a:ea typeface="Arial Black" pitchFamily="34" charset="-122"/>
                <a:cs typeface="Arial Black" pitchFamily="34" charset="-120"/>
              </a:rPr>
              <a:t>Three examples from real analytical work</a:t>
            </a:r>
            <a:endParaRPr lang="en-US" sz="3800" dirty="0"/>
          </a:p>
        </p:txBody>
      </p:sp>
      <p:sp>
        <p:nvSpPr>
          <p:cNvPr id="5" name="Shape 2"/>
          <p:cNvSpPr/>
          <p:nvPr/>
        </p:nvSpPr>
        <p:spPr>
          <a:xfrm>
            <a:off x="640080" y="2514600"/>
            <a:ext cx="3520440" cy="2971800"/>
          </a:xfrm>
          <a:prstGeom prst="rect">
            <a:avLst/>
          </a:prstGeom>
          <a:solidFill>
            <a:srgbClr val="FFFFFF"/>
          </a:solidFill>
          <a:ln w="12700">
            <a:solidFill>
              <a:srgbClr val="DEDBCF"/>
            </a:solidFill>
            <a:prstDash val="solid"/>
          </a:ln>
          <a:effectLst>
            <a:outerShdw sx="100000" sy="100000" kx="0" ky="0" algn="bl" rotWithShape="0" blurRad="101600" dist="38100" dir="8100000">
              <a:srgbClr val="000000">
                <a:alpha val="12000"/>
              </a:srgbClr>
            </a:outerShdw>
          </a:effectLst>
        </p:spPr>
      </p:sp>
      <p:sp>
        <p:nvSpPr>
          <p:cNvPr id="6" name="Shape 3"/>
          <p:cNvSpPr/>
          <p:nvPr/>
        </p:nvSpPr>
        <p:spPr>
          <a:xfrm>
            <a:off x="640080" y="2514600"/>
            <a:ext cx="3520440" cy="128016"/>
          </a:xfrm>
          <a:prstGeom prst="rect">
            <a:avLst/>
          </a:prstGeom>
          <a:solidFill>
            <a:srgbClr val="CF3338"/>
          </a:solidFill>
          <a:ln/>
        </p:spPr>
      </p:sp>
      <p:sp>
        <p:nvSpPr>
          <p:cNvPr id="7" name="Shape 4"/>
          <p:cNvSpPr/>
          <p:nvPr/>
        </p:nvSpPr>
        <p:spPr>
          <a:xfrm>
            <a:off x="932688" y="2880360"/>
            <a:ext cx="777240" cy="777240"/>
          </a:xfrm>
          <a:prstGeom prst="ellipse">
            <a:avLst/>
          </a:prstGeom>
          <a:solidFill>
            <a:srgbClr val="CF3338"/>
          </a:solidFill>
          <a:ln/>
        </p:spPr>
      </p:sp>
      <p:sp>
        <p:nvSpPr>
          <p:cNvPr id="8" name="Text 5"/>
          <p:cNvSpPr/>
          <p:nvPr/>
        </p:nvSpPr>
        <p:spPr>
          <a:xfrm>
            <a:off x="932688" y="2880360"/>
            <a:ext cx="777240" cy="777240"/>
          </a:xfrm>
          <a:prstGeom prst="rect">
            <a:avLst/>
          </a:prstGeom>
          <a:noFill/>
          <a:ln/>
        </p:spPr>
        <p:txBody>
          <a:bodyPr wrap="square" lIns="0" tIns="0" rIns="0" bIns="0" rtlCol="0" anchor="ctr"/>
          <a:lstStyle/>
          <a:p>
            <a:pPr algn="ctr" indent="0" marL="0">
              <a:buNone/>
            </a:pPr>
            <a:r>
              <a:rPr lang="en-US" sz="2600" b="1" dirty="0">
                <a:solidFill>
                  <a:srgbClr val="FFFFFF"/>
                </a:solidFill>
                <a:latin typeface="Arial Black" pitchFamily="34" charset="0"/>
                <a:ea typeface="Arial Black" pitchFamily="34" charset="-122"/>
                <a:cs typeface="Arial Black" pitchFamily="34" charset="-120"/>
              </a:rPr>
              <a:t>1</a:t>
            </a:r>
            <a:endParaRPr lang="en-US" sz="2600" dirty="0"/>
          </a:p>
        </p:txBody>
      </p:sp>
      <p:sp>
        <p:nvSpPr>
          <p:cNvPr id="9" name="Text 6"/>
          <p:cNvSpPr/>
          <p:nvPr/>
        </p:nvSpPr>
        <p:spPr>
          <a:xfrm>
            <a:off x="932688" y="3813048"/>
            <a:ext cx="2935224" cy="822960"/>
          </a:xfrm>
          <a:prstGeom prst="rect">
            <a:avLst/>
          </a:prstGeom>
          <a:noFill/>
          <a:ln/>
        </p:spPr>
        <p:txBody>
          <a:bodyPr wrap="square" lIns="0" tIns="0" rIns="0" bIns="0" rtlCol="0" anchor="ctr"/>
          <a:lstStyle/>
          <a:p>
            <a:pPr indent="0" marL="0">
              <a:lnSpc>
                <a:spcPct val="100000"/>
              </a:lnSpc>
              <a:buNone/>
            </a:pPr>
            <a:r>
              <a:rPr lang="en-US" sz="1700" b="1" dirty="0">
                <a:solidFill>
                  <a:srgbClr val="1F2120"/>
                </a:solidFill>
                <a:latin typeface="Arial Black" pitchFamily="34" charset="0"/>
                <a:ea typeface="Arial Black" pitchFamily="34" charset="-122"/>
                <a:cs typeface="Arial Black" pitchFamily="34" charset="-120"/>
              </a:rPr>
              <a:t>Get comfortable in the Editor</a:t>
            </a:r>
            <a:endParaRPr lang="en-US" sz="1700" dirty="0"/>
          </a:p>
        </p:txBody>
      </p:sp>
      <p:sp>
        <p:nvSpPr>
          <p:cNvPr id="10" name="Text 7"/>
          <p:cNvSpPr/>
          <p:nvPr/>
        </p:nvSpPr>
        <p:spPr>
          <a:xfrm>
            <a:off x="932688" y="4572000"/>
            <a:ext cx="2935224" cy="914400"/>
          </a:xfrm>
          <a:prstGeom prst="rect">
            <a:avLst/>
          </a:prstGeom>
          <a:noFill/>
          <a:ln/>
        </p:spPr>
        <p:txBody>
          <a:bodyPr wrap="square" lIns="0" tIns="0" rIns="0" bIns="0" rtlCol="0" anchor="ctr"/>
          <a:lstStyle/>
          <a:p>
            <a:pPr indent="0" marL="0">
              <a:lnSpc>
                <a:spcPct val="108000"/>
              </a:lnSpc>
              <a:buNone/>
            </a:pPr>
            <a:r>
              <a:rPr lang="en-US" sz="1350" dirty="0">
                <a:solidFill>
                  <a:srgbClr val="707070"/>
                </a:solidFill>
                <a:latin typeface="Arial" pitchFamily="34" charset="0"/>
                <a:ea typeface="Arial" pitchFamily="34" charset="-122"/>
                <a:cs typeface="Arial" pitchFamily="34" charset="-120"/>
              </a:rPr>
              <a:t>Load a table, set correct data types, and profile your columns so you can see what’s actually in your data first.</a:t>
            </a:r>
            <a:endParaRPr lang="en-US" sz="1350" dirty="0"/>
          </a:p>
        </p:txBody>
      </p:sp>
      <p:sp>
        <p:nvSpPr>
          <p:cNvPr id="11" name="Shape 8"/>
          <p:cNvSpPr/>
          <p:nvPr/>
        </p:nvSpPr>
        <p:spPr>
          <a:xfrm>
            <a:off x="4480560" y="2514600"/>
            <a:ext cx="3520440" cy="2971800"/>
          </a:xfrm>
          <a:prstGeom prst="rect">
            <a:avLst/>
          </a:prstGeom>
          <a:solidFill>
            <a:srgbClr val="FFFFFF"/>
          </a:solidFill>
          <a:ln w="12700">
            <a:solidFill>
              <a:srgbClr val="DEDBCF"/>
            </a:solidFill>
            <a:prstDash val="solid"/>
          </a:ln>
          <a:effectLst>
            <a:outerShdw sx="100000" sy="100000" kx="0" ky="0" algn="bl" rotWithShape="0" blurRad="101600" dist="38100" dir="8100000">
              <a:srgbClr val="000000">
                <a:alpha val="12000"/>
              </a:srgbClr>
            </a:outerShdw>
          </a:effectLst>
        </p:spPr>
      </p:sp>
      <p:sp>
        <p:nvSpPr>
          <p:cNvPr id="12" name="Shape 9"/>
          <p:cNvSpPr/>
          <p:nvPr/>
        </p:nvSpPr>
        <p:spPr>
          <a:xfrm>
            <a:off x="4480560" y="2514600"/>
            <a:ext cx="3520440" cy="128016"/>
          </a:xfrm>
          <a:prstGeom prst="rect">
            <a:avLst/>
          </a:prstGeom>
          <a:solidFill>
            <a:srgbClr val="CF3338"/>
          </a:solidFill>
          <a:ln/>
        </p:spPr>
      </p:sp>
      <p:sp>
        <p:nvSpPr>
          <p:cNvPr id="13" name="Shape 10"/>
          <p:cNvSpPr/>
          <p:nvPr/>
        </p:nvSpPr>
        <p:spPr>
          <a:xfrm>
            <a:off x="4773168" y="2880360"/>
            <a:ext cx="777240" cy="777240"/>
          </a:xfrm>
          <a:prstGeom prst="ellipse">
            <a:avLst/>
          </a:prstGeom>
          <a:solidFill>
            <a:srgbClr val="CF3338"/>
          </a:solidFill>
          <a:ln/>
        </p:spPr>
      </p:sp>
      <p:sp>
        <p:nvSpPr>
          <p:cNvPr id="14" name="Text 11"/>
          <p:cNvSpPr/>
          <p:nvPr/>
        </p:nvSpPr>
        <p:spPr>
          <a:xfrm>
            <a:off x="4773168" y="2880360"/>
            <a:ext cx="777240" cy="777240"/>
          </a:xfrm>
          <a:prstGeom prst="rect">
            <a:avLst/>
          </a:prstGeom>
          <a:noFill/>
          <a:ln/>
        </p:spPr>
        <p:txBody>
          <a:bodyPr wrap="square" lIns="0" tIns="0" rIns="0" bIns="0" rtlCol="0" anchor="ctr"/>
          <a:lstStyle/>
          <a:p>
            <a:pPr algn="ctr" indent="0" marL="0">
              <a:buNone/>
            </a:pPr>
            <a:r>
              <a:rPr lang="en-US" sz="2600" b="1" dirty="0">
                <a:solidFill>
                  <a:srgbClr val="FFFFFF"/>
                </a:solidFill>
                <a:latin typeface="Arial Black" pitchFamily="34" charset="0"/>
                <a:ea typeface="Arial Black" pitchFamily="34" charset="-122"/>
                <a:cs typeface="Arial Black" pitchFamily="34" charset="-120"/>
              </a:rPr>
              <a:t>2</a:t>
            </a:r>
            <a:endParaRPr lang="en-US" sz="2600" dirty="0"/>
          </a:p>
        </p:txBody>
      </p:sp>
      <p:sp>
        <p:nvSpPr>
          <p:cNvPr id="15" name="Text 12"/>
          <p:cNvSpPr/>
          <p:nvPr/>
        </p:nvSpPr>
        <p:spPr>
          <a:xfrm>
            <a:off x="4773168" y="3813048"/>
            <a:ext cx="2935224" cy="822960"/>
          </a:xfrm>
          <a:prstGeom prst="rect">
            <a:avLst/>
          </a:prstGeom>
          <a:noFill/>
          <a:ln/>
        </p:spPr>
        <p:txBody>
          <a:bodyPr wrap="square" lIns="0" tIns="0" rIns="0" bIns="0" rtlCol="0" anchor="ctr"/>
          <a:lstStyle/>
          <a:p>
            <a:pPr indent="0" marL="0">
              <a:lnSpc>
                <a:spcPct val="100000"/>
              </a:lnSpc>
              <a:buNone/>
            </a:pPr>
            <a:r>
              <a:rPr lang="en-US" sz="1700" b="1" dirty="0">
                <a:solidFill>
                  <a:srgbClr val="1F2120"/>
                </a:solidFill>
                <a:latin typeface="Arial Black" pitchFamily="34" charset="0"/>
                <a:ea typeface="Arial Black" pitchFamily="34" charset="-122"/>
                <a:cs typeface="Arial Black" pitchFamily="34" charset="-120"/>
              </a:rPr>
              <a:t>Repeatable cleanup with Applied Steps</a:t>
            </a:r>
            <a:endParaRPr lang="en-US" sz="1700" dirty="0"/>
          </a:p>
        </p:txBody>
      </p:sp>
      <p:sp>
        <p:nvSpPr>
          <p:cNvPr id="16" name="Text 13"/>
          <p:cNvSpPr/>
          <p:nvPr/>
        </p:nvSpPr>
        <p:spPr>
          <a:xfrm>
            <a:off x="4773168" y="4572000"/>
            <a:ext cx="2935224" cy="914400"/>
          </a:xfrm>
          <a:prstGeom prst="rect">
            <a:avLst/>
          </a:prstGeom>
          <a:noFill/>
          <a:ln/>
        </p:spPr>
        <p:txBody>
          <a:bodyPr wrap="square" lIns="0" tIns="0" rIns="0" bIns="0" rtlCol="0" anchor="ctr"/>
          <a:lstStyle/>
          <a:p>
            <a:pPr indent="0" marL="0">
              <a:lnSpc>
                <a:spcPct val="108000"/>
              </a:lnSpc>
              <a:buNone/>
            </a:pPr>
            <a:r>
              <a:rPr lang="en-US" sz="1350" dirty="0">
                <a:solidFill>
                  <a:srgbClr val="707070"/>
                </a:solidFill>
                <a:latin typeface="Arial" pitchFamily="34" charset="0"/>
                <a:ea typeface="Arial" pitchFamily="34" charset="-122"/>
                <a:cs typeface="Arial" pitchFamily="34" charset="-120"/>
              </a:rPr>
              <a:t>Remove blanks &amp; duplicates, filter bad records, and build cleanup that re-runs automatically when the source changes.</a:t>
            </a:r>
            <a:endParaRPr lang="en-US" sz="1350" dirty="0"/>
          </a:p>
        </p:txBody>
      </p:sp>
      <p:sp>
        <p:nvSpPr>
          <p:cNvPr id="17" name="Shape 14"/>
          <p:cNvSpPr/>
          <p:nvPr/>
        </p:nvSpPr>
        <p:spPr>
          <a:xfrm>
            <a:off x="8321040" y="2514600"/>
            <a:ext cx="3520440" cy="2971800"/>
          </a:xfrm>
          <a:prstGeom prst="rect">
            <a:avLst/>
          </a:prstGeom>
          <a:solidFill>
            <a:srgbClr val="FFFFFF"/>
          </a:solidFill>
          <a:ln w="12700">
            <a:solidFill>
              <a:srgbClr val="DEDBCF"/>
            </a:solidFill>
            <a:prstDash val="solid"/>
          </a:ln>
          <a:effectLst>
            <a:outerShdw sx="100000" sy="100000" kx="0" ky="0" algn="bl" rotWithShape="0" blurRad="101600" dist="38100" dir="8100000">
              <a:srgbClr val="000000">
                <a:alpha val="12000"/>
              </a:srgbClr>
            </a:outerShdw>
          </a:effectLst>
        </p:spPr>
      </p:sp>
      <p:sp>
        <p:nvSpPr>
          <p:cNvPr id="18" name="Shape 15"/>
          <p:cNvSpPr/>
          <p:nvPr/>
        </p:nvSpPr>
        <p:spPr>
          <a:xfrm>
            <a:off x="8321040" y="2514600"/>
            <a:ext cx="3520440" cy="128016"/>
          </a:xfrm>
          <a:prstGeom prst="rect">
            <a:avLst/>
          </a:prstGeom>
          <a:solidFill>
            <a:srgbClr val="CF3338"/>
          </a:solidFill>
          <a:ln/>
        </p:spPr>
      </p:sp>
      <p:sp>
        <p:nvSpPr>
          <p:cNvPr id="19" name="Shape 16"/>
          <p:cNvSpPr/>
          <p:nvPr/>
        </p:nvSpPr>
        <p:spPr>
          <a:xfrm>
            <a:off x="8613648" y="2880360"/>
            <a:ext cx="777240" cy="777240"/>
          </a:xfrm>
          <a:prstGeom prst="ellipse">
            <a:avLst/>
          </a:prstGeom>
          <a:solidFill>
            <a:srgbClr val="CF3338"/>
          </a:solidFill>
          <a:ln/>
        </p:spPr>
      </p:sp>
      <p:sp>
        <p:nvSpPr>
          <p:cNvPr id="20" name="Text 17"/>
          <p:cNvSpPr/>
          <p:nvPr/>
        </p:nvSpPr>
        <p:spPr>
          <a:xfrm>
            <a:off x="8613648" y="2880360"/>
            <a:ext cx="777240" cy="777240"/>
          </a:xfrm>
          <a:prstGeom prst="rect">
            <a:avLst/>
          </a:prstGeom>
          <a:noFill/>
          <a:ln/>
        </p:spPr>
        <p:txBody>
          <a:bodyPr wrap="square" lIns="0" tIns="0" rIns="0" bIns="0" rtlCol="0" anchor="ctr"/>
          <a:lstStyle/>
          <a:p>
            <a:pPr algn="ctr" indent="0" marL="0">
              <a:buNone/>
            </a:pPr>
            <a:r>
              <a:rPr lang="en-US" sz="2600" b="1" dirty="0">
                <a:solidFill>
                  <a:srgbClr val="FFFFFF"/>
                </a:solidFill>
                <a:latin typeface="Arial Black" pitchFamily="34" charset="0"/>
                <a:ea typeface="Arial Black" pitchFamily="34" charset="-122"/>
                <a:cs typeface="Arial Black" pitchFamily="34" charset="-120"/>
              </a:rPr>
              <a:t>3</a:t>
            </a:r>
            <a:endParaRPr lang="en-US" sz="2600" dirty="0"/>
          </a:p>
        </p:txBody>
      </p:sp>
      <p:sp>
        <p:nvSpPr>
          <p:cNvPr id="21" name="Text 18"/>
          <p:cNvSpPr/>
          <p:nvPr/>
        </p:nvSpPr>
        <p:spPr>
          <a:xfrm>
            <a:off x="8613648" y="3813048"/>
            <a:ext cx="2935224" cy="822960"/>
          </a:xfrm>
          <a:prstGeom prst="rect">
            <a:avLst/>
          </a:prstGeom>
          <a:noFill/>
          <a:ln/>
        </p:spPr>
        <p:txBody>
          <a:bodyPr wrap="square" lIns="0" tIns="0" rIns="0" bIns="0" rtlCol="0" anchor="ctr"/>
          <a:lstStyle/>
          <a:p>
            <a:pPr indent="0" marL="0">
              <a:lnSpc>
                <a:spcPct val="100000"/>
              </a:lnSpc>
              <a:buNone/>
            </a:pPr>
            <a:r>
              <a:rPr lang="en-US" sz="1700" b="1" dirty="0">
                <a:solidFill>
                  <a:srgbClr val="1F2120"/>
                </a:solidFill>
                <a:latin typeface="Arial Black" pitchFamily="34" charset="0"/>
                <a:ea typeface="Arial Black" pitchFamily="34" charset="-122"/>
                <a:cs typeface="Arial Black" pitchFamily="34" charset="-120"/>
              </a:rPr>
              <a:t>Reshape with Unpivot</a:t>
            </a:r>
            <a:endParaRPr lang="en-US" sz="1700" dirty="0"/>
          </a:p>
        </p:txBody>
      </p:sp>
      <p:sp>
        <p:nvSpPr>
          <p:cNvPr id="22" name="Text 19"/>
          <p:cNvSpPr/>
          <p:nvPr/>
        </p:nvSpPr>
        <p:spPr>
          <a:xfrm>
            <a:off x="8613648" y="4572000"/>
            <a:ext cx="2935224" cy="914400"/>
          </a:xfrm>
          <a:prstGeom prst="rect">
            <a:avLst/>
          </a:prstGeom>
          <a:noFill/>
          <a:ln/>
        </p:spPr>
        <p:txBody>
          <a:bodyPr wrap="square" lIns="0" tIns="0" rIns="0" bIns="0" rtlCol="0" anchor="ctr"/>
          <a:lstStyle/>
          <a:p>
            <a:pPr indent="0" marL="0">
              <a:lnSpc>
                <a:spcPct val="108000"/>
              </a:lnSpc>
              <a:buNone/>
            </a:pPr>
            <a:r>
              <a:rPr lang="en-US" sz="1350" dirty="0">
                <a:solidFill>
                  <a:srgbClr val="707070"/>
                </a:solidFill>
                <a:latin typeface="Arial" pitchFamily="34" charset="0"/>
                <a:ea typeface="Arial" pitchFamily="34" charset="-122"/>
                <a:cs typeface="Arial" pitchFamily="34" charset="-120"/>
              </a:rPr>
              <a:t>Take data with one attribute spread across many columns and reshape it into something you can pivot and report on.</a:t>
            </a:r>
            <a:endParaRPr lang="en-US" sz="1350" dirty="0"/>
          </a:p>
        </p:txBody>
      </p:sp>
      <p:sp>
        <p:nvSpPr>
          <p:cNvPr id="23" name="Text 20"/>
          <p:cNvSpPr/>
          <p:nvPr/>
        </p:nvSpPr>
        <p:spPr>
          <a:xfrm>
            <a:off x="640080" y="5715000"/>
            <a:ext cx="10881360" cy="457200"/>
          </a:xfrm>
          <a:prstGeom prst="rect">
            <a:avLst/>
          </a:prstGeom>
          <a:noFill/>
          <a:ln/>
        </p:spPr>
        <p:txBody>
          <a:bodyPr wrap="square" lIns="0" tIns="0" rIns="0" bIns="0" rtlCol="0" anchor="ctr"/>
          <a:lstStyle/>
          <a:p>
            <a:pPr indent="0" marL="0">
              <a:buNone/>
            </a:pPr>
            <a:r>
              <a:rPr lang="en-US" sz="1500" i="1" dirty="0">
                <a:solidFill>
                  <a:srgbClr val="1F2120"/>
                </a:solidFill>
                <a:latin typeface="Arial" pitchFamily="34" charset="0"/>
                <a:ea typeface="Arial" pitchFamily="34" charset="-122"/>
                <a:cs typeface="Arial" pitchFamily="34" charset="-120"/>
              </a:rPr>
              <a:t>The focus isn’t just how the tools work. It’s when they’re worth using and what problems they solve.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EECE1"/>
        </a:solidFill>
      </p:bgPr>
    </p:bg>
    <p:spTree>
      <p:nvGrpSpPr>
        <p:cNvPr id="1" name=""/>
        <p:cNvGrpSpPr/>
        <p:nvPr/>
      </p:nvGrpSpPr>
      <p:grpSpPr>
        <a:xfrm>
          <a:off x="0" y="0"/>
          <a:ext cx="0" cy="0"/>
          <a:chOff x="0" y="0"/>
          <a:chExt cx="0" cy="0"/>
        </a:xfrm>
      </p:grpSpPr>
      <p:pic>
        <p:nvPicPr>
          <p:cNvPr id="2" name="Image 0" descr="/sessions/charming-zealous-noether/mnt/outputs/deckassets/stringfest-wordmark-dark.png">    </p:cNvPr>
          <p:cNvPicPr>
            <a:picLocks noChangeAspect="1"/>
          </p:cNvPicPr>
          <p:nvPr/>
        </p:nvPicPr>
        <p:blipFill>
          <a:blip r:embed="rId1"/>
          <a:stretch>
            <a:fillRect/>
          </a:stretch>
        </p:blipFill>
        <p:spPr>
          <a:xfrm>
            <a:off x="502920" y="384048"/>
            <a:ext cx="1828800" cy="258305"/>
          </a:xfrm>
          <a:prstGeom prst="rect">
            <a:avLst/>
          </a:prstGeom>
        </p:spPr>
      </p:pic>
      <p:sp>
        <p:nvSpPr>
          <p:cNvPr id="3" name="Text 0"/>
          <p:cNvSpPr/>
          <p:nvPr/>
        </p:nvSpPr>
        <p:spPr>
          <a:xfrm>
            <a:off x="548640" y="868680"/>
            <a:ext cx="10058400" cy="320040"/>
          </a:xfrm>
          <a:prstGeom prst="rect">
            <a:avLst/>
          </a:prstGeom>
          <a:noFill/>
          <a:ln/>
        </p:spPr>
        <p:txBody>
          <a:bodyPr wrap="square" lIns="0" tIns="0" rIns="0" bIns="0" rtlCol="0" anchor="ctr"/>
          <a:lstStyle/>
          <a:p>
            <a:pPr indent="0" marL="0">
              <a:buNone/>
            </a:pPr>
            <a:r>
              <a:rPr lang="en-US" sz="1300" b="1" spc="300" kern="0" dirty="0">
                <a:solidFill>
                  <a:srgbClr val="CF3338"/>
                </a:solidFill>
                <a:latin typeface="Arial" pitchFamily="34" charset="0"/>
                <a:ea typeface="Arial" pitchFamily="34" charset="-122"/>
                <a:cs typeface="Arial" pitchFamily="34" charset="-120"/>
              </a:rPr>
              <a:t>THE BIG IDEA</a:t>
            </a:r>
            <a:endParaRPr lang="en-US" sz="1300" dirty="0"/>
          </a:p>
        </p:txBody>
      </p:sp>
      <p:sp>
        <p:nvSpPr>
          <p:cNvPr id="4" name="Text 1"/>
          <p:cNvSpPr/>
          <p:nvPr/>
        </p:nvSpPr>
        <p:spPr>
          <a:xfrm>
            <a:off x="548640" y="1143000"/>
            <a:ext cx="11064240" cy="1097280"/>
          </a:xfrm>
          <a:prstGeom prst="rect">
            <a:avLst/>
          </a:prstGeom>
          <a:noFill/>
          <a:ln/>
        </p:spPr>
        <p:txBody>
          <a:bodyPr wrap="square" lIns="0" tIns="0" rIns="0" bIns="0" rtlCol="0" anchor="ctr"/>
          <a:lstStyle/>
          <a:p>
            <a:pPr algn="l" indent="0" marL="0">
              <a:buNone/>
            </a:pPr>
            <a:r>
              <a:rPr lang="en-US" sz="3800" b="1" dirty="0">
                <a:solidFill>
                  <a:srgbClr val="1F2120"/>
                </a:solidFill>
                <a:latin typeface="Arial Black" pitchFamily="34" charset="0"/>
                <a:ea typeface="Arial Black" pitchFamily="34" charset="-122"/>
                <a:cs typeface="Arial Black" pitchFamily="34" charset="-120"/>
              </a:rPr>
              <a:t>Power Query is ETL, built into Excel</a:t>
            </a:r>
            <a:endParaRPr lang="en-US" sz="3800" dirty="0"/>
          </a:p>
        </p:txBody>
      </p:sp>
      <p:sp>
        <p:nvSpPr>
          <p:cNvPr id="5" name="Shape 2"/>
          <p:cNvSpPr/>
          <p:nvPr/>
        </p:nvSpPr>
        <p:spPr>
          <a:xfrm>
            <a:off x="640080" y="2606040"/>
            <a:ext cx="3520440" cy="2468880"/>
          </a:xfrm>
          <a:prstGeom prst="rect">
            <a:avLst/>
          </a:prstGeom>
          <a:solidFill>
            <a:srgbClr val="FFFFFF"/>
          </a:solidFill>
          <a:ln w="12700">
            <a:solidFill>
              <a:srgbClr val="DEDBCF"/>
            </a:solidFill>
            <a:prstDash val="solid"/>
          </a:ln>
          <a:effectLst>
            <a:outerShdw sx="100000" sy="100000" kx="0" ky="0" algn="bl" rotWithShape="0" blurRad="101600" dist="38100" dir="8100000">
              <a:srgbClr val="000000">
                <a:alpha val="12000"/>
              </a:srgbClr>
            </a:outerShdw>
          </a:effectLst>
        </p:spPr>
      </p:sp>
      <p:sp>
        <p:nvSpPr>
          <p:cNvPr id="6" name="Shape 3"/>
          <p:cNvSpPr/>
          <p:nvPr/>
        </p:nvSpPr>
        <p:spPr>
          <a:xfrm>
            <a:off x="640080" y="2606040"/>
            <a:ext cx="3520440" cy="128016"/>
          </a:xfrm>
          <a:prstGeom prst="rect">
            <a:avLst/>
          </a:prstGeom>
          <a:solidFill>
            <a:srgbClr val="CF3338"/>
          </a:solidFill>
          <a:ln/>
        </p:spPr>
      </p:sp>
      <p:sp>
        <p:nvSpPr>
          <p:cNvPr id="7" name="Text 4"/>
          <p:cNvSpPr/>
          <p:nvPr/>
        </p:nvSpPr>
        <p:spPr>
          <a:xfrm>
            <a:off x="914400" y="2926080"/>
            <a:ext cx="914400" cy="640080"/>
          </a:xfrm>
          <a:prstGeom prst="rect">
            <a:avLst/>
          </a:prstGeom>
          <a:noFill/>
          <a:ln/>
        </p:spPr>
        <p:txBody>
          <a:bodyPr wrap="square" lIns="0" tIns="0" rIns="0" bIns="0" rtlCol="0" anchor="ctr"/>
          <a:lstStyle/>
          <a:p>
            <a:pPr indent="0" marL="0">
              <a:buNone/>
            </a:pPr>
            <a:r>
              <a:rPr lang="en-US" sz="3000" b="1" dirty="0">
                <a:solidFill>
                  <a:srgbClr val="E7C9CA"/>
                </a:solidFill>
                <a:latin typeface="Arial Black" pitchFamily="34" charset="0"/>
                <a:ea typeface="Arial Black" pitchFamily="34" charset="-122"/>
                <a:cs typeface="Arial Black" pitchFamily="34" charset="-120"/>
              </a:rPr>
              <a:t>1</a:t>
            </a:r>
            <a:endParaRPr lang="en-US" sz="3000" dirty="0"/>
          </a:p>
        </p:txBody>
      </p:sp>
      <p:sp>
        <p:nvSpPr>
          <p:cNvPr id="8" name="Text 5"/>
          <p:cNvSpPr/>
          <p:nvPr/>
        </p:nvSpPr>
        <p:spPr>
          <a:xfrm>
            <a:off x="932688" y="3566160"/>
            <a:ext cx="2971800" cy="457200"/>
          </a:xfrm>
          <a:prstGeom prst="rect">
            <a:avLst/>
          </a:prstGeom>
          <a:noFill/>
          <a:ln/>
        </p:spPr>
        <p:txBody>
          <a:bodyPr wrap="square" lIns="0" tIns="0" rIns="0" bIns="0" rtlCol="0" anchor="ctr"/>
          <a:lstStyle/>
          <a:p>
            <a:pPr indent="0" marL="0">
              <a:buNone/>
            </a:pPr>
            <a:r>
              <a:rPr lang="en-US" sz="2100" b="1" dirty="0">
                <a:solidFill>
                  <a:srgbClr val="1F2120"/>
                </a:solidFill>
                <a:latin typeface="Arial Black" pitchFamily="34" charset="0"/>
                <a:ea typeface="Arial Black" pitchFamily="34" charset="-122"/>
                <a:cs typeface="Arial Black" pitchFamily="34" charset="-120"/>
              </a:rPr>
              <a:t>Extract</a:t>
            </a:r>
            <a:endParaRPr lang="en-US" sz="2100" dirty="0"/>
          </a:p>
        </p:txBody>
      </p:sp>
      <p:sp>
        <p:nvSpPr>
          <p:cNvPr id="9" name="Text 6"/>
          <p:cNvSpPr/>
          <p:nvPr/>
        </p:nvSpPr>
        <p:spPr>
          <a:xfrm>
            <a:off x="932688" y="4069080"/>
            <a:ext cx="2971800" cy="914400"/>
          </a:xfrm>
          <a:prstGeom prst="rect">
            <a:avLst/>
          </a:prstGeom>
          <a:noFill/>
          <a:ln/>
        </p:spPr>
        <p:txBody>
          <a:bodyPr wrap="square" lIns="0" tIns="0" rIns="0" bIns="0" rtlCol="0" anchor="ctr"/>
          <a:lstStyle/>
          <a:p>
            <a:pPr indent="0" marL="0">
              <a:lnSpc>
                <a:spcPct val="110000"/>
              </a:lnSpc>
              <a:buNone/>
            </a:pPr>
            <a:r>
              <a:rPr lang="en-US" sz="1450" dirty="0">
                <a:solidFill>
                  <a:srgbClr val="707070"/>
                </a:solidFill>
                <a:latin typeface="Arial" pitchFamily="34" charset="0"/>
                <a:ea typeface="Arial" pitchFamily="34" charset="-122"/>
                <a:cs typeface="Arial" pitchFamily="34" charset="-120"/>
              </a:rPr>
              <a:t>Pull data in from a workbook, folder, database, or web page.</a:t>
            </a:r>
            <a:endParaRPr lang="en-US" sz="1450" dirty="0"/>
          </a:p>
        </p:txBody>
      </p:sp>
      <p:sp>
        <p:nvSpPr>
          <p:cNvPr id="10" name="Text 7"/>
          <p:cNvSpPr/>
          <p:nvPr/>
        </p:nvSpPr>
        <p:spPr>
          <a:xfrm>
            <a:off x="4114800" y="3429000"/>
            <a:ext cx="411480" cy="822960"/>
          </a:xfrm>
          <a:prstGeom prst="rect">
            <a:avLst/>
          </a:prstGeom>
          <a:noFill/>
          <a:ln/>
        </p:spPr>
        <p:txBody>
          <a:bodyPr wrap="square" lIns="0" tIns="0" rIns="0" bIns="0" rtlCol="0" anchor="ctr"/>
          <a:lstStyle/>
          <a:p>
            <a:pPr algn="ctr" indent="0" marL="0">
              <a:buNone/>
            </a:pPr>
            <a:r>
              <a:rPr lang="en-US" sz="2400" b="1" dirty="0">
                <a:solidFill>
                  <a:srgbClr val="CF3338"/>
                </a:solidFill>
                <a:latin typeface="Arial Black" pitchFamily="34" charset="0"/>
                <a:ea typeface="Arial Black" pitchFamily="34" charset="-122"/>
                <a:cs typeface="Arial Black" pitchFamily="34" charset="-120"/>
              </a:rPr>
              <a:t>→</a:t>
            </a:r>
            <a:endParaRPr lang="en-US" sz="2400" dirty="0"/>
          </a:p>
        </p:txBody>
      </p:sp>
      <p:sp>
        <p:nvSpPr>
          <p:cNvPr id="11" name="Shape 8"/>
          <p:cNvSpPr/>
          <p:nvPr/>
        </p:nvSpPr>
        <p:spPr>
          <a:xfrm>
            <a:off x="4480560" y="2606040"/>
            <a:ext cx="3520440" cy="2468880"/>
          </a:xfrm>
          <a:prstGeom prst="rect">
            <a:avLst/>
          </a:prstGeom>
          <a:solidFill>
            <a:srgbClr val="FFFFFF"/>
          </a:solidFill>
          <a:ln w="12700">
            <a:solidFill>
              <a:srgbClr val="DEDBCF"/>
            </a:solidFill>
            <a:prstDash val="solid"/>
          </a:ln>
          <a:effectLst>
            <a:outerShdw sx="100000" sy="100000" kx="0" ky="0" algn="bl" rotWithShape="0" blurRad="101600" dist="38100" dir="8100000">
              <a:srgbClr val="000000">
                <a:alpha val="12000"/>
              </a:srgbClr>
            </a:outerShdw>
          </a:effectLst>
        </p:spPr>
      </p:sp>
      <p:sp>
        <p:nvSpPr>
          <p:cNvPr id="12" name="Shape 9"/>
          <p:cNvSpPr/>
          <p:nvPr/>
        </p:nvSpPr>
        <p:spPr>
          <a:xfrm>
            <a:off x="4480560" y="2606040"/>
            <a:ext cx="3520440" cy="128016"/>
          </a:xfrm>
          <a:prstGeom prst="rect">
            <a:avLst/>
          </a:prstGeom>
          <a:solidFill>
            <a:srgbClr val="CF3338"/>
          </a:solidFill>
          <a:ln/>
        </p:spPr>
      </p:sp>
      <p:sp>
        <p:nvSpPr>
          <p:cNvPr id="13" name="Text 10"/>
          <p:cNvSpPr/>
          <p:nvPr/>
        </p:nvSpPr>
        <p:spPr>
          <a:xfrm>
            <a:off x="4754880" y="2926080"/>
            <a:ext cx="914400" cy="640080"/>
          </a:xfrm>
          <a:prstGeom prst="rect">
            <a:avLst/>
          </a:prstGeom>
          <a:noFill/>
          <a:ln/>
        </p:spPr>
        <p:txBody>
          <a:bodyPr wrap="square" lIns="0" tIns="0" rIns="0" bIns="0" rtlCol="0" anchor="ctr"/>
          <a:lstStyle/>
          <a:p>
            <a:pPr indent="0" marL="0">
              <a:buNone/>
            </a:pPr>
            <a:r>
              <a:rPr lang="en-US" sz="3000" b="1" dirty="0">
                <a:solidFill>
                  <a:srgbClr val="E7C9CA"/>
                </a:solidFill>
                <a:latin typeface="Arial Black" pitchFamily="34" charset="0"/>
                <a:ea typeface="Arial Black" pitchFamily="34" charset="-122"/>
                <a:cs typeface="Arial Black" pitchFamily="34" charset="-120"/>
              </a:rPr>
              <a:t>2</a:t>
            </a:r>
            <a:endParaRPr lang="en-US" sz="3000" dirty="0"/>
          </a:p>
        </p:txBody>
      </p:sp>
      <p:sp>
        <p:nvSpPr>
          <p:cNvPr id="14" name="Text 11"/>
          <p:cNvSpPr/>
          <p:nvPr/>
        </p:nvSpPr>
        <p:spPr>
          <a:xfrm>
            <a:off x="4773168" y="3566160"/>
            <a:ext cx="2971800" cy="457200"/>
          </a:xfrm>
          <a:prstGeom prst="rect">
            <a:avLst/>
          </a:prstGeom>
          <a:noFill/>
          <a:ln/>
        </p:spPr>
        <p:txBody>
          <a:bodyPr wrap="square" lIns="0" tIns="0" rIns="0" bIns="0" rtlCol="0" anchor="ctr"/>
          <a:lstStyle/>
          <a:p>
            <a:pPr indent="0" marL="0">
              <a:buNone/>
            </a:pPr>
            <a:r>
              <a:rPr lang="en-US" sz="2100" b="1" dirty="0">
                <a:solidFill>
                  <a:srgbClr val="1F2120"/>
                </a:solidFill>
                <a:latin typeface="Arial Black" pitchFamily="34" charset="0"/>
                <a:ea typeface="Arial Black" pitchFamily="34" charset="-122"/>
                <a:cs typeface="Arial Black" pitchFamily="34" charset="-120"/>
              </a:rPr>
              <a:t>Transform</a:t>
            </a:r>
            <a:endParaRPr lang="en-US" sz="2100" dirty="0"/>
          </a:p>
        </p:txBody>
      </p:sp>
      <p:sp>
        <p:nvSpPr>
          <p:cNvPr id="15" name="Text 12"/>
          <p:cNvSpPr/>
          <p:nvPr/>
        </p:nvSpPr>
        <p:spPr>
          <a:xfrm>
            <a:off x="4773168" y="4069080"/>
            <a:ext cx="2971800" cy="914400"/>
          </a:xfrm>
          <a:prstGeom prst="rect">
            <a:avLst/>
          </a:prstGeom>
          <a:noFill/>
          <a:ln/>
        </p:spPr>
        <p:txBody>
          <a:bodyPr wrap="square" lIns="0" tIns="0" rIns="0" bIns="0" rtlCol="0" anchor="ctr"/>
          <a:lstStyle/>
          <a:p>
            <a:pPr indent="0" marL="0">
              <a:lnSpc>
                <a:spcPct val="110000"/>
              </a:lnSpc>
              <a:buNone/>
            </a:pPr>
            <a:r>
              <a:rPr lang="en-US" sz="1450" dirty="0">
                <a:solidFill>
                  <a:srgbClr val="707070"/>
                </a:solidFill>
                <a:latin typeface="Arial" pitchFamily="34" charset="0"/>
                <a:ea typeface="Arial" pitchFamily="34" charset="-122"/>
                <a:cs typeface="Arial" pitchFamily="34" charset="-120"/>
              </a:rPr>
              <a:t>Clean, filter &amp; reshape it. Every step is recorded so it repeats.</a:t>
            </a:r>
            <a:endParaRPr lang="en-US" sz="1450" dirty="0"/>
          </a:p>
        </p:txBody>
      </p:sp>
      <p:sp>
        <p:nvSpPr>
          <p:cNvPr id="16" name="Text 13"/>
          <p:cNvSpPr/>
          <p:nvPr/>
        </p:nvSpPr>
        <p:spPr>
          <a:xfrm>
            <a:off x="7955280" y="3429000"/>
            <a:ext cx="411480" cy="822960"/>
          </a:xfrm>
          <a:prstGeom prst="rect">
            <a:avLst/>
          </a:prstGeom>
          <a:noFill/>
          <a:ln/>
        </p:spPr>
        <p:txBody>
          <a:bodyPr wrap="square" lIns="0" tIns="0" rIns="0" bIns="0" rtlCol="0" anchor="ctr"/>
          <a:lstStyle/>
          <a:p>
            <a:pPr algn="ctr" indent="0" marL="0">
              <a:buNone/>
            </a:pPr>
            <a:r>
              <a:rPr lang="en-US" sz="2400" b="1" dirty="0">
                <a:solidFill>
                  <a:srgbClr val="CF3338"/>
                </a:solidFill>
                <a:latin typeface="Arial Black" pitchFamily="34" charset="0"/>
                <a:ea typeface="Arial Black" pitchFamily="34" charset="-122"/>
                <a:cs typeface="Arial Black" pitchFamily="34" charset="-120"/>
              </a:rPr>
              <a:t>→</a:t>
            </a:r>
            <a:endParaRPr lang="en-US" sz="2400" dirty="0"/>
          </a:p>
        </p:txBody>
      </p:sp>
      <p:sp>
        <p:nvSpPr>
          <p:cNvPr id="17" name="Shape 14"/>
          <p:cNvSpPr/>
          <p:nvPr/>
        </p:nvSpPr>
        <p:spPr>
          <a:xfrm>
            <a:off x="8321040" y="2606040"/>
            <a:ext cx="3520440" cy="2468880"/>
          </a:xfrm>
          <a:prstGeom prst="rect">
            <a:avLst/>
          </a:prstGeom>
          <a:solidFill>
            <a:srgbClr val="FFFFFF"/>
          </a:solidFill>
          <a:ln w="12700">
            <a:solidFill>
              <a:srgbClr val="DEDBCF"/>
            </a:solidFill>
            <a:prstDash val="solid"/>
          </a:ln>
          <a:effectLst>
            <a:outerShdw sx="100000" sy="100000" kx="0" ky="0" algn="bl" rotWithShape="0" blurRad="101600" dist="38100" dir="8100000">
              <a:srgbClr val="000000">
                <a:alpha val="12000"/>
              </a:srgbClr>
            </a:outerShdw>
          </a:effectLst>
        </p:spPr>
      </p:sp>
      <p:sp>
        <p:nvSpPr>
          <p:cNvPr id="18" name="Shape 15"/>
          <p:cNvSpPr/>
          <p:nvPr/>
        </p:nvSpPr>
        <p:spPr>
          <a:xfrm>
            <a:off x="8321040" y="2606040"/>
            <a:ext cx="3520440" cy="128016"/>
          </a:xfrm>
          <a:prstGeom prst="rect">
            <a:avLst/>
          </a:prstGeom>
          <a:solidFill>
            <a:srgbClr val="CF3338"/>
          </a:solidFill>
          <a:ln/>
        </p:spPr>
      </p:sp>
      <p:sp>
        <p:nvSpPr>
          <p:cNvPr id="19" name="Text 16"/>
          <p:cNvSpPr/>
          <p:nvPr/>
        </p:nvSpPr>
        <p:spPr>
          <a:xfrm>
            <a:off x="8595360" y="2926080"/>
            <a:ext cx="914400" cy="640080"/>
          </a:xfrm>
          <a:prstGeom prst="rect">
            <a:avLst/>
          </a:prstGeom>
          <a:noFill/>
          <a:ln/>
        </p:spPr>
        <p:txBody>
          <a:bodyPr wrap="square" lIns="0" tIns="0" rIns="0" bIns="0" rtlCol="0" anchor="ctr"/>
          <a:lstStyle/>
          <a:p>
            <a:pPr indent="0" marL="0">
              <a:buNone/>
            </a:pPr>
            <a:r>
              <a:rPr lang="en-US" sz="3000" b="1" dirty="0">
                <a:solidFill>
                  <a:srgbClr val="E7C9CA"/>
                </a:solidFill>
                <a:latin typeface="Arial Black" pitchFamily="34" charset="0"/>
                <a:ea typeface="Arial Black" pitchFamily="34" charset="-122"/>
                <a:cs typeface="Arial Black" pitchFamily="34" charset="-120"/>
              </a:rPr>
              <a:t>3</a:t>
            </a:r>
            <a:endParaRPr lang="en-US" sz="3000" dirty="0"/>
          </a:p>
        </p:txBody>
      </p:sp>
      <p:sp>
        <p:nvSpPr>
          <p:cNvPr id="20" name="Text 17"/>
          <p:cNvSpPr/>
          <p:nvPr/>
        </p:nvSpPr>
        <p:spPr>
          <a:xfrm>
            <a:off x="8613648" y="3566160"/>
            <a:ext cx="2971800" cy="457200"/>
          </a:xfrm>
          <a:prstGeom prst="rect">
            <a:avLst/>
          </a:prstGeom>
          <a:noFill/>
          <a:ln/>
        </p:spPr>
        <p:txBody>
          <a:bodyPr wrap="square" lIns="0" tIns="0" rIns="0" bIns="0" rtlCol="0" anchor="ctr"/>
          <a:lstStyle/>
          <a:p>
            <a:pPr indent="0" marL="0">
              <a:buNone/>
            </a:pPr>
            <a:r>
              <a:rPr lang="en-US" sz="2100" b="1" dirty="0">
                <a:solidFill>
                  <a:srgbClr val="1F2120"/>
                </a:solidFill>
                <a:latin typeface="Arial Black" pitchFamily="34" charset="0"/>
                <a:ea typeface="Arial Black" pitchFamily="34" charset="-122"/>
                <a:cs typeface="Arial Black" pitchFamily="34" charset="-120"/>
              </a:rPr>
              <a:t>Load</a:t>
            </a:r>
            <a:endParaRPr lang="en-US" sz="2100" dirty="0"/>
          </a:p>
        </p:txBody>
      </p:sp>
      <p:sp>
        <p:nvSpPr>
          <p:cNvPr id="21" name="Text 18"/>
          <p:cNvSpPr/>
          <p:nvPr/>
        </p:nvSpPr>
        <p:spPr>
          <a:xfrm>
            <a:off x="8613648" y="4069080"/>
            <a:ext cx="2971800" cy="914400"/>
          </a:xfrm>
          <a:prstGeom prst="rect">
            <a:avLst/>
          </a:prstGeom>
          <a:noFill/>
          <a:ln/>
        </p:spPr>
        <p:txBody>
          <a:bodyPr wrap="square" lIns="0" tIns="0" rIns="0" bIns="0" rtlCol="0" anchor="ctr"/>
          <a:lstStyle/>
          <a:p>
            <a:pPr indent="0" marL="0">
              <a:lnSpc>
                <a:spcPct val="110000"/>
              </a:lnSpc>
              <a:buNone/>
            </a:pPr>
            <a:r>
              <a:rPr lang="en-US" sz="1450" dirty="0">
                <a:solidFill>
                  <a:srgbClr val="707070"/>
                </a:solidFill>
                <a:latin typeface="Arial" pitchFamily="34" charset="0"/>
                <a:ea typeface="Arial" pitchFamily="34" charset="-122"/>
                <a:cs typeface="Arial" pitchFamily="34" charset="-120"/>
              </a:rPr>
              <a:t>Deliver tidy, refreshable data back to Excel for reports.</a:t>
            </a:r>
            <a:endParaRPr lang="en-US" sz="1450" dirty="0"/>
          </a:p>
        </p:txBody>
      </p:sp>
      <p:sp>
        <p:nvSpPr>
          <p:cNvPr id="22" name="Text 19"/>
          <p:cNvSpPr/>
          <p:nvPr/>
        </p:nvSpPr>
        <p:spPr>
          <a:xfrm>
            <a:off x="640080" y="5532120"/>
            <a:ext cx="10881360" cy="548640"/>
          </a:xfrm>
          <a:prstGeom prst="rect">
            <a:avLst/>
          </a:prstGeom>
          <a:noFill/>
          <a:ln/>
        </p:spPr>
        <p:txBody>
          <a:bodyPr wrap="square" lIns="0" tIns="0" rIns="0" bIns="0" rtlCol="0" anchor="ctr"/>
          <a:lstStyle/>
          <a:p>
            <a:pPr indent="0" marL="0">
              <a:buNone/>
            </a:pPr>
            <a:r>
              <a:rPr lang="en-US" sz="1600" i="1" dirty="0">
                <a:solidFill>
                  <a:srgbClr val="1F2120"/>
                </a:solidFill>
                <a:latin typeface="Arial" pitchFamily="34" charset="0"/>
                <a:ea typeface="Arial" pitchFamily="34" charset="-122"/>
                <a:cs typeface="Arial" pitchFamily="34" charset="-120"/>
              </a:rPr>
              <a:t>Do it once, and it runs itself on every refresh, so your reports stay consistent instead of being rebuilt by hand.</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C00000"/>
        </a:solidFill>
      </p:bgPr>
    </p:bg>
    <p:spTree>
      <p:nvGrpSpPr>
        <p:cNvPr id="1" name=""/>
        <p:cNvGrpSpPr/>
        <p:nvPr/>
      </p:nvGrpSpPr>
      <p:grpSpPr>
        <a:xfrm>
          <a:off x="0" y="0"/>
          <a:ext cx="0" cy="0"/>
          <a:chOff x="0" y="0"/>
          <a:chExt cx="0" cy="0"/>
        </a:xfrm>
      </p:grpSpPr>
      <p:sp>
        <p:nvSpPr>
          <p:cNvPr id="2" name="Text 0"/>
          <p:cNvSpPr/>
          <p:nvPr/>
        </p:nvSpPr>
        <p:spPr>
          <a:xfrm>
            <a:off x="822960" y="2651760"/>
            <a:ext cx="10515600" cy="1463040"/>
          </a:xfrm>
          <a:prstGeom prst="rect">
            <a:avLst/>
          </a:prstGeom>
          <a:noFill/>
          <a:ln/>
        </p:spPr>
        <p:txBody>
          <a:bodyPr wrap="square" lIns="0" tIns="0" rIns="0" bIns="0" rtlCol="0" anchor="ctr"/>
          <a:lstStyle/>
          <a:p>
            <a:pPr algn="ctr" indent="0" marL="0">
              <a:buNone/>
            </a:pPr>
            <a:r>
              <a:rPr lang="en-US" sz="5600" b="1" dirty="0">
                <a:solidFill>
                  <a:srgbClr val="FFFFFF"/>
                </a:solidFill>
                <a:latin typeface="Arial Black" pitchFamily="34" charset="0"/>
                <a:ea typeface="Arial Black" pitchFamily="34" charset="-122"/>
                <a:cs typeface="Arial Black" pitchFamily="34" charset="-120"/>
              </a:rPr>
              <a:t>Let's see it live.</a:t>
            </a:r>
            <a:endParaRPr lang="en-US" sz="5600" dirty="0"/>
          </a:p>
        </p:txBody>
      </p:sp>
      <p:sp>
        <p:nvSpPr>
          <p:cNvPr id="3" name="Text 1"/>
          <p:cNvSpPr/>
          <p:nvPr/>
        </p:nvSpPr>
        <p:spPr>
          <a:xfrm>
            <a:off x="822960" y="4114800"/>
            <a:ext cx="10515600" cy="548640"/>
          </a:xfrm>
          <a:prstGeom prst="rect">
            <a:avLst/>
          </a:prstGeom>
          <a:noFill/>
          <a:ln/>
        </p:spPr>
        <p:txBody>
          <a:bodyPr wrap="square" lIns="0" tIns="0" rIns="0" bIns="0" rtlCol="0" anchor="ctr"/>
          <a:lstStyle/>
          <a:p>
            <a:pPr algn="ctr" indent="0" marL="0">
              <a:buNone/>
            </a:pPr>
            <a:r>
              <a:rPr lang="en-US" sz="1900" dirty="0">
                <a:solidFill>
                  <a:srgbClr val="F4D7D8"/>
                </a:solidFill>
                <a:latin typeface="Arial" pitchFamily="34" charset="0"/>
                <a:ea typeface="Arial" pitchFamily="34" charset="-122"/>
                <a:cs typeface="Arial" pitchFamily="34" charset="-120"/>
              </a:rPr>
              <a:t>Three demos, back to back. Watch the workflow, not the keystrokes.</a:t>
            </a:r>
            <a:endParaRPr lang="en-US" sz="1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EECE1"/>
        </a:solidFill>
      </p:bgPr>
    </p:bg>
    <p:spTree>
      <p:nvGrpSpPr>
        <p:cNvPr id="1" name=""/>
        <p:cNvGrpSpPr/>
        <p:nvPr/>
      </p:nvGrpSpPr>
      <p:grpSpPr>
        <a:xfrm>
          <a:off x="0" y="0"/>
          <a:ext cx="0" cy="0"/>
          <a:chOff x="0" y="0"/>
          <a:chExt cx="0" cy="0"/>
        </a:xfrm>
      </p:grpSpPr>
      <p:sp>
        <p:nvSpPr>
          <p:cNvPr id="2" name="Shape 0"/>
          <p:cNvSpPr/>
          <p:nvPr/>
        </p:nvSpPr>
        <p:spPr>
          <a:xfrm>
            <a:off x="8595360" y="0"/>
            <a:ext cx="3596335" cy="6858000"/>
          </a:xfrm>
          <a:prstGeom prst="rect">
            <a:avLst/>
          </a:prstGeom>
          <a:solidFill>
            <a:srgbClr val="CF3338"/>
          </a:solidFill>
          <a:ln/>
        </p:spPr>
      </p:sp>
      <p:sp>
        <p:nvSpPr>
          <p:cNvPr id="3" name="Text 1"/>
          <p:cNvSpPr/>
          <p:nvPr/>
        </p:nvSpPr>
        <p:spPr>
          <a:xfrm>
            <a:off x="8732520" y="4206240"/>
            <a:ext cx="3291840" cy="2194560"/>
          </a:xfrm>
          <a:prstGeom prst="rect">
            <a:avLst/>
          </a:prstGeom>
          <a:noFill/>
          <a:ln/>
        </p:spPr>
        <p:txBody>
          <a:bodyPr wrap="square" lIns="0" tIns="0" rIns="0" bIns="0" rtlCol="0" anchor="ctr"/>
          <a:lstStyle/>
          <a:p>
            <a:pPr algn="r" indent="0" marL="0">
              <a:buNone/>
            </a:pPr>
            <a:r>
              <a:rPr lang="en-US" sz="15000" b="1" dirty="0">
                <a:solidFill>
                  <a:srgbClr val="D9494E"/>
                </a:solidFill>
                <a:latin typeface="Arial Black" pitchFamily="34" charset="0"/>
                <a:ea typeface="Arial Black" pitchFamily="34" charset="-122"/>
                <a:cs typeface="Arial Black" pitchFamily="34" charset="-120"/>
              </a:rPr>
              <a:t>1</a:t>
            </a:r>
            <a:endParaRPr lang="en-US" sz="15000" dirty="0"/>
          </a:p>
        </p:txBody>
      </p:sp>
      <p:sp>
        <p:nvSpPr>
          <p:cNvPr id="4" name="Text 2"/>
          <p:cNvSpPr/>
          <p:nvPr/>
        </p:nvSpPr>
        <p:spPr>
          <a:xfrm>
            <a:off x="9098280" y="640080"/>
            <a:ext cx="2743200" cy="457200"/>
          </a:xfrm>
          <a:prstGeom prst="rect">
            <a:avLst/>
          </a:prstGeom>
          <a:noFill/>
          <a:ln/>
        </p:spPr>
        <p:txBody>
          <a:bodyPr wrap="square" lIns="0" tIns="0" rIns="0" bIns="0" rtlCol="0" anchor="ctr"/>
          <a:lstStyle/>
          <a:p>
            <a:pPr indent="0" marL="0">
              <a:buNone/>
            </a:pPr>
            <a:r>
              <a:rPr lang="en-US" sz="1500" b="1" spc="300" kern="0" dirty="0">
                <a:solidFill>
                  <a:srgbClr val="F2D9DA"/>
                </a:solidFill>
                <a:latin typeface="Arial" pitchFamily="34" charset="0"/>
                <a:ea typeface="Arial" pitchFamily="34" charset="-122"/>
                <a:cs typeface="Arial" pitchFamily="34" charset="-120"/>
              </a:rPr>
              <a:t>DEMO 1</a:t>
            </a:r>
            <a:endParaRPr lang="en-US" sz="1500" dirty="0"/>
          </a:p>
        </p:txBody>
      </p:sp>
      <p:sp>
        <p:nvSpPr>
          <p:cNvPr id="5" name="Text 3"/>
          <p:cNvSpPr/>
          <p:nvPr/>
        </p:nvSpPr>
        <p:spPr>
          <a:xfrm>
            <a:off x="9006840" y="1097280"/>
            <a:ext cx="2971800" cy="1828800"/>
          </a:xfrm>
          <a:prstGeom prst="rect">
            <a:avLst/>
          </a:prstGeom>
          <a:noFill/>
          <a:ln/>
        </p:spPr>
        <p:txBody>
          <a:bodyPr wrap="square" lIns="0" tIns="0" rIns="0" bIns="0" rtlCol="0" anchor="ctr"/>
          <a:lstStyle/>
          <a:p>
            <a:pPr indent="0" marL="0">
              <a:lnSpc>
                <a:spcPct val="100000"/>
              </a:lnSpc>
              <a:buNone/>
            </a:pPr>
            <a:r>
              <a:rPr lang="en-US" sz="2500" b="1" dirty="0">
                <a:solidFill>
                  <a:srgbClr val="FFFFFF"/>
                </a:solidFill>
                <a:latin typeface="Arial Black" pitchFamily="34" charset="0"/>
                <a:ea typeface="Arial Black" pitchFamily="34" charset="-122"/>
                <a:cs typeface="Arial Black" pitchFamily="34" charset="-120"/>
              </a:rPr>
              <a:t>Get comfortable in the Editor</a:t>
            </a:r>
            <a:endParaRPr lang="en-US" sz="2500" dirty="0"/>
          </a:p>
        </p:txBody>
      </p:sp>
      <p:pic>
        <p:nvPicPr>
          <p:cNvPr id="6" name="Image 0" descr="/sessions/charming-zealous-noether/mnt/outputs/deckassets/stringfest-wordmark-dark.png">    </p:cNvPr>
          <p:cNvPicPr>
            <a:picLocks noChangeAspect="1"/>
          </p:cNvPicPr>
          <p:nvPr/>
        </p:nvPicPr>
        <p:blipFill>
          <a:blip r:embed="rId1"/>
          <a:stretch>
            <a:fillRect/>
          </a:stretch>
        </p:blipFill>
        <p:spPr>
          <a:xfrm>
            <a:off x="502920" y="384048"/>
            <a:ext cx="1828800" cy="258305"/>
          </a:xfrm>
          <a:prstGeom prst="rect">
            <a:avLst/>
          </a:prstGeom>
        </p:spPr>
      </p:pic>
      <p:sp>
        <p:nvSpPr>
          <p:cNvPr id="7" name="Text 4"/>
          <p:cNvSpPr/>
          <p:nvPr/>
        </p:nvSpPr>
        <p:spPr>
          <a:xfrm>
            <a:off x="640080" y="2011680"/>
            <a:ext cx="7589520" cy="457200"/>
          </a:xfrm>
          <a:prstGeom prst="rect">
            <a:avLst/>
          </a:prstGeom>
          <a:noFill/>
          <a:ln/>
        </p:spPr>
        <p:txBody>
          <a:bodyPr wrap="square" lIns="0" tIns="0" rIns="0" bIns="0" rtlCol="0" anchor="ctr"/>
          <a:lstStyle/>
          <a:p>
            <a:pPr indent="0" marL="0">
              <a:buNone/>
            </a:pPr>
            <a:r>
              <a:rPr lang="en-US" sz="1800" b="1" dirty="0">
                <a:solidFill>
                  <a:srgbClr val="CF3338"/>
                </a:solidFill>
                <a:latin typeface="Arial" pitchFamily="34" charset="0"/>
                <a:ea typeface="Arial" pitchFamily="34" charset="-122"/>
                <a:cs typeface="Arial" pitchFamily="34" charset="-120"/>
              </a:rPr>
              <a:t>File: penguins.xlsx</a:t>
            </a:r>
            <a:endParaRPr lang="en-US" sz="1800" dirty="0"/>
          </a:p>
        </p:txBody>
      </p:sp>
      <p:sp>
        <p:nvSpPr>
          <p:cNvPr id="8" name="Text 5"/>
          <p:cNvSpPr/>
          <p:nvPr/>
        </p:nvSpPr>
        <p:spPr>
          <a:xfrm>
            <a:off x="640080" y="2743200"/>
            <a:ext cx="7589520" cy="3383280"/>
          </a:xfrm>
          <a:prstGeom prst="rect">
            <a:avLst/>
          </a:prstGeom>
          <a:noFill/>
          <a:ln/>
        </p:spPr>
        <p:txBody>
          <a:bodyPr wrap="square" lIns="0" tIns="0" rIns="0" bIns="0" rtlCol="0" anchor="ctr"/>
          <a:lstStyle/>
          <a:p>
            <a:pPr indent="0" marL="0">
              <a:buNone/>
            </a:pPr>
            <a:r>
              <a:rPr lang="en-US" sz="1800" b="1" dirty="0">
                <a:solidFill>
                  <a:srgbClr val="CF3338"/>
                </a:solidFill>
                <a:latin typeface="Arial" pitchFamily="34" charset="0"/>
                <a:ea typeface="Arial" pitchFamily="34" charset="-122"/>
                <a:cs typeface="Arial" pitchFamily="34" charset="-120"/>
              </a:rPr>
              <a:t>1.  </a:t>
            </a:r>
            <a:pPr indent="0" marL="0">
              <a:spcAft>
                <a:spcPts val="1300"/>
              </a:spcAft>
              <a:buNone/>
            </a:pPr>
            <a:r>
              <a:rPr lang="en-US" sz="1800" dirty="0">
                <a:solidFill>
                  <a:srgbClr val="707070"/>
                </a:solidFill>
                <a:latin typeface="Arial" pitchFamily="34" charset="0"/>
                <a:ea typeface="Arial" pitchFamily="34" charset="-122"/>
                <a:cs typeface="Arial" pitchFamily="34" charset="-120"/>
              </a:rPr>
              <a:t>Load the table into Power Query (Data, then From Table/Range)</a:t>
            </a:r>
            <a:endParaRPr lang="en-US" sz="1800" dirty="0"/>
          </a:p>
          <a:p>
            <a:pPr indent="0" marL="0">
              <a:buNone/>
            </a:pPr>
            <a:r>
              <a:rPr lang="en-US" sz="1800" b="1" dirty="0">
                <a:solidFill>
                  <a:srgbClr val="CF3338"/>
                </a:solidFill>
                <a:latin typeface="Arial" pitchFamily="34" charset="0"/>
                <a:ea typeface="Arial" pitchFamily="34" charset="-122"/>
                <a:cs typeface="Arial" pitchFamily="34" charset="-120"/>
              </a:rPr>
              <a:t>2.  </a:t>
            </a:r>
            <a:pPr indent="0" marL="0">
              <a:spcAft>
                <a:spcPts val="1300"/>
              </a:spcAft>
              <a:buNone/>
            </a:pPr>
            <a:r>
              <a:rPr lang="en-US" sz="1800" dirty="0">
                <a:solidFill>
                  <a:srgbClr val="707070"/>
                </a:solidFill>
                <a:latin typeface="Arial" pitchFamily="34" charset="0"/>
                <a:ea typeface="Arial" pitchFamily="34" charset="-122"/>
                <a:cs typeface="Arial" pitchFamily="34" charset="-120"/>
              </a:rPr>
              <a:t>Set correct data types on each column</a:t>
            </a:r>
            <a:endParaRPr lang="en-US" sz="1800" dirty="0"/>
          </a:p>
          <a:p>
            <a:pPr indent="0" marL="0">
              <a:buNone/>
            </a:pPr>
            <a:r>
              <a:rPr lang="en-US" sz="1800" b="1" dirty="0">
                <a:solidFill>
                  <a:srgbClr val="CF3338"/>
                </a:solidFill>
                <a:latin typeface="Arial" pitchFamily="34" charset="0"/>
                <a:ea typeface="Arial" pitchFamily="34" charset="-122"/>
                <a:cs typeface="Arial" pitchFamily="34" charset="-120"/>
              </a:rPr>
              <a:t>3.  </a:t>
            </a:r>
            <a:pPr indent="0" marL="0">
              <a:spcAft>
                <a:spcPts val="1300"/>
              </a:spcAft>
              <a:buNone/>
            </a:pPr>
            <a:r>
              <a:rPr lang="en-US" sz="1800" dirty="0">
                <a:solidFill>
                  <a:srgbClr val="707070"/>
                </a:solidFill>
                <a:latin typeface="Arial" pitchFamily="34" charset="0"/>
                <a:ea typeface="Arial" pitchFamily="34" charset="-122"/>
                <a:cs typeface="Arial" pitchFamily="34" charset="-120"/>
              </a:rPr>
              <a:t>Profile columns from the View tab (whole dataset)</a:t>
            </a:r>
            <a:endParaRPr lang="en-US" sz="1800" dirty="0"/>
          </a:p>
          <a:p>
            <a:pPr indent="0" marL="0">
              <a:buNone/>
            </a:pPr>
            <a:r>
              <a:rPr lang="en-US" sz="1800" b="1" dirty="0">
                <a:solidFill>
                  <a:srgbClr val="CF3338"/>
                </a:solidFill>
                <a:latin typeface="Arial" pitchFamily="34" charset="0"/>
                <a:ea typeface="Arial" pitchFamily="34" charset="-122"/>
                <a:cs typeface="Arial" pitchFamily="34" charset="-120"/>
              </a:rPr>
              <a:t>4.  </a:t>
            </a:r>
            <a:pPr indent="0" marL="0">
              <a:spcAft>
                <a:spcPts val="1300"/>
              </a:spcAft>
              <a:buNone/>
            </a:pPr>
            <a:r>
              <a:rPr lang="en-US" sz="1800" dirty="0">
                <a:solidFill>
                  <a:srgbClr val="707070"/>
                </a:solidFill>
                <a:latin typeface="Arial" pitchFamily="34" charset="0"/>
                <a:ea typeface="Arial" pitchFamily="34" charset="-122"/>
                <a:cs typeface="Arial" pitchFamily="34" charset="-120"/>
              </a:rPr>
              <a:t>See what’s actually in your data before doing anything</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EECE1"/>
        </a:solidFill>
      </p:bgPr>
    </p:bg>
    <p:spTree>
      <p:nvGrpSpPr>
        <p:cNvPr id="1" name=""/>
        <p:cNvGrpSpPr/>
        <p:nvPr/>
      </p:nvGrpSpPr>
      <p:grpSpPr>
        <a:xfrm>
          <a:off x="0" y="0"/>
          <a:ext cx="0" cy="0"/>
          <a:chOff x="0" y="0"/>
          <a:chExt cx="0" cy="0"/>
        </a:xfrm>
      </p:grpSpPr>
      <p:sp>
        <p:nvSpPr>
          <p:cNvPr id="2" name="Shape 0"/>
          <p:cNvSpPr/>
          <p:nvPr/>
        </p:nvSpPr>
        <p:spPr>
          <a:xfrm>
            <a:off x="8595360" y="0"/>
            <a:ext cx="3596335" cy="6858000"/>
          </a:xfrm>
          <a:prstGeom prst="rect">
            <a:avLst/>
          </a:prstGeom>
          <a:solidFill>
            <a:srgbClr val="CF3338"/>
          </a:solidFill>
          <a:ln/>
        </p:spPr>
      </p:sp>
      <p:sp>
        <p:nvSpPr>
          <p:cNvPr id="3" name="Text 1"/>
          <p:cNvSpPr/>
          <p:nvPr/>
        </p:nvSpPr>
        <p:spPr>
          <a:xfrm>
            <a:off x="8732520" y="4206240"/>
            <a:ext cx="3291840" cy="2194560"/>
          </a:xfrm>
          <a:prstGeom prst="rect">
            <a:avLst/>
          </a:prstGeom>
          <a:noFill/>
          <a:ln/>
        </p:spPr>
        <p:txBody>
          <a:bodyPr wrap="square" lIns="0" tIns="0" rIns="0" bIns="0" rtlCol="0" anchor="ctr"/>
          <a:lstStyle/>
          <a:p>
            <a:pPr algn="r" indent="0" marL="0">
              <a:buNone/>
            </a:pPr>
            <a:r>
              <a:rPr lang="en-US" sz="15000" b="1" dirty="0">
                <a:solidFill>
                  <a:srgbClr val="D9494E"/>
                </a:solidFill>
                <a:latin typeface="Arial Black" pitchFamily="34" charset="0"/>
                <a:ea typeface="Arial Black" pitchFamily="34" charset="-122"/>
                <a:cs typeface="Arial Black" pitchFamily="34" charset="-120"/>
              </a:rPr>
              <a:t>2</a:t>
            </a:r>
            <a:endParaRPr lang="en-US" sz="15000" dirty="0"/>
          </a:p>
        </p:txBody>
      </p:sp>
      <p:sp>
        <p:nvSpPr>
          <p:cNvPr id="4" name="Text 2"/>
          <p:cNvSpPr/>
          <p:nvPr/>
        </p:nvSpPr>
        <p:spPr>
          <a:xfrm>
            <a:off x="9098280" y="640080"/>
            <a:ext cx="2743200" cy="457200"/>
          </a:xfrm>
          <a:prstGeom prst="rect">
            <a:avLst/>
          </a:prstGeom>
          <a:noFill/>
          <a:ln/>
        </p:spPr>
        <p:txBody>
          <a:bodyPr wrap="square" lIns="0" tIns="0" rIns="0" bIns="0" rtlCol="0" anchor="ctr"/>
          <a:lstStyle/>
          <a:p>
            <a:pPr indent="0" marL="0">
              <a:buNone/>
            </a:pPr>
            <a:r>
              <a:rPr lang="en-US" sz="1500" b="1" spc="300" kern="0" dirty="0">
                <a:solidFill>
                  <a:srgbClr val="F2D9DA"/>
                </a:solidFill>
                <a:latin typeface="Arial" pitchFamily="34" charset="0"/>
                <a:ea typeface="Arial" pitchFamily="34" charset="-122"/>
                <a:cs typeface="Arial" pitchFamily="34" charset="-120"/>
              </a:rPr>
              <a:t>DEMO 2</a:t>
            </a:r>
            <a:endParaRPr lang="en-US" sz="1500" dirty="0"/>
          </a:p>
        </p:txBody>
      </p:sp>
      <p:sp>
        <p:nvSpPr>
          <p:cNvPr id="5" name="Text 3"/>
          <p:cNvSpPr/>
          <p:nvPr/>
        </p:nvSpPr>
        <p:spPr>
          <a:xfrm>
            <a:off x="9006840" y="1097280"/>
            <a:ext cx="2971800" cy="1828800"/>
          </a:xfrm>
          <a:prstGeom prst="rect">
            <a:avLst/>
          </a:prstGeom>
          <a:noFill/>
          <a:ln/>
        </p:spPr>
        <p:txBody>
          <a:bodyPr wrap="square" lIns="0" tIns="0" rIns="0" bIns="0" rtlCol="0" anchor="ctr"/>
          <a:lstStyle/>
          <a:p>
            <a:pPr indent="0" marL="0">
              <a:lnSpc>
                <a:spcPct val="100000"/>
              </a:lnSpc>
              <a:buNone/>
            </a:pPr>
            <a:r>
              <a:rPr lang="en-US" sz="2500" b="1" dirty="0">
                <a:solidFill>
                  <a:srgbClr val="FFFFFF"/>
                </a:solidFill>
                <a:latin typeface="Arial Black" pitchFamily="34" charset="0"/>
                <a:ea typeface="Arial Black" pitchFamily="34" charset="-122"/>
                <a:cs typeface="Arial Black" pitchFamily="34" charset="-120"/>
              </a:rPr>
              <a:t>Repeatable cleanup with Applied Steps</a:t>
            </a:r>
            <a:endParaRPr lang="en-US" sz="2500" dirty="0"/>
          </a:p>
        </p:txBody>
      </p:sp>
      <p:pic>
        <p:nvPicPr>
          <p:cNvPr id="6" name="Image 0" descr="/sessions/charming-zealous-noether/mnt/outputs/deckassets/stringfest-wordmark-dark.png">    </p:cNvPr>
          <p:cNvPicPr>
            <a:picLocks noChangeAspect="1"/>
          </p:cNvPicPr>
          <p:nvPr/>
        </p:nvPicPr>
        <p:blipFill>
          <a:blip r:embed="rId1"/>
          <a:stretch>
            <a:fillRect/>
          </a:stretch>
        </p:blipFill>
        <p:spPr>
          <a:xfrm>
            <a:off x="502920" y="384048"/>
            <a:ext cx="1828800" cy="258305"/>
          </a:xfrm>
          <a:prstGeom prst="rect">
            <a:avLst/>
          </a:prstGeom>
        </p:spPr>
      </p:pic>
      <p:sp>
        <p:nvSpPr>
          <p:cNvPr id="7" name="Text 4"/>
          <p:cNvSpPr/>
          <p:nvPr/>
        </p:nvSpPr>
        <p:spPr>
          <a:xfrm>
            <a:off x="640080" y="2011680"/>
            <a:ext cx="7589520" cy="457200"/>
          </a:xfrm>
          <a:prstGeom prst="rect">
            <a:avLst/>
          </a:prstGeom>
          <a:noFill/>
          <a:ln/>
        </p:spPr>
        <p:txBody>
          <a:bodyPr wrap="square" lIns="0" tIns="0" rIns="0" bIns="0" rtlCol="0" anchor="ctr"/>
          <a:lstStyle/>
          <a:p>
            <a:pPr indent="0" marL="0">
              <a:buNone/>
            </a:pPr>
            <a:r>
              <a:rPr lang="en-US" sz="1800" b="1" dirty="0">
                <a:solidFill>
                  <a:srgbClr val="CF3338"/>
                </a:solidFill>
                <a:latin typeface="Arial" pitchFamily="34" charset="0"/>
                <a:ea typeface="Arial" pitchFamily="34" charset="-122"/>
                <a:cs typeface="Arial" pitchFamily="34" charset="-120"/>
              </a:rPr>
              <a:t>File: office-rsvps.xlsx</a:t>
            </a:r>
            <a:endParaRPr lang="en-US" sz="1800" dirty="0"/>
          </a:p>
        </p:txBody>
      </p:sp>
      <p:sp>
        <p:nvSpPr>
          <p:cNvPr id="8" name="Text 5"/>
          <p:cNvSpPr/>
          <p:nvPr/>
        </p:nvSpPr>
        <p:spPr>
          <a:xfrm>
            <a:off x="640080" y="2743200"/>
            <a:ext cx="7589520" cy="3383280"/>
          </a:xfrm>
          <a:prstGeom prst="rect">
            <a:avLst/>
          </a:prstGeom>
          <a:noFill/>
          <a:ln/>
        </p:spPr>
        <p:txBody>
          <a:bodyPr wrap="square" lIns="0" tIns="0" rIns="0" bIns="0" rtlCol="0" anchor="ctr"/>
          <a:lstStyle/>
          <a:p>
            <a:pPr indent="0" marL="0">
              <a:buNone/>
            </a:pPr>
            <a:r>
              <a:rPr lang="en-US" sz="1800" b="1" dirty="0">
                <a:solidFill>
                  <a:srgbClr val="CF3338"/>
                </a:solidFill>
                <a:latin typeface="Arial" pitchFamily="34" charset="0"/>
                <a:ea typeface="Arial" pitchFamily="34" charset="-122"/>
                <a:cs typeface="Arial" pitchFamily="34" charset="-120"/>
              </a:rPr>
              <a:t>1.  </a:t>
            </a:r>
            <a:pPr indent="0" marL="0">
              <a:spcAft>
                <a:spcPts val="1300"/>
              </a:spcAft>
              <a:buNone/>
            </a:pPr>
            <a:r>
              <a:rPr lang="en-US" sz="1800" dirty="0">
                <a:solidFill>
                  <a:srgbClr val="707070"/>
                </a:solidFill>
                <a:latin typeface="Arial" pitchFamily="34" charset="0"/>
                <a:ea typeface="Arial" pitchFamily="34" charset="-122"/>
                <a:cs typeface="Arial" pitchFamily="34" charset="-120"/>
              </a:rPr>
              <a:t>Remove blanks and duplicates; filter out bad records</a:t>
            </a:r>
            <a:endParaRPr lang="en-US" sz="1800" dirty="0"/>
          </a:p>
          <a:p>
            <a:pPr indent="0" marL="0">
              <a:buNone/>
            </a:pPr>
            <a:r>
              <a:rPr lang="en-US" sz="1800" b="1" dirty="0">
                <a:solidFill>
                  <a:srgbClr val="CF3338"/>
                </a:solidFill>
                <a:latin typeface="Arial" pitchFamily="34" charset="0"/>
                <a:ea typeface="Arial" pitchFamily="34" charset="-122"/>
                <a:cs typeface="Arial" pitchFamily="34" charset="-120"/>
              </a:rPr>
              <a:t>2.  </a:t>
            </a:r>
            <a:pPr indent="0" marL="0">
              <a:spcAft>
                <a:spcPts val="1300"/>
              </a:spcAft>
              <a:buNone/>
            </a:pPr>
            <a:r>
              <a:rPr lang="en-US" sz="1800" dirty="0">
                <a:solidFill>
                  <a:srgbClr val="707070"/>
                </a:solidFill>
                <a:latin typeface="Arial" pitchFamily="34" charset="0"/>
                <a:ea typeface="Arial" pitchFamily="34" charset="-122"/>
                <a:cs typeface="Arial" pitchFamily="34" charset="-120"/>
              </a:rPr>
              <a:t>Every action is recorded as an Applied Step</a:t>
            </a:r>
            <a:endParaRPr lang="en-US" sz="1800" dirty="0"/>
          </a:p>
          <a:p>
            <a:pPr indent="0" marL="0">
              <a:buNone/>
            </a:pPr>
            <a:r>
              <a:rPr lang="en-US" sz="1800" b="1" dirty="0">
                <a:solidFill>
                  <a:srgbClr val="CF3338"/>
                </a:solidFill>
                <a:latin typeface="Arial" pitchFamily="34" charset="0"/>
                <a:ea typeface="Arial" pitchFamily="34" charset="-122"/>
                <a:cs typeface="Arial" pitchFamily="34" charset="-120"/>
              </a:rPr>
              <a:t>3.  </a:t>
            </a:r>
            <a:pPr indent="0" marL="0">
              <a:spcAft>
                <a:spcPts val="1300"/>
              </a:spcAft>
              <a:buNone/>
            </a:pPr>
            <a:r>
              <a:rPr lang="en-US" sz="1800" dirty="0">
                <a:solidFill>
                  <a:srgbClr val="707070"/>
                </a:solidFill>
                <a:latin typeface="Arial" pitchFamily="34" charset="0"/>
                <a:ea typeface="Arial" pitchFamily="34" charset="-122"/>
                <a:cs typeface="Arial" pitchFamily="34" charset="-120"/>
              </a:rPr>
              <a:t>Close &amp; Load the cleaned result back to Excel</a:t>
            </a:r>
            <a:endParaRPr lang="en-US" sz="1800" dirty="0"/>
          </a:p>
          <a:p>
            <a:pPr indent="0" marL="0">
              <a:buNone/>
            </a:pPr>
            <a:r>
              <a:rPr lang="en-US" sz="1800" b="1" dirty="0">
                <a:solidFill>
                  <a:srgbClr val="CF3338"/>
                </a:solidFill>
                <a:latin typeface="Arial" pitchFamily="34" charset="0"/>
                <a:ea typeface="Arial" pitchFamily="34" charset="-122"/>
                <a:cs typeface="Arial" pitchFamily="34" charset="-120"/>
              </a:rPr>
              <a:t>4.  </a:t>
            </a:r>
            <a:pPr indent="0" marL="0">
              <a:spcAft>
                <a:spcPts val="1300"/>
              </a:spcAft>
              <a:buNone/>
            </a:pPr>
            <a:r>
              <a:rPr lang="en-US" sz="1800" dirty="0">
                <a:solidFill>
                  <a:srgbClr val="707070"/>
                </a:solidFill>
                <a:latin typeface="Arial" pitchFamily="34" charset="0"/>
                <a:ea typeface="Arial" pitchFamily="34" charset="-122"/>
                <a:cs typeface="Arial" pitchFamily="34" charset="-120"/>
              </a:rPr>
              <a:t>Add new records, hit Refresh, and the cleanup re-runs itself</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EECE1"/>
        </a:solidFill>
      </p:bgPr>
    </p:bg>
    <p:spTree>
      <p:nvGrpSpPr>
        <p:cNvPr id="1" name=""/>
        <p:cNvGrpSpPr/>
        <p:nvPr/>
      </p:nvGrpSpPr>
      <p:grpSpPr>
        <a:xfrm>
          <a:off x="0" y="0"/>
          <a:ext cx="0" cy="0"/>
          <a:chOff x="0" y="0"/>
          <a:chExt cx="0" cy="0"/>
        </a:xfrm>
      </p:grpSpPr>
      <p:sp>
        <p:nvSpPr>
          <p:cNvPr id="2" name="Shape 0"/>
          <p:cNvSpPr/>
          <p:nvPr/>
        </p:nvSpPr>
        <p:spPr>
          <a:xfrm>
            <a:off x="8595360" y="0"/>
            <a:ext cx="3596335" cy="6858000"/>
          </a:xfrm>
          <a:prstGeom prst="rect">
            <a:avLst/>
          </a:prstGeom>
          <a:solidFill>
            <a:srgbClr val="CF3338"/>
          </a:solidFill>
          <a:ln/>
        </p:spPr>
      </p:sp>
      <p:sp>
        <p:nvSpPr>
          <p:cNvPr id="3" name="Text 1"/>
          <p:cNvSpPr/>
          <p:nvPr/>
        </p:nvSpPr>
        <p:spPr>
          <a:xfrm>
            <a:off x="8732520" y="4206240"/>
            <a:ext cx="3291840" cy="2194560"/>
          </a:xfrm>
          <a:prstGeom prst="rect">
            <a:avLst/>
          </a:prstGeom>
          <a:noFill/>
          <a:ln/>
        </p:spPr>
        <p:txBody>
          <a:bodyPr wrap="square" lIns="0" tIns="0" rIns="0" bIns="0" rtlCol="0" anchor="ctr"/>
          <a:lstStyle/>
          <a:p>
            <a:pPr algn="r" indent="0" marL="0">
              <a:buNone/>
            </a:pPr>
            <a:r>
              <a:rPr lang="en-US" sz="15000" b="1" dirty="0">
                <a:solidFill>
                  <a:srgbClr val="D9494E"/>
                </a:solidFill>
                <a:latin typeface="Arial Black" pitchFamily="34" charset="0"/>
                <a:ea typeface="Arial Black" pitchFamily="34" charset="-122"/>
                <a:cs typeface="Arial Black" pitchFamily="34" charset="-120"/>
              </a:rPr>
              <a:t>3</a:t>
            </a:r>
            <a:endParaRPr lang="en-US" sz="15000" dirty="0"/>
          </a:p>
        </p:txBody>
      </p:sp>
      <p:sp>
        <p:nvSpPr>
          <p:cNvPr id="4" name="Text 2"/>
          <p:cNvSpPr/>
          <p:nvPr/>
        </p:nvSpPr>
        <p:spPr>
          <a:xfrm>
            <a:off x="9098280" y="640080"/>
            <a:ext cx="2743200" cy="457200"/>
          </a:xfrm>
          <a:prstGeom prst="rect">
            <a:avLst/>
          </a:prstGeom>
          <a:noFill/>
          <a:ln/>
        </p:spPr>
        <p:txBody>
          <a:bodyPr wrap="square" lIns="0" tIns="0" rIns="0" bIns="0" rtlCol="0" anchor="ctr"/>
          <a:lstStyle/>
          <a:p>
            <a:pPr indent="0" marL="0">
              <a:buNone/>
            </a:pPr>
            <a:r>
              <a:rPr lang="en-US" sz="1500" b="1" spc="300" kern="0" dirty="0">
                <a:solidFill>
                  <a:srgbClr val="F2D9DA"/>
                </a:solidFill>
                <a:latin typeface="Arial" pitchFamily="34" charset="0"/>
                <a:ea typeface="Arial" pitchFamily="34" charset="-122"/>
                <a:cs typeface="Arial" pitchFamily="34" charset="-120"/>
              </a:rPr>
              <a:t>DEMO 3</a:t>
            </a:r>
            <a:endParaRPr lang="en-US" sz="1500" dirty="0"/>
          </a:p>
        </p:txBody>
      </p:sp>
      <p:sp>
        <p:nvSpPr>
          <p:cNvPr id="5" name="Text 3"/>
          <p:cNvSpPr/>
          <p:nvPr/>
        </p:nvSpPr>
        <p:spPr>
          <a:xfrm>
            <a:off x="9006840" y="1097280"/>
            <a:ext cx="2971800" cy="1828800"/>
          </a:xfrm>
          <a:prstGeom prst="rect">
            <a:avLst/>
          </a:prstGeom>
          <a:noFill/>
          <a:ln/>
        </p:spPr>
        <p:txBody>
          <a:bodyPr wrap="square" lIns="0" tIns="0" rIns="0" bIns="0" rtlCol="0" anchor="ctr"/>
          <a:lstStyle/>
          <a:p>
            <a:pPr indent="0" marL="0">
              <a:lnSpc>
                <a:spcPct val="100000"/>
              </a:lnSpc>
              <a:buNone/>
            </a:pPr>
            <a:r>
              <a:rPr lang="en-US" sz="2500" b="1" dirty="0">
                <a:solidFill>
                  <a:srgbClr val="FFFFFF"/>
                </a:solidFill>
                <a:latin typeface="Arial Black" pitchFamily="34" charset="0"/>
                <a:ea typeface="Arial Black" pitchFamily="34" charset="-122"/>
                <a:cs typeface="Arial Black" pitchFamily="34" charset="-120"/>
              </a:rPr>
              <a:t>Reshape with Unpivot</a:t>
            </a:r>
            <a:endParaRPr lang="en-US" sz="2500" dirty="0"/>
          </a:p>
        </p:txBody>
      </p:sp>
      <p:pic>
        <p:nvPicPr>
          <p:cNvPr id="6" name="Image 0" descr="/sessions/charming-zealous-noether/mnt/outputs/deckassets/stringfest-wordmark-dark.png">    </p:cNvPr>
          <p:cNvPicPr>
            <a:picLocks noChangeAspect="1"/>
          </p:cNvPicPr>
          <p:nvPr/>
        </p:nvPicPr>
        <p:blipFill>
          <a:blip r:embed="rId1"/>
          <a:stretch>
            <a:fillRect/>
          </a:stretch>
        </p:blipFill>
        <p:spPr>
          <a:xfrm>
            <a:off x="502920" y="384048"/>
            <a:ext cx="1828800" cy="258305"/>
          </a:xfrm>
          <a:prstGeom prst="rect">
            <a:avLst/>
          </a:prstGeom>
        </p:spPr>
      </p:pic>
      <p:sp>
        <p:nvSpPr>
          <p:cNvPr id="7" name="Text 4"/>
          <p:cNvSpPr/>
          <p:nvPr/>
        </p:nvSpPr>
        <p:spPr>
          <a:xfrm>
            <a:off x="640080" y="2011680"/>
            <a:ext cx="7589520" cy="457200"/>
          </a:xfrm>
          <a:prstGeom prst="rect">
            <a:avLst/>
          </a:prstGeom>
          <a:noFill/>
          <a:ln/>
        </p:spPr>
        <p:txBody>
          <a:bodyPr wrap="square" lIns="0" tIns="0" rIns="0" bIns="0" rtlCol="0" anchor="ctr"/>
          <a:lstStyle/>
          <a:p>
            <a:pPr indent="0" marL="0">
              <a:buNone/>
            </a:pPr>
            <a:r>
              <a:rPr lang="en-US" sz="1800" b="1" dirty="0">
                <a:solidFill>
                  <a:srgbClr val="CF3338"/>
                </a:solidFill>
                <a:latin typeface="Arial" pitchFamily="34" charset="0"/>
                <a:ea typeface="Arial" pitchFamily="34" charset="-122"/>
                <a:cs typeface="Arial" pitchFamily="34" charset="-120"/>
              </a:rPr>
              <a:t>File: wholesale-customers.xlsx</a:t>
            </a:r>
            <a:endParaRPr lang="en-US" sz="1800" dirty="0"/>
          </a:p>
        </p:txBody>
      </p:sp>
      <p:sp>
        <p:nvSpPr>
          <p:cNvPr id="8" name="Text 5"/>
          <p:cNvSpPr/>
          <p:nvPr/>
        </p:nvSpPr>
        <p:spPr>
          <a:xfrm>
            <a:off x="640080" y="2743200"/>
            <a:ext cx="7589520" cy="3383280"/>
          </a:xfrm>
          <a:prstGeom prst="rect">
            <a:avLst/>
          </a:prstGeom>
          <a:noFill/>
          <a:ln/>
        </p:spPr>
        <p:txBody>
          <a:bodyPr wrap="square" lIns="0" tIns="0" rIns="0" bIns="0" rtlCol="0" anchor="ctr"/>
          <a:lstStyle/>
          <a:p>
            <a:pPr indent="0" marL="0">
              <a:buNone/>
            </a:pPr>
            <a:r>
              <a:rPr lang="en-US" sz="1800" b="1" dirty="0">
                <a:solidFill>
                  <a:srgbClr val="CF3338"/>
                </a:solidFill>
                <a:latin typeface="Arial" pitchFamily="34" charset="0"/>
                <a:ea typeface="Arial" pitchFamily="34" charset="-122"/>
                <a:cs typeface="Arial" pitchFamily="34" charset="-120"/>
              </a:rPr>
              <a:t>1.  </a:t>
            </a:r>
            <a:pPr indent="0" marL="0">
              <a:spcAft>
                <a:spcPts val="1300"/>
              </a:spcAft>
              <a:buNone/>
            </a:pPr>
            <a:r>
              <a:rPr lang="en-US" sz="1800" dirty="0">
                <a:solidFill>
                  <a:srgbClr val="707070"/>
                </a:solidFill>
                <a:latin typeface="Arial" pitchFamily="34" charset="0"/>
                <a:ea typeface="Arial" pitchFamily="34" charset="-122"/>
                <a:cs typeface="Arial" pitchFamily="34" charset="-120"/>
              </a:rPr>
              <a:t>Spot data with one attribute spread across many columns</a:t>
            </a:r>
            <a:endParaRPr lang="en-US" sz="1800" dirty="0"/>
          </a:p>
          <a:p>
            <a:pPr indent="0" marL="0">
              <a:buNone/>
            </a:pPr>
            <a:r>
              <a:rPr lang="en-US" sz="1800" b="1" dirty="0">
                <a:solidFill>
                  <a:srgbClr val="CF3338"/>
                </a:solidFill>
                <a:latin typeface="Arial" pitchFamily="34" charset="0"/>
                <a:ea typeface="Arial" pitchFamily="34" charset="-122"/>
                <a:cs typeface="Arial" pitchFamily="34" charset="-120"/>
              </a:rPr>
              <a:t>2.  </a:t>
            </a:r>
            <a:pPr indent="0" marL="0">
              <a:spcAft>
                <a:spcPts val="1300"/>
              </a:spcAft>
              <a:buNone/>
            </a:pPr>
            <a:r>
              <a:rPr lang="en-US" sz="1800" dirty="0">
                <a:solidFill>
                  <a:srgbClr val="707070"/>
                </a:solidFill>
                <a:latin typeface="Arial" pitchFamily="34" charset="0"/>
                <a:ea typeface="Arial" pitchFamily="34" charset="-122"/>
                <a:cs typeface="Arial" pitchFamily="34" charset="-120"/>
              </a:rPr>
              <a:t>Select those columns, right-click, then Unpivot Columns</a:t>
            </a:r>
            <a:endParaRPr lang="en-US" sz="1800" dirty="0"/>
          </a:p>
          <a:p>
            <a:pPr indent="0" marL="0">
              <a:buNone/>
            </a:pPr>
            <a:r>
              <a:rPr lang="en-US" sz="1800" b="1" dirty="0">
                <a:solidFill>
                  <a:srgbClr val="CF3338"/>
                </a:solidFill>
                <a:latin typeface="Arial" pitchFamily="34" charset="0"/>
                <a:ea typeface="Arial" pitchFamily="34" charset="-122"/>
                <a:cs typeface="Arial" pitchFamily="34" charset="-120"/>
              </a:rPr>
              <a:t>3.  </a:t>
            </a:r>
            <a:pPr indent="0" marL="0">
              <a:spcAft>
                <a:spcPts val="1300"/>
              </a:spcAft>
              <a:buNone/>
            </a:pPr>
            <a:r>
              <a:rPr lang="en-US" sz="1800" dirty="0">
                <a:solidFill>
                  <a:srgbClr val="707070"/>
                </a:solidFill>
                <a:latin typeface="Arial" pitchFamily="34" charset="0"/>
                <a:ea typeface="Arial" pitchFamily="34" charset="-122"/>
                <a:cs typeface="Arial" pitchFamily="34" charset="-120"/>
              </a:rPr>
              <a:t>Get tidy Attribute / Value columns</a:t>
            </a:r>
            <a:endParaRPr lang="en-US" sz="1800" dirty="0"/>
          </a:p>
          <a:p>
            <a:pPr indent="0" marL="0">
              <a:buNone/>
            </a:pPr>
            <a:r>
              <a:rPr lang="en-US" sz="1800" b="1" dirty="0">
                <a:solidFill>
                  <a:srgbClr val="CF3338"/>
                </a:solidFill>
                <a:latin typeface="Arial" pitchFamily="34" charset="0"/>
                <a:ea typeface="Arial" pitchFamily="34" charset="-122"/>
                <a:cs typeface="Arial" pitchFamily="34" charset="-120"/>
              </a:rPr>
              <a:t>4.  </a:t>
            </a:r>
            <a:pPr indent="0" marL="0">
              <a:spcAft>
                <a:spcPts val="1300"/>
              </a:spcAft>
              <a:buNone/>
            </a:pPr>
            <a:r>
              <a:rPr lang="en-US" sz="1800" dirty="0">
                <a:solidFill>
                  <a:srgbClr val="707070"/>
                </a:solidFill>
                <a:latin typeface="Arial" pitchFamily="34" charset="0"/>
                <a:ea typeface="Arial" pitchFamily="34" charset="-122"/>
                <a:cs typeface="Arial" pitchFamily="34" charset="-120"/>
              </a:rPr>
              <a:t>Now you can pivot, analyze, and report on it</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EECE1"/>
        </a:solidFill>
      </p:bgPr>
    </p:bg>
    <p:spTree>
      <p:nvGrpSpPr>
        <p:cNvPr id="1" name=""/>
        <p:cNvGrpSpPr/>
        <p:nvPr/>
      </p:nvGrpSpPr>
      <p:grpSpPr>
        <a:xfrm>
          <a:off x="0" y="0"/>
          <a:ext cx="0" cy="0"/>
          <a:chOff x="0" y="0"/>
          <a:chExt cx="0" cy="0"/>
        </a:xfrm>
      </p:grpSpPr>
      <p:pic>
        <p:nvPicPr>
          <p:cNvPr id="2" name="Image 0" descr="/sessions/charming-zealous-noether/mnt/outputs/deckassets/stringfest-wordmark-dark.png">    </p:cNvPr>
          <p:cNvPicPr>
            <a:picLocks noChangeAspect="1"/>
          </p:cNvPicPr>
          <p:nvPr/>
        </p:nvPicPr>
        <p:blipFill>
          <a:blip r:embed="rId1"/>
          <a:stretch>
            <a:fillRect/>
          </a:stretch>
        </p:blipFill>
        <p:spPr>
          <a:xfrm>
            <a:off x="502920" y="384048"/>
            <a:ext cx="1828800" cy="258305"/>
          </a:xfrm>
          <a:prstGeom prst="rect">
            <a:avLst/>
          </a:prstGeom>
        </p:spPr>
      </p:pic>
      <p:sp>
        <p:nvSpPr>
          <p:cNvPr id="3" name="Text 0"/>
          <p:cNvSpPr/>
          <p:nvPr/>
        </p:nvSpPr>
        <p:spPr>
          <a:xfrm>
            <a:off x="548640" y="868680"/>
            <a:ext cx="10058400" cy="320040"/>
          </a:xfrm>
          <a:prstGeom prst="rect">
            <a:avLst/>
          </a:prstGeom>
          <a:noFill/>
          <a:ln/>
        </p:spPr>
        <p:txBody>
          <a:bodyPr wrap="square" lIns="0" tIns="0" rIns="0" bIns="0" rtlCol="0" anchor="ctr"/>
          <a:lstStyle/>
          <a:p>
            <a:pPr indent="0" marL="0">
              <a:buNone/>
            </a:pPr>
            <a:r>
              <a:rPr lang="en-US" sz="1300" b="1" spc="300" kern="0" dirty="0">
                <a:solidFill>
                  <a:srgbClr val="CF3338"/>
                </a:solidFill>
                <a:latin typeface="Arial" pitchFamily="34" charset="0"/>
                <a:ea typeface="Arial" pitchFamily="34" charset="-122"/>
                <a:cs typeface="Arial" pitchFamily="34" charset="-120"/>
              </a:rPr>
              <a:t>THE TAKEAWAY</a:t>
            </a:r>
            <a:endParaRPr lang="en-US" sz="1300" dirty="0"/>
          </a:p>
        </p:txBody>
      </p:sp>
      <p:sp>
        <p:nvSpPr>
          <p:cNvPr id="4" name="Text 1"/>
          <p:cNvSpPr/>
          <p:nvPr/>
        </p:nvSpPr>
        <p:spPr>
          <a:xfrm>
            <a:off x="548640" y="1143000"/>
            <a:ext cx="11064240" cy="1097280"/>
          </a:xfrm>
          <a:prstGeom prst="rect">
            <a:avLst/>
          </a:prstGeom>
          <a:noFill/>
          <a:ln/>
        </p:spPr>
        <p:txBody>
          <a:bodyPr wrap="square" lIns="0" tIns="0" rIns="0" bIns="0" rtlCol="0" anchor="ctr"/>
          <a:lstStyle/>
          <a:p>
            <a:pPr algn="l" indent="0" marL="0">
              <a:buNone/>
            </a:pPr>
            <a:r>
              <a:rPr lang="en-US" sz="3800" b="1" dirty="0">
                <a:solidFill>
                  <a:srgbClr val="1F2120"/>
                </a:solidFill>
                <a:latin typeface="Arial Black" pitchFamily="34" charset="0"/>
                <a:ea typeface="Arial Black" pitchFamily="34" charset="-122"/>
                <a:cs typeface="Arial Black" pitchFamily="34" charset="-120"/>
              </a:rPr>
              <a:t>It's about when, not just how</a:t>
            </a:r>
            <a:endParaRPr lang="en-US" sz="3800" dirty="0"/>
          </a:p>
        </p:txBody>
      </p:sp>
      <p:sp>
        <p:nvSpPr>
          <p:cNvPr id="5" name="Text 2"/>
          <p:cNvSpPr/>
          <p:nvPr/>
        </p:nvSpPr>
        <p:spPr>
          <a:xfrm>
            <a:off x="640080" y="2286000"/>
            <a:ext cx="10424160" cy="822960"/>
          </a:xfrm>
          <a:prstGeom prst="rect">
            <a:avLst/>
          </a:prstGeom>
          <a:noFill/>
          <a:ln/>
        </p:spPr>
        <p:txBody>
          <a:bodyPr wrap="square" lIns="0" tIns="0" rIns="0" bIns="0" rtlCol="0" anchor="ctr"/>
          <a:lstStyle/>
          <a:p>
            <a:pPr indent="0" marL="0">
              <a:lnSpc>
                <a:spcPct val="112000"/>
              </a:lnSpc>
              <a:buNone/>
            </a:pPr>
            <a:r>
              <a:rPr lang="en-US" sz="1800" dirty="0">
                <a:solidFill>
                  <a:srgbClr val="707070"/>
                </a:solidFill>
                <a:latin typeface="Arial" pitchFamily="34" charset="0"/>
                <a:ea typeface="Arial" pitchFamily="34" charset="-122"/>
                <a:cs typeface="Arial" pitchFamily="34" charset="-120"/>
              </a:rPr>
              <a:t>A few foundational steps eliminate most of the copy-paste-and-fix routines people get stuck doing in Excel:</a:t>
            </a:r>
            <a:endParaRPr lang="en-US" sz="1800" dirty="0"/>
          </a:p>
        </p:txBody>
      </p:sp>
      <p:sp>
        <p:nvSpPr>
          <p:cNvPr id="6" name="Text 3"/>
          <p:cNvSpPr/>
          <p:nvPr/>
        </p:nvSpPr>
        <p:spPr>
          <a:xfrm>
            <a:off x="640080" y="3200400"/>
            <a:ext cx="10241280" cy="2194560"/>
          </a:xfrm>
          <a:prstGeom prst="rect">
            <a:avLst/>
          </a:prstGeom>
          <a:noFill/>
          <a:ln/>
        </p:spPr>
        <p:txBody>
          <a:bodyPr wrap="square" lIns="0" tIns="0" rIns="0" bIns="0" rtlCol="0" anchor="ctr"/>
          <a:lstStyle/>
          <a:p>
            <a:pPr marL="279400" indent="-279400">
              <a:spcAft>
                <a:spcPts val="1400"/>
              </a:spcAft>
              <a:buSzPct val="100000"/>
              <a:buChar char="•"/>
            </a:pPr>
            <a:r>
              <a:rPr lang="en-US" sz="2000" dirty="0">
                <a:solidFill>
                  <a:srgbClr val="1F2120"/>
                </a:solidFill>
                <a:latin typeface="Arial" pitchFamily="34" charset="0"/>
                <a:ea typeface="Arial" pitchFamily="34" charset="-122"/>
                <a:cs typeface="Arial" pitchFamily="34" charset="-120"/>
              </a:rPr>
              <a:t>Profile first, so you actually know what’s in your data</a:t>
            </a:r>
            <a:endParaRPr lang="en-US" sz="2000" dirty="0"/>
          </a:p>
          <a:p>
            <a:pPr marL="279400" indent="-279400">
              <a:spcAft>
                <a:spcPts val="1400"/>
              </a:spcAft>
              <a:buSzPct val="100000"/>
              <a:buChar char="•"/>
            </a:pPr>
            <a:r>
              <a:rPr lang="en-US" sz="2000" dirty="0">
                <a:solidFill>
                  <a:srgbClr val="1F2120"/>
                </a:solidFill>
                <a:latin typeface="Arial" pitchFamily="34" charset="0"/>
                <a:ea typeface="Arial" pitchFamily="34" charset="-122"/>
                <a:cs typeface="Arial" pitchFamily="34" charset="-120"/>
              </a:rPr>
              <a:t>Build cleanup as Applied Steps that re-run on every refresh</a:t>
            </a:r>
            <a:endParaRPr lang="en-US" sz="2000" dirty="0"/>
          </a:p>
          <a:p>
            <a:pPr marL="279400" indent="-279400">
              <a:spcAft>
                <a:spcPts val="1400"/>
              </a:spcAft>
              <a:buSzPct val="100000"/>
              <a:buChar char="•"/>
            </a:pPr>
            <a:r>
              <a:rPr lang="en-US" sz="2000" dirty="0">
                <a:solidFill>
                  <a:srgbClr val="1F2120"/>
                </a:solidFill>
                <a:latin typeface="Arial" pitchFamily="34" charset="0"/>
                <a:ea typeface="Arial" pitchFamily="34" charset="-122"/>
                <a:cs typeface="Arial" pitchFamily="34" charset="-120"/>
              </a:rPr>
              <a:t>Reshape with Unpivot so data lands in a form you can use</a:t>
            </a:r>
            <a:endParaRPr lang="en-US" sz="2000" dirty="0"/>
          </a:p>
        </p:txBody>
      </p:sp>
      <p:sp>
        <p:nvSpPr>
          <p:cNvPr id="7" name="Text 4"/>
          <p:cNvSpPr/>
          <p:nvPr/>
        </p:nvSpPr>
        <p:spPr>
          <a:xfrm>
            <a:off x="640080" y="5577840"/>
            <a:ext cx="10881360" cy="548640"/>
          </a:xfrm>
          <a:prstGeom prst="rect">
            <a:avLst/>
          </a:prstGeom>
          <a:noFill/>
          <a:ln/>
        </p:spPr>
        <p:txBody>
          <a:bodyPr wrap="square" lIns="0" tIns="0" rIns="0" bIns="0" rtlCol="0" anchor="ctr"/>
          <a:lstStyle/>
          <a:p>
            <a:pPr indent="0" marL="0">
              <a:buNone/>
            </a:pPr>
            <a:r>
              <a:rPr lang="en-US" sz="1600" b="1" i="1" dirty="0">
                <a:solidFill>
                  <a:srgbClr val="CF3338"/>
                </a:solidFill>
                <a:latin typeface="Arial" pitchFamily="34" charset="0"/>
                <a:ea typeface="Arial" pitchFamily="34" charset="-122"/>
                <a:cs typeface="Arial" pitchFamily="34" charset="-120"/>
              </a:rPr>
              <a:t>Your reports stay consistent and refreshable, instead of being rebuilt by hand each week.</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EECE1"/>
        </a:solidFill>
      </p:bgPr>
    </p:bg>
    <p:spTree>
      <p:nvGrpSpPr>
        <p:cNvPr id="1" name=""/>
        <p:cNvGrpSpPr/>
        <p:nvPr/>
      </p:nvGrpSpPr>
      <p:grpSpPr>
        <a:xfrm>
          <a:off x="0" y="0"/>
          <a:ext cx="0" cy="0"/>
          <a:chOff x="0" y="0"/>
          <a:chExt cx="0" cy="0"/>
        </a:xfrm>
      </p:grpSpPr>
      <p:sp>
        <p:nvSpPr>
          <p:cNvPr id="2" name="Text 0"/>
          <p:cNvSpPr/>
          <p:nvPr/>
        </p:nvSpPr>
        <p:spPr>
          <a:xfrm>
            <a:off x="640080" y="777240"/>
            <a:ext cx="10058400" cy="365760"/>
          </a:xfrm>
          <a:prstGeom prst="rect">
            <a:avLst/>
          </a:prstGeom>
          <a:noFill/>
          <a:ln/>
        </p:spPr>
        <p:txBody>
          <a:bodyPr wrap="square" lIns="0" tIns="0" rIns="0" bIns="0" rtlCol="0" anchor="ctr"/>
          <a:lstStyle/>
          <a:p>
            <a:pPr indent="0" marL="0">
              <a:buNone/>
            </a:pPr>
            <a:r>
              <a:rPr lang="en-US" sz="1400" b="1" spc="250" kern="0" dirty="0">
                <a:solidFill>
                  <a:srgbClr val="CF3338"/>
                </a:solidFill>
                <a:latin typeface="Arial" pitchFamily="34" charset="0"/>
                <a:ea typeface="Arial" pitchFamily="34" charset="-122"/>
                <a:cs typeface="Arial" pitchFamily="34" charset="-120"/>
              </a:rPr>
              <a:t>PRACTICE AFTER THE SESSION</a:t>
            </a:r>
            <a:endParaRPr lang="en-US" sz="1400" dirty="0"/>
          </a:p>
        </p:txBody>
      </p:sp>
      <p:sp>
        <p:nvSpPr>
          <p:cNvPr id="3" name="Text 1"/>
          <p:cNvSpPr/>
          <p:nvPr/>
        </p:nvSpPr>
        <p:spPr>
          <a:xfrm>
            <a:off x="548640" y="1188720"/>
            <a:ext cx="11155680" cy="1463040"/>
          </a:xfrm>
          <a:prstGeom prst="rect">
            <a:avLst/>
          </a:prstGeom>
          <a:noFill/>
          <a:ln/>
        </p:spPr>
        <p:txBody>
          <a:bodyPr wrap="square" lIns="0" tIns="0" rIns="0" bIns="0" rtlCol="0" anchor="ctr"/>
          <a:lstStyle/>
          <a:p>
            <a:pPr indent="0" marL="0">
              <a:lnSpc>
                <a:spcPct val="100000"/>
              </a:lnSpc>
              <a:buNone/>
            </a:pPr>
            <a:r>
              <a:rPr lang="en-US" sz="3400" b="1" dirty="0">
                <a:solidFill>
                  <a:srgbClr val="1F2120"/>
                </a:solidFill>
                <a:latin typeface="Arial Black" pitchFamily="34" charset="0"/>
                <a:ea typeface="Arial Black" pitchFamily="34" charset="-122"/>
                <a:cs typeface="Arial Black" pitchFamily="34" charset="-120"/>
              </a:rPr>
              <a:t>Get the files, replay &amp; practice materials</a:t>
            </a:r>
            <a:endParaRPr lang="en-US" sz="3400" dirty="0"/>
          </a:p>
        </p:txBody>
      </p:sp>
      <p:pic>
        <p:nvPicPr>
          <p:cNvPr id="4" name="Image 0" descr="/sessions/charming-zealous-noether/mnt/outputs/deckassets/membership-mxlais.png">    </p:cNvPr>
          <p:cNvPicPr>
            <a:picLocks noChangeAspect="1"/>
          </p:cNvPicPr>
          <p:nvPr/>
        </p:nvPicPr>
        <p:blipFill>
          <a:blip r:embed="rId1"/>
          <a:stretch>
            <a:fillRect/>
          </a:stretch>
        </p:blipFill>
        <p:spPr>
          <a:xfrm>
            <a:off x="7040880" y="2743200"/>
            <a:ext cx="4572000" cy="3050982"/>
          </a:xfrm>
          <a:prstGeom prst="rect">
            <a:avLst/>
          </a:prstGeom>
          <a:effectLst>
            <a:outerShdw sx="100000" sy="100000" kx="0" ky="0" algn="bl" rotWithShape="0" blurRad="101600" dist="38100" dir="8100000">
              <a:srgbClr val="000000">
                <a:alpha val="12000"/>
              </a:srgbClr>
            </a:outerShdw>
          </a:effectLst>
        </p:spPr>
      </p:pic>
      <p:sp>
        <p:nvSpPr>
          <p:cNvPr id="5" name="Text 2"/>
          <p:cNvSpPr/>
          <p:nvPr/>
        </p:nvSpPr>
        <p:spPr>
          <a:xfrm>
            <a:off x="640080" y="2834640"/>
            <a:ext cx="6126480" cy="2286000"/>
          </a:xfrm>
          <a:prstGeom prst="rect">
            <a:avLst/>
          </a:prstGeom>
          <a:noFill/>
          <a:ln/>
        </p:spPr>
        <p:txBody>
          <a:bodyPr wrap="square" lIns="0" tIns="0" rIns="0" bIns="0" rtlCol="0" anchor="ctr"/>
          <a:lstStyle/>
          <a:p>
            <a:pPr marL="279400" indent="-279400">
              <a:spcAft>
                <a:spcPts val="1100"/>
              </a:spcAft>
              <a:buSzPct val="100000"/>
              <a:buChar char="✓"/>
            </a:pPr>
            <a:r>
              <a:rPr lang="en-US" sz="1800" dirty="0">
                <a:solidFill>
                  <a:srgbClr val="1F2120"/>
                </a:solidFill>
                <a:latin typeface="Arial" pitchFamily="34" charset="0"/>
                <a:ea typeface="Arial" pitchFamily="34" charset="-122"/>
                <a:cs typeface="Arial" pitchFamily="34" charset="-120"/>
              </a:rPr>
              <a:t>Download files for all three demos</a:t>
            </a:r>
            <a:endParaRPr lang="en-US" sz="1800" dirty="0"/>
          </a:p>
          <a:p>
            <a:pPr marL="279400" indent="-279400">
              <a:spcAft>
                <a:spcPts val="1100"/>
              </a:spcAft>
              <a:buSzPct val="100000"/>
              <a:buChar char="✓"/>
            </a:pPr>
            <a:r>
              <a:rPr lang="en-US" sz="1800" dirty="0">
                <a:solidFill>
                  <a:srgbClr val="1F2120"/>
                </a:solidFill>
                <a:latin typeface="Arial" pitchFamily="34" charset="0"/>
                <a:ea typeface="Arial" pitchFamily="34" charset="-122"/>
                <a:cs typeface="Arial" pitchFamily="34" charset="-120"/>
              </a:rPr>
              <a:t>Full session replay</a:t>
            </a:r>
            <a:endParaRPr lang="en-US" sz="1800" dirty="0"/>
          </a:p>
          <a:p>
            <a:pPr marL="279400" indent="-279400">
              <a:spcAft>
                <a:spcPts val="1100"/>
              </a:spcAft>
              <a:buSzPct val="100000"/>
              <a:buChar char="✓"/>
            </a:pPr>
            <a:r>
              <a:rPr lang="en-US" sz="1800" dirty="0">
                <a:solidFill>
                  <a:srgbClr val="1F2120"/>
                </a:solidFill>
                <a:latin typeface="Arial" pitchFamily="34" charset="0"/>
                <a:ea typeface="Arial" pitchFamily="34" charset="-122"/>
                <a:cs typeface="Arial" pitchFamily="34" charset="-120"/>
              </a:rPr>
              <a:t>Practice materials to redo every example</a:t>
            </a:r>
            <a:endParaRPr lang="en-US" sz="1800" dirty="0"/>
          </a:p>
          <a:p>
            <a:pPr marL="279400" indent="-279400">
              <a:spcAft>
                <a:spcPts val="1100"/>
              </a:spcAft>
              <a:buSzPct val="100000"/>
              <a:buChar char="✓"/>
            </a:pPr>
            <a:r>
              <a:rPr lang="en-US" sz="1800" dirty="0">
                <a:solidFill>
                  <a:srgbClr val="1F2120"/>
                </a:solidFill>
                <a:latin typeface="Arial" pitchFamily="34" charset="0"/>
                <a:ea typeface="Arial" pitchFamily="34" charset="-122"/>
                <a:cs typeface="Arial" pitchFamily="34" charset="-120"/>
              </a:rPr>
              <a:t>The growing archive of past session materials</a:t>
            </a:r>
            <a:endParaRPr lang="en-US" sz="1800" dirty="0"/>
          </a:p>
        </p:txBody>
      </p:sp>
      <p:sp>
        <p:nvSpPr>
          <p:cNvPr id="6" name="Shape 3"/>
          <p:cNvSpPr/>
          <p:nvPr/>
        </p:nvSpPr>
        <p:spPr>
          <a:xfrm>
            <a:off x="640080" y="5212080"/>
            <a:ext cx="6035040" cy="658368"/>
          </a:xfrm>
          <a:prstGeom prst="rect">
            <a:avLst/>
          </a:prstGeom>
          <a:solidFill>
            <a:srgbClr val="CF3338"/>
          </a:solidFill>
          <a:ln/>
        </p:spPr>
      </p:sp>
      <p:sp>
        <p:nvSpPr>
          <p:cNvPr id="7" name="Text 4">
            <a:hlinkClick r:id="rId2" tooltip=""/>
          </p:cNvPr>
          <p:cNvSpPr/>
          <p:nvPr/>
        </p:nvSpPr>
        <p:spPr>
          <a:xfrm>
            <a:off x="640080" y="5212080"/>
            <a:ext cx="6035040" cy="658368"/>
          </a:xfrm>
          <a:prstGeom prst="rect">
            <a:avLst/>
          </a:prstGeom>
          <a:noFill/>
          <a:ln/>
        </p:spPr>
        <p:txBody>
          <a:bodyPr wrap="square" lIns="0" tIns="0" rIns="0" bIns="0" rtlCol="0" anchor="ctr"/>
          <a:lstStyle/>
          <a:p>
            <a:pPr algn="ctr" indent="0" marL="0">
              <a:buNone/>
            </a:pPr>
            <a:r>
              <a:rPr lang="en-US" sz="1500" b="1" u="sng" dirty="0">
                <a:solidFill>
                  <a:srgbClr val="FFFFF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Join the membership:  stringfestdata.gumroad.com/l/mxlais</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EECE1"/>
        </a:solidFill>
      </p:bgPr>
    </p:bg>
    <p:spTree>
      <p:nvGrpSpPr>
        <p:cNvPr id="1" name=""/>
        <p:cNvGrpSpPr/>
        <p:nvPr/>
      </p:nvGrpSpPr>
      <p:grpSpPr>
        <a:xfrm>
          <a:off x="0" y="0"/>
          <a:ext cx="0" cy="0"/>
          <a:chOff x="0" y="0"/>
          <a:chExt cx="0" cy="0"/>
        </a:xfrm>
      </p:grpSpPr>
      <p:pic>
        <p:nvPicPr>
          <p:cNvPr id="2" name="Image 0" descr="/sessions/charming-zealous-noether/mnt/outputs/deckassets/stringfest-wordmark-dark.png">    </p:cNvPr>
          <p:cNvPicPr>
            <a:picLocks noChangeAspect="1"/>
          </p:cNvPicPr>
          <p:nvPr/>
        </p:nvPicPr>
        <p:blipFill>
          <a:blip r:embed="rId1"/>
          <a:stretch>
            <a:fillRect/>
          </a:stretch>
        </p:blipFill>
        <p:spPr>
          <a:xfrm>
            <a:off x="502920" y="384048"/>
            <a:ext cx="1828800" cy="258305"/>
          </a:xfrm>
          <a:prstGeom prst="rect">
            <a:avLst/>
          </a:prstGeom>
        </p:spPr>
      </p:pic>
      <p:sp>
        <p:nvSpPr>
          <p:cNvPr id="3" name="Text 0"/>
          <p:cNvSpPr/>
          <p:nvPr/>
        </p:nvSpPr>
        <p:spPr>
          <a:xfrm>
            <a:off x="548640" y="868680"/>
            <a:ext cx="10058400" cy="320040"/>
          </a:xfrm>
          <a:prstGeom prst="rect">
            <a:avLst/>
          </a:prstGeom>
          <a:noFill/>
          <a:ln/>
        </p:spPr>
        <p:txBody>
          <a:bodyPr wrap="square" lIns="0" tIns="0" rIns="0" bIns="0" rtlCol="0" anchor="ctr"/>
          <a:lstStyle/>
          <a:p>
            <a:pPr indent="0" marL="0">
              <a:buNone/>
            </a:pPr>
            <a:r>
              <a:rPr lang="en-US" sz="1300" b="1" spc="300" kern="0" dirty="0">
                <a:solidFill>
                  <a:srgbClr val="CF3338"/>
                </a:solidFill>
                <a:latin typeface="Arial" pitchFamily="34" charset="0"/>
                <a:ea typeface="Arial" pitchFamily="34" charset="-122"/>
                <a:cs typeface="Arial" pitchFamily="34" charset="-120"/>
              </a:rPr>
              <a:t>WANT TO GO DEEPER?</a:t>
            </a:r>
            <a:endParaRPr lang="en-US" sz="1300" dirty="0"/>
          </a:p>
        </p:txBody>
      </p:sp>
      <p:sp>
        <p:nvSpPr>
          <p:cNvPr id="4" name="Text 1"/>
          <p:cNvSpPr/>
          <p:nvPr/>
        </p:nvSpPr>
        <p:spPr>
          <a:xfrm>
            <a:off x="548640" y="1143000"/>
            <a:ext cx="11064240" cy="1097280"/>
          </a:xfrm>
          <a:prstGeom prst="rect">
            <a:avLst/>
          </a:prstGeom>
          <a:noFill/>
          <a:ln/>
        </p:spPr>
        <p:txBody>
          <a:bodyPr wrap="square" lIns="0" tIns="0" rIns="0" bIns="0" rtlCol="0" anchor="ctr"/>
          <a:lstStyle/>
          <a:p>
            <a:pPr algn="l" indent="0" marL="0">
              <a:buNone/>
            </a:pPr>
            <a:r>
              <a:rPr lang="en-US" sz="3800" b="1" dirty="0">
                <a:solidFill>
                  <a:srgbClr val="1F2120"/>
                </a:solidFill>
                <a:latin typeface="Arial Black" pitchFamily="34" charset="0"/>
                <a:ea typeface="Arial Black" pitchFamily="34" charset="-122"/>
                <a:cs typeface="Arial Black" pitchFamily="34" charset="-120"/>
              </a:rPr>
              <a:t>Two more ways to keep going</a:t>
            </a:r>
            <a:endParaRPr lang="en-US" sz="3800" dirty="0"/>
          </a:p>
        </p:txBody>
      </p:sp>
      <p:pic>
        <p:nvPicPr>
          <p:cNvPr id="5" name="Image 1" descr="/sessions/charming-zealous-noether/mnt/outputs/deckassets/book-maxl.png">    </p:cNvPr>
          <p:cNvPicPr>
            <a:picLocks noChangeAspect="1"/>
          </p:cNvPicPr>
          <p:nvPr/>
        </p:nvPicPr>
        <p:blipFill>
          <a:blip r:embed="rId2"/>
          <a:stretch>
            <a:fillRect/>
          </a:stretch>
        </p:blipFill>
        <p:spPr>
          <a:xfrm>
            <a:off x="640080" y="2377440"/>
            <a:ext cx="1882474" cy="2468880"/>
          </a:xfrm>
          <a:prstGeom prst="rect">
            <a:avLst/>
          </a:prstGeom>
          <a:effectLst>
            <a:outerShdw sx="100000" sy="100000" kx="0" ky="0" algn="bl" rotWithShape="0" blurRad="127000" dist="50800" dir="8100000">
              <a:srgbClr val="000000">
                <a:alpha val="20000"/>
              </a:srgbClr>
            </a:outerShdw>
          </a:effectLst>
        </p:spPr>
      </p:pic>
      <p:sp>
        <p:nvSpPr>
          <p:cNvPr id="6" name="Text 2"/>
          <p:cNvSpPr/>
          <p:nvPr/>
        </p:nvSpPr>
        <p:spPr>
          <a:xfrm>
            <a:off x="2834640" y="2468880"/>
            <a:ext cx="3657600" cy="320040"/>
          </a:xfrm>
          <a:prstGeom prst="rect">
            <a:avLst/>
          </a:prstGeom>
          <a:noFill/>
          <a:ln/>
        </p:spPr>
        <p:txBody>
          <a:bodyPr wrap="square" lIns="0" tIns="0" rIns="0" bIns="0" rtlCol="0" anchor="ctr"/>
          <a:lstStyle/>
          <a:p>
            <a:pPr indent="0" marL="0">
              <a:buNone/>
            </a:pPr>
            <a:r>
              <a:rPr lang="en-US" sz="1250" b="1" spc="150" kern="0" dirty="0">
                <a:solidFill>
                  <a:srgbClr val="CF3338"/>
                </a:solidFill>
                <a:latin typeface="Arial" pitchFamily="34" charset="0"/>
                <a:ea typeface="Arial" pitchFamily="34" charset="-122"/>
                <a:cs typeface="Arial" pitchFamily="34" charset="-120"/>
              </a:rPr>
              <a:t>READ THE BOOK</a:t>
            </a:r>
            <a:endParaRPr lang="en-US" sz="1250" dirty="0"/>
          </a:p>
        </p:txBody>
      </p:sp>
      <p:sp>
        <p:nvSpPr>
          <p:cNvPr id="7" name="Text 3"/>
          <p:cNvSpPr/>
          <p:nvPr/>
        </p:nvSpPr>
        <p:spPr>
          <a:xfrm>
            <a:off x="2834640" y="2834640"/>
            <a:ext cx="3200400" cy="1097280"/>
          </a:xfrm>
          <a:prstGeom prst="rect">
            <a:avLst/>
          </a:prstGeom>
          <a:noFill/>
          <a:ln/>
        </p:spPr>
        <p:txBody>
          <a:bodyPr wrap="square" lIns="0" tIns="0" rIns="0" bIns="0" rtlCol="0" anchor="ctr"/>
          <a:lstStyle/>
          <a:p>
            <a:pPr indent="0" marL="0">
              <a:lnSpc>
                <a:spcPct val="100000"/>
              </a:lnSpc>
              <a:buNone/>
            </a:pPr>
            <a:r>
              <a:rPr lang="en-US" sz="1900" b="1" dirty="0">
                <a:solidFill>
                  <a:srgbClr val="1F2120"/>
                </a:solidFill>
                <a:latin typeface="Arial Black" pitchFamily="34" charset="0"/>
                <a:ea typeface="Arial Black" pitchFamily="34" charset="-122"/>
                <a:cs typeface="Arial Black" pitchFamily="34" charset="-120"/>
              </a:rPr>
              <a:t>Modern Data Analytics in Excel</a:t>
            </a:r>
            <a:endParaRPr lang="en-US" sz="1900" dirty="0"/>
          </a:p>
        </p:txBody>
      </p:sp>
      <p:sp>
        <p:nvSpPr>
          <p:cNvPr id="8" name="Text 4"/>
          <p:cNvSpPr/>
          <p:nvPr/>
        </p:nvSpPr>
        <p:spPr>
          <a:xfrm>
            <a:off x="2834640" y="3886200"/>
            <a:ext cx="3200400" cy="640080"/>
          </a:xfrm>
          <a:prstGeom prst="rect">
            <a:avLst/>
          </a:prstGeom>
          <a:noFill/>
          <a:ln/>
        </p:spPr>
        <p:txBody>
          <a:bodyPr wrap="square" lIns="0" tIns="0" rIns="0" bIns="0" rtlCol="0" anchor="ctr"/>
          <a:lstStyle/>
          <a:p>
            <a:pPr indent="0" marL="0">
              <a:lnSpc>
                <a:spcPct val="110000"/>
              </a:lnSpc>
              <a:buNone/>
            </a:pPr>
            <a:r>
              <a:rPr lang="en-US" sz="1400" dirty="0">
                <a:solidFill>
                  <a:srgbClr val="707070"/>
                </a:solidFill>
                <a:latin typeface="Arial" pitchFamily="34" charset="0"/>
                <a:ea typeface="Arial" pitchFamily="34" charset="-122"/>
                <a:cs typeface="Arial" pitchFamily="34" charset="-120"/>
              </a:rPr>
              <a:t>Power Query, Power Pivot &amp; more (O’Reilly).</a:t>
            </a:r>
            <a:endParaRPr lang="en-US" sz="1400" dirty="0"/>
          </a:p>
        </p:txBody>
      </p:sp>
      <p:sp>
        <p:nvSpPr>
          <p:cNvPr id="9" name="Text 5">
            <a:hlinkClick r:id="rId3" tooltip=""/>
          </p:cNvPr>
          <p:cNvSpPr/>
          <p:nvPr/>
        </p:nvSpPr>
        <p:spPr>
          <a:xfrm>
            <a:off x="2834640" y="4572000"/>
            <a:ext cx="3291840" cy="365760"/>
          </a:xfrm>
          <a:prstGeom prst="rect">
            <a:avLst/>
          </a:prstGeom>
          <a:noFill/>
          <a:ln/>
        </p:spPr>
        <p:txBody>
          <a:bodyPr wrap="square" lIns="0" tIns="0" rIns="0" bIns="0" rtlCol="0" anchor="ctr"/>
          <a:lstStyle/>
          <a:p>
            <a:pPr indent="0" marL="0">
              <a:buNone/>
            </a:pPr>
            <a:r>
              <a:rPr lang="en-US" sz="1350" b="1" u="sng" dirty="0">
                <a:solidFill>
                  <a:srgbClr val="CF3338"/>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stringfestanalytics.com/maxl</a:t>
            </a:r>
            <a:endParaRPr lang="en-US" sz="1350" dirty="0"/>
          </a:p>
        </p:txBody>
      </p:sp>
      <p:sp>
        <p:nvSpPr>
          <p:cNvPr id="10" name="Shape 6"/>
          <p:cNvSpPr/>
          <p:nvPr/>
        </p:nvSpPr>
        <p:spPr>
          <a:xfrm>
            <a:off x="6583680" y="2377440"/>
            <a:ext cx="4937760" cy="3246120"/>
          </a:xfrm>
          <a:prstGeom prst="rect">
            <a:avLst/>
          </a:prstGeom>
          <a:solidFill>
            <a:srgbClr val="FFFFFF"/>
          </a:solidFill>
          <a:ln w="12700">
            <a:solidFill>
              <a:srgbClr val="DEDBCF"/>
            </a:solidFill>
            <a:prstDash val="solid"/>
          </a:ln>
          <a:effectLst>
            <a:outerShdw sx="100000" sy="100000" kx="0" ky="0" algn="bl" rotWithShape="0" blurRad="101600" dist="38100" dir="8100000">
              <a:srgbClr val="000000">
                <a:alpha val="12000"/>
              </a:srgbClr>
            </a:outerShdw>
          </a:effectLst>
        </p:spPr>
      </p:sp>
      <p:sp>
        <p:nvSpPr>
          <p:cNvPr id="11" name="Shape 7"/>
          <p:cNvSpPr/>
          <p:nvPr/>
        </p:nvSpPr>
        <p:spPr>
          <a:xfrm>
            <a:off x="6583680" y="2377440"/>
            <a:ext cx="128016" cy="3246120"/>
          </a:xfrm>
          <a:prstGeom prst="rect">
            <a:avLst/>
          </a:prstGeom>
          <a:solidFill>
            <a:srgbClr val="CF3338"/>
          </a:solidFill>
          <a:ln/>
        </p:spPr>
      </p:sp>
      <p:sp>
        <p:nvSpPr>
          <p:cNvPr id="12" name="Text 8"/>
          <p:cNvSpPr/>
          <p:nvPr/>
        </p:nvSpPr>
        <p:spPr>
          <a:xfrm>
            <a:off x="6903720" y="2606040"/>
            <a:ext cx="4389120" cy="320040"/>
          </a:xfrm>
          <a:prstGeom prst="rect">
            <a:avLst/>
          </a:prstGeom>
          <a:noFill/>
          <a:ln/>
        </p:spPr>
        <p:txBody>
          <a:bodyPr wrap="square" lIns="0" tIns="0" rIns="0" bIns="0" rtlCol="0" anchor="ctr"/>
          <a:lstStyle/>
          <a:p>
            <a:pPr indent="0" marL="0">
              <a:buNone/>
            </a:pPr>
            <a:r>
              <a:rPr lang="en-US" sz="1250" b="1" spc="150" kern="0" dirty="0">
                <a:solidFill>
                  <a:srgbClr val="CF3338"/>
                </a:solidFill>
                <a:latin typeface="Arial" pitchFamily="34" charset="0"/>
                <a:ea typeface="Arial" pitchFamily="34" charset="-122"/>
                <a:cs typeface="Arial" pitchFamily="34" charset="-120"/>
              </a:rPr>
              <a:t>WORK WITH ME</a:t>
            </a:r>
            <a:endParaRPr lang="en-US" sz="1250" dirty="0"/>
          </a:p>
        </p:txBody>
      </p:sp>
      <p:sp>
        <p:nvSpPr>
          <p:cNvPr id="13" name="Text 9"/>
          <p:cNvSpPr/>
          <p:nvPr/>
        </p:nvSpPr>
        <p:spPr>
          <a:xfrm>
            <a:off x="6903720" y="2971800"/>
            <a:ext cx="4389120" cy="822960"/>
          </a:xfrm>
          <a:prstGeom prst="rect">
            <a:avLst/>
          </a:prstGeom>
          <a:noFill/>
          <a:ln/>
        </p:spPr>
        <p:txBody>
          <a:bodyPr wrap="square" lIns="0" tIns="0" rIns="0" bIns="0" rtlCol="0" anchor="ctr"/>
          <a:lstStyle/>
          <a:p>
            <a:pPr indent="0" marL="0">
              <a:lnSpc>
                <a:spcPct val="100000"/>
              </a:lnSpc>
              <a:buNone/>
            </a:pPr>
            <a:r>
              <a:rPr lang="en-US" sz="1900" b="1" dirty="0">
                <a:solidFill>
                  <a:srgbClr val="1F2120"/>
                </a:solidFill>
                <a:latin typeface="Arial Black" pitchFamily="34" charset="0"/>
                <a:ea typeface="Arial Black" pitchFamily="34" charset="-122"/>
                <a:cs typeface="Arial Black" pitchFamily="34" charset="-120"/>
              </a:rPr>
              <a:t>Excel training &amp; analytics consulting</a:t>
            </a:r>
            <a:endParaRPr lang="en-US" sz="1900" dirty="0"/>
          </a:p>
        </p:txBody>
      </p:sp>
      <p:sp>
        <p:nvSpPr>
          <p:cNvPr id="14" name="Text 10"/>
          <p:cNvSpPr/>
          <p:nvPr/>
        </p:nvSpPr>
        <p:spPr>
          <a:xfrm>
            <a:off x="6903720" y="3886200"/>
            <a:ext cx="4389120" cy="1188720"/>
          </a:xfrm>
          <a:prstGeom prst="rect">
            <a:avLst/>
          </a:prstGeom>
          <a:noFill/>
          <a:ln/>
        </p:spPr>
        <p:txBody>
          <a:bodyPr wrap="square" lIns="0" tIns="0" rIns="0" bIns="0" rtlCol="0" anchor="ctr"/>
          <a:lstStyle/>
          <a:p>
            <a:pPr indent="0" marL="0">
              <a:lnSpc>
                <a:spcPct val="115000"/>
              </a:lnSpc>
              <a:buNone/>
            </a:pPr>
            <a:r>
              <a:rPr lang="en-US" sz="1500" dirty="0">
                <a:solidFill>
                  <a:srgbClr val="707070"/>
                </a:solidFill>
                <a:latin typeface="Arial" pitchFamily="34" charset="0"/>
                <a:ea typeface="Arial" pitchFamily="34" charset="-122"/>
                <a:cs typeface="Arial" pitchFamily="34" charset="-120"/>
              </a:rPr>
              <a:t>I work with individuals and organizations that want to build reliable, maintainable Excel workflows. If that’s you, let’s talk.</a:t>
            </a:r>
            <a:endParaRPr lang="en-US" sz="1500" dirty="0"/>
          </a:p>
        </p:txBody>
      </p:sp>
      <p:sp>
        <p:nvSpPr>
          <p:cNvPr id="15" name="Text 11"/>
          <p:cNvSpPr/>
          <p:nvPr/>
        </p:nvSpPr>
        <p:spPr>
          <a:xfrm>
            <a:off x="6903720" y="5120640"/>
            <a:ext cx="4389120" cy="365760"/>
          </a:xfrm>
          <a:prstGeom prst="rect">
            <a:avLst/>
          </a:prstGeom>
          <a:noFill/>
          <a:ln/>
        </p:spPr>
        <p:txBody>
          <a:bodyPr wrap="square" lIns="0" tIns="0" rIns="0" bIns="0" rtlCol="0" anchor="ctr"/>
          <a:lstStyle/>
          <a:p>
            <a:pPr indent="0" marL="0">
              <a:buNone/>
            </a:pPr>
            <a:r>
              <a:rPr lang="en-US" sz="1400" b="1" dirty="0">
                <a:solidFill>
                  <a:srgbClr val="CF3338"/>
                </a:solidFill>
                <a:latin typeface="Arial" pitchFamily="34" charset="0"/>
                <a:ea typeface="Arial" pitchFamily="34" charset="-122"/>
                <a:cs typeface="Arial" pitchFamily="34" charset="-120"/>
              </a:rPr>
              <a:t>george@stringfestanalytics.com</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C00000"/>
        </a:solidFill>
      </p:bgPr>
    </p:bg>
    <p:spTree>
      <p:nvGrpSpPr>
        <p:cNvPr id="1" name=""/>
        <p:cNvGrpSpPr/>
        <p:nvPr/>
      </p:nvGrpSpPr>
      <p:grpSpPr>
        <a:xfrm>
          <a:off x="0" y="0"/>
          <a:ext cx="0" cy="0"/>
          <a:chOff x="0" y="0"/>
          <a:chExt cx="0" cy="0"/>
        </a:xfrm>
      </p:grpSpPr>
      <p:sp>
        <p:nvSpPr>
          <p:cNvPr id="2" name="Text 0"/>
          <p:cNvSpPr/>
          <p:nvPr/>
        </p:nvSpPr>
        <p:spPr>
          <a:xfrm>
            <a:off x="822960" y="1005840"/>
            <a:ext cx="10058400" cy="1097280"/>
          </a:xfrm>
          <a:prstGeom prst="rect">
            <a:avLst/>
          </a:prstGeom>
          <a:noFill/>
          <a:ln/>
        </p:spPr>
        <p:txBody>
          <a:bodyPr wrap="square" lIns="0" tIns="0" rIns="0" bIns="0" rtlCol="0" anchor="ctr"/>
          <a:lstStyle/>
          <a:p>
            <a:pPr indent="0" marL="0">
              <a:buNone/>
            </a:pPr>
            <a:r>
              <a:rPr lang="en-US" sz="5000" b="1" dirty="0">
                <a:solidFill>
                  <a:srgbClr val="FFFFFF"/>
                </a:solidFill>
                <a:latin typeface="Arial Black" pitchFamily="34" charset="0"/>
                <a:ea typeface="Arial Black" pitchFamily="34" charset="-122"/>
                <a:cs typeface="Arial Black" pitchFamily="34" charset="-120"/>
              </a:rPr>
              <a:t>Thank you</a:t>
            </a:r>
            <a:endParaRPr lang="en-US" sz="5000" dirty="0"/>
          </a:p>
        </p:txBody>
      </p:sp>
      <p:sp>
        <p:nvSpPr>
          <p:cNvPr id="3" name="Text 1"/>
          <p:cNvSpPr/>
          <p:nvPr/>
        </p:nvSpPr>
        <p:spPr>
          <a:xfrm>
            <a:off x="822960" y="2240280"/>
            <a:ext cx="8686800" cy="1097280"/>
          </a:xfrm>
          <a:prstGeom prst="rect">
            <a:avLst/>
          </a:prstGeom>
          <a:noFill/>
          <a:ln/>
        </p:spPr>
        <p:txBody>
          <a:bodyPr wrap="square" lIns="0" tIns="0" rIns="0" bIns="0" rtlCol="0" anchor="ctr"/>
          <a:lstStyle/>
          <a:p>
            <a:pPr indent="0" marL="0">
              <a:lnSpc>
                <a:spcPct val="115000"/>
              </a:lnSpc>
              <a:buNone/>
            </a:pPr>
            <a:r>
              <a:rPr lang="en-US" sz="1800" dirty="0">
                <a:solidFill>
                  <a:srgbClr val="F2E9E9"/>
                </a:solidFill>
                <a:latin typeface="Arial" pitchFamily="34" charset="0"/>
                <a:ea typeface="Arial" pitchFamily="34" charset="-122"/>
                <a:cs typeface="Arial" pitchFamily="34" charset="-120"/>
              </a:rPr>
              <a:t>Thanks for spending your lunch hour with me. If you’re tired of cleaning the same data the same way every week, you’ll get a lot from putting these steps to work.</a:t>
            </a:r>
            <a:endParaRPr lang="en-US" sz="1800" dirty="0"/>
          </a:p>
        </p:txBody>
      </p:sp>
      <p:sp>
        <p:nvSpPr>
          <p:cNvPr id="4" name="Text 2"/>
          <p:cNvSpPr/>
          <p:nvPr/>
        </p:nvSpPr>
        <p:spPr>
          <a:xfrm>
            <a:off x="822960" y="3611880"/>
            <a:ext cx="2468880" cy="457200"/>
          </a:xfrm>
          <a:prstGeom prst="rect">
            <a:avLst/>
          </a:prstGeom>
          <a:noFill/>
          <a:ln/>
        </p:spPr>
        <p:txBody>
          <a:bodyPr wrap="square" lIns="0" tIns="0" rIns="0" bIns="0" rtlCol="0" anchor="ctr"/>
          <a:lstStyle/>
          <a:p>
            <a:pPr indent="0" marL="0">
              <a:buNone/>
            </a:pPr>
            <a:r>
              <a:rPr lang="en-US" sz="1300" b="1" spc="200" kern="0" dirty="0">
                <a:solidFill>
                  <a:srgbClr val="F2A9AB"/>
                </a:solidFill>
                <a:latin typeface="Arial" pitchFamily="34" charset="0"/>
                <a:ea typeface="Arial" pitchFamily="34" charset="-122"/>
                <a:cs typeface="Arial" pitchFamily="34" charset="-120"/>
              </a:rPr>
              <a:t>WEBSITE</a:t>
            </a:r>
            <a:endParaRPr lang="en-US" sz="1300" dirty="0"/>
          </a:p>
        </p:txBody>
      </p:sp>
      <p:sp>
        <p:nvSpPr>
          <p:cNvPr id="5" name="Text 3"/>
          <p:cNvSpPr/>
          <p:nvPr/>
        </p:nvSpPr>
        <p:spPr>
          <a:xfrm>
            <a:off x="3291840" y="3611880"/>
            <a:ext cx="7315200" cy="45720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stringfestanalytics.com</a:t>
            </a:r>
            <a:endParaRPr lang="en-US" sz="1800" dirty="0"/>
          </a:p>
        </p:txBody>
      </p:sp>
      <p:sp>
        <p:nvSpPr>
          <p:cNvPr id="6" name="Text 4"/>
          <p:cNvSpPr/>
          <p:nvPr/>
        </p:nvSpPr>
        <p:spPr>
          <a:xfrm>
            <a:off x="822960" y="4270248"/>
            <a:ext cx="2468880" cy="457200"/>
          </a:xfrm>
          <a:prstGeom prst="rect">
            <a:avLst/>
          </a:prstGeom>
          <a:noFill/>
          <a:ln/>
        </p:spPr>
        <p:txBody>
          <a:bodyPr wrap="square" lIns="0" tIns="0" rIns="0" bIns="0" rtlCol="0" anchor="ctr"/>
          <a:lstStyle/>
          <a:p>
            <a:pPr indent="0" marL="0">
              <a:buNone/>
            </a:pPr>
            <a:r>
              <a:rPr lang="en-US" sz="1300" b="1" spc="200" kern="0" dirty="0">
                <a:solidFill>
                  <a:srgbClr val="F2A9AB"/>
                </a:solidFill>
                <a:latin typeface="Arial" pitchFamily="34" charset="0"/>
                <a:ea typeface="Arial" pitchFamily="34" charset="-122"/>
                <a:cs typeface="Arial" pitchFamily="34" charset="-120"/>
              </a:rPr>
              <a:t>EMAIL</a:t>
            </a:r>
            <a:endParaRPr lang="en-US" sz="1300" dirty="0"/>
          </a:p>
        </p:txBody>
      </p:sp>
      <p:sp>
        <p:nvSpPr>
          <p:cNvPr id="7" name="Text 5"/>
          <p:cNvSpPr/>
          <p:nvPr/>
        </p:nvSpPr>
        <p:spPr>
          <a:xfrm>
            <a:off x="3291840" y="4270248"/>
            <a:ext cx="7315200" cy="45720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george@stringfestanalytics.com</a:t>
            </a:r>
            <a:endParaRPr lang="en-US" sz="1800" dirty="0"/>
          </a:p>
        </p:txBody>
      </p:sp>
      <p:sp>
        <p:nvSpPr>
          <p:cNvPr id="8" name="Text 6"/>
          <p:cNvSpPr/>
          <p:nvPr/>
        </p:nvSpPr>
        <p:spPr>
          <a:xfrm>
            <a:off x="822960" y="4928616"/>
            <a:ext cx="2468880" cy="457200"/>
          </a:xfrm>
          <a:prstGeom prst="rect">
            <a:avLst/>
          </a:prstGeom>
          <a:noFill/>
          <a:ln/>
        </p:spPr>
        <p:txBody>
          <a:bodyPr wrap="square" lIns="0" tIns="0" rIns="0" bIns="0" rtlCol="0" anchor="ctr"/>
          <a:lstStyle/>
          <a:p>
            <a:pPr indent="0" marL="0">
              <a:buNone/>
            </a:pPr>
            <a:r>
              <a:rPr lang="en-US" sz="1300" b="1" spc="200" kern="0" dirty="0">
                <a:solidFill>
                  <a:srgbClr val="F2A9AB"/>
                </a:solidFill>
                <a:latin typeface="Arial" pitchFamily="34" charset="0"/>
                <a:ea typeface="Arial" pitchFamily="34" charset="-122"/>
                <a:cs typeface="Arial" pitchFamily="34" charset="-120"/>
              </a:rPr>
              <a:t>LINKEDIN</a:t>
            </a:r>
            <a:endParaRPr lang="en-US" sz="1300" dirty="0"/>
          </a:p>
        </p:txBody>
      </p:sp>
      <p:sp>
        <p:nvSpPr>
          <p:cNvPr id="9" name="Text 7"/>
          <p:cNvSpPr/>
          <p:nvPr/>
        </p:nvSpPr>
        <p:spPr>
          <a:xfrm>
            <a:off x="3291840" y="4928616"/>
            <a:ext cx="7315200" cy="45720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linkedin.com/in/gjmount</a:t>
            </a:r>
            <a:endParaRPr lang="en-US" sz="1800" dirty="0"/>
          </a:p>
        </p:txBody>
      </p:sp>
      <p:sp>
        <p:nvSpPr>
          <p:cNvPr id="10" name="Text 8"/>
          <p:cNvSpPr/>
          <p:nvPr/>
        </p:nvSpPr>
        <p:spPr>
          <a:xfrm>
            <a:off x="822960" y="5586984"/>
            <a:ext cx="2468880" cy="457200"/>
          </a:xfrm>
          <a:prstGeom prst="rect">
            <a:avLst/>
          </a:prstGeom>
          <a:noFill/>
          <a:ln/>
        </p:spPr>
        <p:txBody>
          <a:bodyPr wrap="square" lIns="0" tIns="0" rIns="0" bIns="0" rtlCol="0" anchor="ctr"/>
          <a:lstStyle/>
          <a:p>
            <a:pPr indent="0" marL="0">
              <a:buNone/>
            </a:pPr>
            <a:r>
              <a:rPr lang="en-US" sz="1300" b="1" spc="200" kern="0" dirty="0">
                <a:solidFill>
                  <a:srgbClr val="F2A9AB"/>
                </a:solidFill>
                <a:latin typeface="Arial" pitchFamily="34" charset="0"/>
                <a:ea typeface="Arial" pitchFamily="34" charset="-122"/>
                <a:cs typeface="Arial" pitchFamily="34" charset="-120"/>
              </a:rPr>
              <a:t>MEMBERSHIP</a:t>
            </a:r>
            <a:endParaRPr lang="en-US" sz="1300" dirty="0"/>
          </a:p>
        </p:txBody>
      </p:sp>
      <p:sp>
        <p:nvSpPr>
          <p:cNvPr id="11" name="Text 9"/>
          <p:cNvSpPr/>
          <p:nvPr/>
        </p:nvSpPr>
        <p:spPr>
          <a:xfrm>
            <a:off x="3291840" y="5586984"/>
            <a:ext cx="7315200" cy="45720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stringfestdata.gumroad.com/l/mxlais</a:t>
            </a:r>
            <a:endParaRPr lang="en-US" sz="1800" dirty="0"/>
          </a:p>
        </p:txBody>
      </p:sp>
      <p:pic>
        <p:nvPicPr>
          <p:cNvPr id="12" name="Image 0" descr="/sessions/charming-zealous-noether/mnt/outputs/deckassets/stringfest-logo-white.png">    </p:cNvPr>
          <p:cNvPicPr>
            <a:picLocks noChangeAspect="1"/>
          </p:cNvPicPr>
          <p:nvPr/>
        </p:nvPicPr>
        <p:blipFill>
          <a:blip r:embed="rId1"/>
          <a:stretch>
            <a:fillRect/>
          </a:stretch>
        </p:blipFill>
        <p:spPr>
          <a:xfrm>
            <a:off x="8595360" y="6126480"/>
            <a:ext cx="2926080" cy="401383"/>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EECE1"/>
        </a:solidFill>
      </p:bgPr>
    </p:bg>
    <p:spTree>
      <p:nvGrpSpPr>
        <p:cNvPr id="1" name=""/>
        <p:cNvGrpSpPr/>
        <p:nvPr/>
      </p:nvGrpSpPr>
      <p:grpSpPr>
        <a:xfrm>
          <a:off x="0" y="0"/>
          <a:ext cx="0" cy="0"/>
          <a:chOff x="0" y="0"/>
          <a:chExt cx="0" cy="0"/>
        </a:xfrm>
      </p:grpSpPr>
      <p:pic>
        <p:nvPicPr>
          <p:cNvPr id="2" name="Image 0" descr="/sessions/charming-zealous-noether/mnt/outputs/deckassets/stringfest-wordmark-dark.png">    </p:cNvPr>
          <p:cNvPicPr>
            <a:picLocks noChangeAspect="1"/>
          </p:cNvPicPr>
          <p:nvPr/>
        </p:nvPicPr>
        <p:blipFill>
          <a:blip r:embed="rId1"/>
          <a:stretch>
            <a:fillRect/>
          </a:stretch>
        </p:blipFill>
        <p:spPr>
          <a:xfrm>
            <a:off x="502920" y="384048"/>
            <a:ext cx="1828800" cy="258305"/>
          </a:xfrm>
          <a:prstGeom prst="rect">
            <a:avLst/>
          </a:prstGeom>
        </p:spPr>
      </p:pic>
      <p:sp>
        <p:nvSpPr>
          <p:cNvPr id="3" name="Text 0"/>
          <p:cNvSpPr/>
          <p:nvPr/>
        </p:nvSpPr>
        <p:spPr>
          <a:xfrm>
            <a:off x="548640" y="868680"/>
            <a:ext cx="10058400" cy="320040"/>
          </a:xfrm>
          <a:prstGeom prst="rect">
            <a:avLst/>
          </a:prstGeom>
          <a:noFill/>
          <a:ln/>
        </p:spPr>
        <p:txBody>
          <a:bodyPr wrap="square" lIns="0" tIns="0" rIns="0" bIns="0" rtlCol="0" anchor="ctr"/>
          <a:lstStyle/>
          <a:p>
            <a:pPr indent="0" marL="0">
              <a:buNone/>
            </a:pPr>
            <a:r>
              <a:rPr lang="en-US" sz="1300" b="1" spc="300" kern="0" dirty="0">
                <a:solidFill>
                  <a:srgbClr val="CF3338"/>
                </a:solidFill>
                <a:latin typeface="Arial" pitchFamily="34" charset="0"/>
                <a:ea typeface="Arial" pitchFamily="34" charset="-122"/>
                <a:cs typeface="Arial" pitchFamily="34" charset="-120"/>
              </a:rPr>
              <a:t>BEFORE YOU GO</a:t>
            </a:r>
            <a:endParaRPr lang="en-US" sz="1300" dirty="0"/>
          </a:p>
        </p:txBody>
      </p:sp>
      <p:sp>
        <p:nvSpPr>
          <p:cNvPr id="4" name="Text 1"/>
          <p:cNvSpPr/>
          <p:nvPr/>
        </p:nvSpPr>
        <p:spPr>
          <a:xfrm>
            <a:off x="548640" y="1143000"/>
            <a:ext cx="11064240" cy="1097280"/>
          </a:xfrm>
          <a:prstGeom prst="rect">
            <a:avLst/>
          </a:prstGeom>
          <a:noFill/>
          <a:ln/>
        </p:spPr>
        <p:txBody>
          <a:bodyPr wrap="square" lIns="0" tIns="0" rIns="0" bIns="0" rtlCol="0" anchor="ctr"/>
          <a:lstStyle/>
          <a:p>
            <a:pPr algn="l" indent="0" marL="0">
              <a:buNone/>
            </a:pPr>
            <a:r>
              <a:rPr lang="en-US" sz="3800" b="1" dirty="0">
                <a:solidFill>
                  <a:srgbClr val="1F2120"/>
                </a:solidFill>
                <a:latin typeface="Arial Black" pitchFamily="34" charset="0"/>
                <a:ea typeface="Arial Black" pitchFamily="34" charset="-122"/>
                <a:cs typeface="Arial Black" pitchFamily="34" charset="-120"/>
              </a:rPr>
              <a:t>Questions?</a:t>
            </a:r>
            <a:endParaRPr lang="en-US" sz="3800" dirty="0"/>
          </a:p>
        </p:txBody>
      </p:sp>
      <p:sp>
        <p:nvSpPr>
          <p:cNvPr id="5" name="Text 2"/>
          <p:cNvSpPr/>
          <p:nvPr/>
        </p:nvSpPr>
        <p:spPr>
          <a:xfrm>
            <a:off x="640080" y="2331720"/>
            <a:ext cx="10424160" cy="1463040"/>
          </a:xfrm>
          <a:prstGeom prst="rect">
            <a:avLst/>
          </a:prstGeom>
          <a:noFill/>
          <a:ln/>
        </p:spPr>
        <p:txBody>
          <a:bodyPr wrap="square" lIns="0" tIns="0" rIns="0" bIns="0" rtlCol="0" anchor="ctr"/>
          <a:lstStyle/>
          <a:p>
            <a:pPr indent="0" marL="0">
              <a:lnSpc>
                <a:spcPct val="118000"/>
              </a:lnSpc>
              <a:buNone/>
            </a:pPr>
            <a:r>
              <a:rPr lang="en-US" sz="2000" dirty="0">
                <a:solidFill>
                  <a:srgbClr val="707070"/>
                </a:solidFill>
                <a:latin typeface="Arial" pitchFamily="34" charset="0"/>
                <a:ea typeface="Arial" pitchFamily="34" charset="-122"/>
                <a:cs typeface="Arial" pitchFamily="34" charset="-120"/>
              </a:rPr>
              <a:t>Happy to take questions while we’re together. </a:t>
            </a:r>
            <a:pPr indent="0" marL="0">
              <a:lnSpc>
                <a:spcPct val="118000"/>
              </a:lnSpc>
              <a:buNone/>
            </a:pPr>
            <a:r>
              <a:rPr lang="en-US" sz="2000" b="1" dirty="0">
                <a:solidFill>
                  <a:srgbClr val="1F2120"/>
                </a:solidFill>
                <a:latin typeface="Arial" pitchFamily="34" charset="0"/>
                <a:ea typeface="Arial" pitchFamily="34" charset="-122"/>
                <a:cs typeface="Arial" pitchFamily="34" charset="-120"/>
              </a:rPr>
              <a:t>Remember: today is free to watch. The download files, replay, and practice materials are in the membership.</a:t>
            </a:r>
            <a:endParaRPr lang="en-US" sz="2000" dirty="0"/>
          </a:p>
        </p:txBody>
      </p:sp>
      <p:sp>
        <p:nvSpPr>
          <p:cNvPr id="6" name="Shape 3"/>
          <p:cNvSpPr/>
          <p:nvPr/>
        </p:nvSpPr>
        <p:spPr>
          <a:xfrm>
            <a:off x="640080" y="4069080"/>
            <a:ext cx="7132320" cy="685800"/>
          </a:xfrm>
          <a:prstGeom prst="rect">
            <a:avLst/>
          </a:prstGeom>
          <a:solidFill>
            <a:srgbClr val="CF3338"/>
          </a:solidFill>
          <a:ln/>
        </p:spPr>
      </p:sp>
      <p:sp>
        <p:nvSpPr>
          <p:cNvPr id="7" name="Text 4">
            <a:hlinkClick r:id="rId2" tooltip=""/>
          </p:cNvPr>
          <p:cNvSpPr/>
          <p:nvPr/>
        </p:nvSpPr>
        <p:spPr>
          <a:xfrm>
            <a:off x="640080" y="4069080"/>
            <a:ext cx="7132320" cy="685800"/>
          </a:xfrm>
          <a:prstGeom prst="rect">
            <a:avLst/>
          </a:prstGeom>
          <a:noFill/>
          <a:ln/>
        </p:spPr>
        <p:txBody>
          <a:bodyPr wrap="square" lIns="0" tIns="0" rIns="0" bIns="0" rtlCol="0" anchor="ctr"/>
          <a:lstStyle/>
          <a:p>
            <a:pPr algn="ctr" indent="0" marL="0">
              <a:buNone/>
            </a:pPr>
            <a:r>
              <a:rPr lang="en-US" sz="1600" b="1" u="sng" dirty="0">
                <a:solidFill>
                  <a:srgbClr val="FFFFF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Join the membership:  stringfestdata.gumroad.com/l/mxlais</a:t>
            </a:r>
            <a:endParaRPr lang="en-US" sz="1600" dirty="0"/>
          </a:p>
        </p:txBody>
      </p:sp>
      <p:sp>
        <p:nvSpPr>
          <p:cNvPr id="8" name="Text 5">
            <a:hlinkClick r:id="rIdundefined" tooltip=""/>
          </p:cNvPr>
          <p:cNvSpPr/>
          <p:nvPr/>
        </p:nvSpPr>
        <p:spPr>
          <a:xfrm>
            <a:off x="640080" y="5029200"/>
            <a:ext cx="10058400" cy="457200"/>
          </a:xfrm>
          <a:prstGeom prst="rect">
            <a:avLst/>
          </a:prstGeom>
          <a:noFill/>
          <a:ln/>
        </p:spPr>
        <p:txBody>
          <a:bodyPr wrap="square" lIns="0" tIns="0" rIns="0" bIns="0" rtlCol="0" anchor="ctr"/>
          <a:lstStyle/>
          <a:p>
            <a:pPr indent="0" marL="0">
              <a:buNone/>
            </a:pPr>
            <a:r>
              <a:rPr lang="en-US" sz="1400" i="1" u="sng" dirty="0">
                <a:solidFill>
                  <a:srgbClr val="707070"/>
                </a:solidFill>
                <a:latin typeface="Arial" pitchFamily="34" charset="0"/>
                <a:ea typeface="Arial" pitchFamily="34" charset="-122"/>
                <a:cs typeface="Arial"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Tell me how I did. Feedback &amp; testimonials welcome: </a:t>
            </a:r>
            <a:pPr indent="0" marL="0">
              <a:buNone/>
            </a:pPr>
            <a:r>
              <a:rPr lang="en-US" sz="1400" b="1" i="1" u="sng" dirty="0">
                <a:solidFill>
                  <a:srgbClr val="CF3338"/>
                </a:solidFill>
                <a:latin typeface="Arial" pitchFamily="34" charset="0"/>
                <a:ea typeface="Arial" pitchFamily="34" charset="-122"/>
                <a:cs typeface="Arial"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social.stringfestanalytics.com/event-feedback</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Stringfest Analytics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 Query Demo Day</dc:title>
  <dc:subject>PptxGenJS Presentation</dc:subject>
  <dc:creator>George Mount</dc:creator>
  <cp:lastModifiedBy>George Mount</cp:lastModifiedBy>
  <cp:revision>1</cp:revision>
  <dcterms:created xsi:type="dcterms:W3CDTF">2026-06-14T18:34:30Z</dcterms:created>
  <dcterms:modified xsi:type="dcterms:W3CDTF">2026-06-14T18:34:30Z</dcterms:modified>
</cp:coreProperties>
</file>